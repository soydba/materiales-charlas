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69" r:id="rId4"/>
    <p:sldId id="556" r:id="rId5"/>
    <p:sldId id="257" r:id="rId6"/>
    <p:sldId id="260" r:id="rId7"/>
    <p:sldId id="265" r:id="rId8"/>
    <p:sldId id="261" r:id="rId9"/>
    <p:sldId id="552" r:id="rId10"/>
    <p:sldId id="266" r:id="rId11"/>
    <p:sldId id="264" r:id="rId12"/>
    <p:sldId id="554" r:id="rId13"/>
    <p:sldId id="553" r:id="rId14"/>
    <p:sldId id="268" r:id="rId15"/>
    <p:sldId id="267" r:id="rId16"/>
    <p:sldId id="555" r:id="rId17"/>
    <p:sldId id="262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3F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úl Vinuesa Arjona" userId="bae2613c96c1f2f2" providerId="LiveId" clId="{DE473D92-D238-4412-B20C-491BD2EFD54C}"/>
    <pc:docChg chg="custSel modSld">
      <pc:chgData name="Raúl Vinuesa Arjona" userId="bae2613c96c1f2f2" providerId="LiveId" clId="{DE473D92-D238-4412-B20C-491BD2EFD54C}" dt="2026-08-27T07:57:31.938" v="147" actId="20577"/>
      <pc:docMkLst>
        <pc:docMk/>
      </pc:docMkLst>
      <pc:sldChg chg="modSp mod">
        <pc:chgData name="Raúl Vinuesa Arjona" userId="bae2613c96c1f2f2" providerId="LiveId" clId="{DE473D92-D238-4412-B20C-491BD2EFD54C}" dt="2026-08-26T06:01:59.508" v="130" actId="1076"/>
        <pc:sldMkLst>
          <pc:docMk/>
          <pc:sldMk cId="0" sldId="256"/>
        </pc:sldMkLst>
        <pc:spChg chg="mod">
          <ac:chgData name="Raúl Vinuesa Arjona" userId="bae2613c96c1f2f2" providerId="LiveId" clId="{DE473D92-D238-4412-B20C-491BD2EFD54C}" dt="2026-08-26T05:50:23.014" v="0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8-26T05:51:07.749" v="26" actId="20577"/>
          <ac:spMkLst>
            <pc:docMk/>
            <pc:sldMk cId="0" sldId="256"/>
            <ac:spMk id="9" creationId="{00000000-0000-0000-0000-000000000000}"/>
          </ac:spMkLst>
        </pc:spChg>
        <pc:picChg chg="mod">
          <ac:chgData name="Raúl Vinuesa Arjona" userId="bae2613c96c1f2f2" providerId="LiveId" clId="{DE473D92-D238-4412-B20C-491BD2EFD54C}" dt="2026-08-26T06:01:59.508" v="130" actId="1076"/>
          <ac:picMkLst>
            <pc:docMk/>
            <pc:sldMk cId="0" sldId="256"/>
            <ac:picMk id="4" creationId="{00000000-0000-0000-0000-000000000000}"/>
          </ac:picMkLst>
        </pc:picChg>
      </pc:sldChg>
      <pc:sldChg chg="addSp delSp mod">
        <pc:chgData name="Raúl Vinuesa Arjona" userId="bae2613c96c1f2f2" providerId="LiveId" clId="{DE473D92-D238-4412-B20C-491BD2EFD54C}" dt="2026-08-26T06:02:50.487" v="132" actId="478"/>
        <pc:sldMkLst>
          <pc:docMk/>
          <pc:sldMk cId="0" sldId="258"/>
        </pc:sldMkLst>
        <pc:picChg chg="del">
          <ac:chgData name="Raúl Vinuesa Arjona" userId="bae2613c96c1f2f2" providerId="LiveId" clId="{DE473D92-D238-4412-B20C-491BD2EFD54C}" dt="2026-08-26T06:02:50.487" v="132" actId="478"/>
          <ac:picMkLst>
            <pc:docMk/>
            <pc:sldMk cId="0" sldId="258"/>
            <ac:picMk id="12" creationId="{00000000-0000-0000-0000-000000000000}"/>
          </ac:picMkLst>
        </pc:picChg>
        <pc:picChg chg="add">
          <ac:chgData name="Raúl Vinuesa Arjona" userId="bae2613c96c1f2f2" providerId="LiveId" clId="{DE473D92-D238-4412-B20C-491BD2EFD54C}" dt="2026-08-26T06:02:48.430" v="131" actId="22"/>
          <ac:picMkLst>
            <pc:docMk/>
            <pc:sldMk cId="0" sldId="258"/>
            <ac:picMk id="14" creationId="{616ED0CC-5FBC-4F90-4BFC-97C588BEE7B2}"/>
          </ac:picMkLst>
        </pc:picChg>
      </pc:sldChg>
      <pc:sldChg chg="addSp delSp modSp mod">
        <pc:chgData name="Raúl Vinuesa Arjona" userId="bae2613c96c1f2f2" providerId="LiveId" clId="{DE473D92-D238-4412-B20C-491BD2EFD54C}" dt="2026-08-27T07:57:31.938" v="147" actId="20577"/>
        <pc:sldMkLst>
          <pc:docMk/>
          <pc:sldMk cId="0" sldId="259"/>
        </pc:sldMkLst>
        <pc:spChg chg="del">
          <ac:chgData name="Raúl Vinuesa Arjona" userId="bae2613c96c1f2f2" providerId="LiveId" clId="{DE473D92-D238-4412-B20C-491BD2EFD54C}" dt="2026-08-26T05:54:52.911" v="63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52.911" v="63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52.911" v="63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52.911" v="63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35.803" v="56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38.852" v="58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35.086" v="55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46.574" v="61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52.911" v="63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52.911" v="63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52.911" v="63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52.911" v="63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4:40.887" v="59" actId="478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Raúl Vinuesa Arjona" userId="bae2613c96c1f2f2" providerId="LiveId" clId="{DE473D92-D238-4412-B20C-491BD2EFD54C}" dt="2026-08-26T05:54:43.092" v="60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Raúl Vinuesa Arjona" userId="bae2613c96c1f2f2" providerId="LiveId" clId="{DE473D92-D238-4412-B20C-491BD2EFD54C}" dt="2026-08-26T05:51:39.598" v="27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Raúl Vinuesa Arjona" userId="bae2613c96c1f2f2" providerId="LiveId" clId="{DE473D92-D238-4412-B20C-491BD2EFD54C}" dt="2026-08-26T05:53:02.268" v="37" actId="478"/>
          <ac:spMkLst>
            <pc:docMk/>
            <pc:sldMk cId="0" sldId="259"/>
            <ac:spMk id="21" creationId="{00000000-0000-0000-0000-000000000000}"/>
          </ac:spMkLst>
        </pc:spChg>
        <pc:spChg chg="add mod">
          <ac:chgData name="Raúl Vinuesa Arjona" userId="bae2613c96c1f2f2" providerId="LiveId" clId="{DE473D92-D238-4412-B20C-491BD2EFD54C}" dt="2026-08-26T06:00:06.077" v="125" actId="207"/>
          <ac:spMkLst>
            <pc:docMk/>
            <pc:sldMk cId="0" sldId="259"/>
            <ac:spMk id="25" creationId="{E6D218A4-F8C5-87B9-C7D6-6A996E16CBAB}"/>
          </ac:spMkLst>
        </pc:spChg>
        <pc:spChg chg="add mod">
          <ac:chgData name="Raúl Vinuesa Arjona" userId="bae2613c96c1f2f2" providerId="LiveId" clId="{DE473D92-D238-4412-B20C-491BD2EFD54C}" dt="2026-08-26T05:58:35.686" v="97" actId="1076"/>
          <ac:spMkLst>
            <pc:docMk/>
            <pc:sldMk cId="0" sldId="259"/>
            <ac:spMk id="33" creationId="{F74EFA52-34BD-7DCC-E9DF-98B9BF59A2C7}"/>
          </ac:spMkLst>
        </pc:spChg>
        <pc:spChg chg="add mod">
          <ac:chgData name="Raúl Vinuesa Arjona" userId="bae2613c96c1f2f2" providerId="LiveId" clId="{DE473D92-D238-4412-B20C-491BD2EFD54C}" dt="2026-08-26T05:59:00.453" v="106" actId="1076"/>
          <ac:spMkLst>
            <pc:docMk/>
            <pc:sldMk cId="0" sldId="259"/>
            <ac:spMk id="35" creationId="{55C46E22-29A9-BA26-2A48-A77D731C4D19}"/>
          </ac:spMkLst>
        </pc:spChg>
        <pc:spChg chg="add mod">
          <ac:chgData name="Raúl Vinuesa Arjona" userId="bae2613c96c1f2f2" providerId="LiveId" clId="{DE473D92-D238-4412-B20C-491BD2EFD54C}" dt="2026-08-27T07:57:31.938" v="147" actId="20577"/>
          <ac:spMkLst>
            <pc:docMk/>
            <pc:sldMk cId="0" sldId="259"/>
            <ac:spMk id="37" creationId="{63F59BF3-57A8-8FE3-A916-D8B5358FEE80}"/>
          </ac:spMkLst>
        </pc:spChg>
        <pc:picChg chg="add mod">
          <ac:chgData name="Raúl Vinuesa Arjona" userId="bae2613c96c1f2f2" providerId="LiveId" clId="{DE473D92-D238-4412-B20C-491BD2EFD54C}" dt="2026-08-27T07:57:29.110" v="146" actId="14100"/>
          <ac:picMkLst>
            <pc:docMk/>
            <pc:sldMk cId="0" sldId="259"/>
            <ac:picMk id="5" creationId="{EF6524BD-69C2-935D-B56F-4AA62EE18DC9}"/>
          </ac:picMkLst>
        </pc:picChg>
        <pc:picChg chg="del mod">
          <ac:chgData name="Raúl Vinuesa Arjona" userId="bae2613c96c1f2f2" providerId="LiveId" clId="{DE473D92-D238-4412-B20C-491BD2EFD54C}" dt="2026-08-26T05:52:40.043" v="35" actId="478"/>
          <ac:picMkLst>
            <pc:docMk/>
            <pc:sldMk cId="0" sldId="259"/>
            <ac:picMk id="19" creationId="{00000000-0000-0000-0000-000000000000}"/>
          </ac:picMkLst>
        </pc:picChg>
        <pc:picChg chg="add">
          <ac:chgData name="Raúl Vinuesa Arjona" userId="bae2613c96c1f2f2" providerId="LiveId" clId="{DE473D92-D238-4412-B20C-491BD2EFD54C}" dt="2026-08-26T05:51:55.378" v="28" actId="22"/>
          <ac:picMkLst>
            <pc:docMk/>
            <pc:sldMk cId="0" sldId="259"/>
            <ac:picMk id="23" creationId="{6CBEFDE4-B818-F6DC-C34B-6163855F5695}"/>
          </ac:picMkLst>
        </pc:picChg>
        <pc:picChg chg="add mod">
          <ac:chgData name="Raúl Vinuesa Arjona" userId="bae2613c96c1f2f2" providerId="LiveId" clId="{DE473D92-D238-4412-B20C-491BD2EFD54C}" dt="2026-08-26T05:57:31.456" v="73" actId="14100"/>
          <ac:picMkLst>
            <pc:docMk/>
            <pc:sldMk cId="0" sldId="259"/>
            <ac:picMk id="27" creationId="{345EC071-2965-8344-5861-29A5572CC536}"/>
          </ac:picMkLst>
        </pc:picChg>
        <pc:picChg chg="add mod">
          <ac:chgData name="Raúl Vinuesa Arjona" userId="bae2613c96c1f2f2" providerId="LiveId" clId="{DE473D92-D238-4412-B20C-491BD2EFD54C}" dt="2026-08-27T07:57:21.855" v="144" actId="1076"/>
          <ac:picMkLst>
            <pc:docMk/>
            <pc:sldMk cId="0" sldId="259"/>
            <ac:picMk id="29" creationId="{8A07A32D-102C-821F-780C-ADC962564E83}"/>
          </ac:picMkLst>
        </pc:picChg>
        <pc:picChg chg="add mod">
          <ac:chgData name="Raúl Vinuesa Arjona" userId="bae2613c96c1f2f2" providerId="LiveId" clId="{DE473D92-D238-4412-B20C-491BD2EFD54C}" dt="2026-08-26T05:57:27.659" v="72" actId="1076"/>
          <ac:picMkLst>
            <pc:docMk/>
            <pc:sldMk cId="0" sldId="259"/>
            <ac:picMk id="31" creationId="{55FB6B2E-F832-81E6-6921-8A72F5618B30}"/>
          </ac:picMkLst>
        </pc:picChg>
      </pc:sldChg>
      <pc:sldChg chg="addSp delSp mod">
        <pc:chgData name="Raúl Vinuesa Arjona" userId="bae2613c96c1f2f2" providerId="LiveId" clId="{DE473D92-D238-4412-B20C-491BD2EFD54C}" dt="2026-08-26T06:03:02.318" v="134" actId="22"/>
        <pc:sldMkLst>
          <pc:docMk/>
          <pc:sldMk cId="0" sldId="261"/>
        </pc:sldMkLst>
        <pc:picChg chg="del">
          <ac:chgData name="Raúl Vinuesa Arjona" userId="bae2613c96c1f2f2" providerId="LiveId" clId="{DE473D92-D238-4412-B20C-491BD2EFD54C}" dt="2026-08-26T06:03:01.144" v="133" actId="478"/>
          <ac:picMkLst>
            <pc:docMk/>
            <pc:sldMk cId="0" sldId="261"/>
            <ac:picMk id="4" creationId="{00000000-0000-0000-0000-000000000000}"/>
          </ac:picMkLst>
        </pc:picChg>
        <pc:picChg chg="add">
          <ac:chgData name="Raúl Vinuesa Arjona" userId="bae2613c96c1f2f2" providerId="LiveId" clId="{DE473D92-D238-4412-B20C-491BD2EFD54C}" dt="2026-08-26T06:03:02.318" v="134" actId="22"/>
          <ac:picMkLst>
            <pc:docMk/>
            <pc:sldMk cId="0" sldId="261"/>
            <ac:picMk id="15" creationId="{4CE05C8B-C54B-88BE-9612-5E015FC29430}"/>
          </ac:picMkLst>
        </pc:picChg>
      </pc:sldChg>
      <pc:sldChg chg="delSp modSp mod">
        <pc:chgData name="Raúl Vinuesa Arjona" userId="bae2613c96c1f2f2" providerId="LiveId" clId="{DE473D92-D238-4412-B20C-491BD2EFD54C}" dt="2026-08-26T06:03:26.792" v="137" actId="20577"/>
        <pc:sldMkLst>
          <pc:docMk/>
          <pc:sldMk cId="0" sldId="262"/>
        </pc:sldMkLst>
        <pc:spChg chg="mod">
          <ac:chgData name="Raúl Vinuesa Arjona" userId="bae2613c96c1f2f2" providerId="LiveId" clId="{DE473D92-D238-4412-B20C-491BD2EFD54C}" dt="2026-08-26T06:03:26.792" v="137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Raúl Vinuesa Arjona" userId="bae2613c96c1f2f2" providerId="LiveId" clId="{DE473D92-D238-4412-B20C-491BD2EFD54C}" dt="2026-08-26T06:00:51.409" v="129" actId="20577"/>
          <ac:spMkLst>
            <pc:docMk/>
            <pc:sldMk cId="0" sldId="262"/>
            <ac:spMk id="8" creationId="{00000000-0000-0000-0000-000000000000}"/>
          </ac:spMkLst>
        </pc:spChg>
        <pc:picChg chg="del">
          <ac:chgData name="Raúl Vinuesa Arjona" userId="bae2613c96c1f2f2" providerId="LiveId" clId="{DE473D92-D238-4412-B20C-491BD2EFD54C}" dt="2026-08-26T06:03:13.484" v="135" actId="478"/>
          <ac:picMkLst>
            <pc:docMk/>
            <pc:sldMk cId="0" sldId="262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505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 el evento, el pueblo y el grupo organizador.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ponente: nombre, rol, comunidad y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los patrocinadores: sin ellos no hay evento gratuito.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02B3E-A600-F56E-294D-FCB754F6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BEBB1-8C0F-426B-A089-D6569BC04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16B60-2209-7CA9-176C-2D7AFFE46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 los patrocinadores: sin ellos no hay evento gratuito.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49F88-2F40-E27D-9B34-BC4375F6D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48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rápido por los dos días. Insistir en horarios de café y comida.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transición entre bloques. Cambiar número, título y descripción.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241DC-AC2E-4F4A-2232-C037E26C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9FD32-8253-9F8D-54CE-303A928E8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6A65A-C823-6BC5-E2DB-8CE972BF4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transición entre bloques. Cambiar número, título y descripción.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A546D-A2B8-D769-C890-03BDE40CD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8452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genérica de contenido: título, tres ideas y espacio para captura o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D2008-4225-98A4-34FA-138418E25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A4A8C-EC6C-4A14-933F-6316CE562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548BC-AA7F-849F-4E85-70B6D231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genérica de contenido: título, tres ideas y espacio para captura o demo.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8D2BE-6BAD-6385-72A5-581F09BCB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84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C7582-1166-984F-11D8-EFE87ED35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34833-C8AE-8F95-D6C7-16A77C0CE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894E8-4217-0020-ADB8-8AB4CD9FE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genérica de contenido: título, tres ideas y espacio para captura o demo.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23415-B7C3-B503-765B-916B83400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0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transición entre bloques. Cambiar número, título y descripción.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03A90-135E-A0BC-55AF-559C7F9A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F07BF-F231-81F6-9C52-7D2B3531E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62AB4-720F-FC8E-C75A-2636BA2A4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genérica de contenido: título, tres ideas y espacio para captura o demo.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13A9A-96D8-819C-C0AE-DE4E53355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92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C4898-E926-69DE-971B-BE1FF4ADF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F8B0F-2A3C-9A17-AA92-46228C2DC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A7B6B-DA37-A26B-9D3D-5BD6E86EE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genérica de contenido: título, tres ideas y espacio para captura o demo.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82D0E-4A91-CD07-B72E-3A04DC3F3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60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6DA0-AD84-2B8E-943E-8FEC094F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34D02-A351-BBDE-1754-78F3AB933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44A6D-3632-1584-2515-1E3A07B54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genérica de contenido: título, tres ideas y espacio para captura o demo.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EA7DF-5CBC-E8BD-2F4B-5B8C8AF35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567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3E16-F98E-023A-9322-AE4F656E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9F3FA-976A-9E47-324D-6E6A4F012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7FBAA-D22D-1032-4708-3116F5BCC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transición entre bloques. Cambiar número, título y descripción.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4D387-FD77-9B93-3D71-3B3822C13C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472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974E2-DCB3-6DD2-DA8D-58820A52E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CDD9F-F324-A479-8D34-64539B3D5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CD7C3-1B9A-6F64-6129-75754B17F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genérica de contenido: título, tres ideas y espacio para captura o demo.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909E2-A657-FBD4-ABA9-C33427CD6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62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gracias a asistentes, voluntarios, Madridejos y patrocinadores. Invitar a compartir con los hashtags.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jpg"/><Relationship Id="rId10" Type="http://schemas.openxmlformats.org/officeDocument/2006/relationships/image" Target="../media/image21.pn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1430135" y="-1333455"/>
            <a:ext cx="8572365" cy="857236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05" y="1047705"/>
            <a:ext cx="1428750" cy="1428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3034" y="7524571"/>
            <a:ext cx="2190705" cy="154871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47705" y="4029614"/>
            <a:ext cx="17811848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s-ES" sz="3600" kern="0" spc="495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2º POWER PLATFORM WEEKEND</a:t>
            </a:r>
            <a:endParaRPr lang="es-ES" sz="3600" noProof="0" dirty="0"/>
          </a:p>
        </p:txBody>
      </p:sp>
      <p:sp>
        <p:nvSpPr>
          <p:cNvPr id="6" name="Text 1"/>
          <p:cNvSpPr/>
          <p:nvPr/>
        </p:nvSpPr>
        <p:spPr>
          <a:xfrm>
            <a:off x="1047705" y="4732937"/>
            <a:ext cx="17811848" cy="154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3106"/>
              </a:lnSpc>
              <a:buNone/>
            </a:pPr>
            <a:r>
              <a:rPr lang="es-ES" sz="12900" b="1" kern="0" spc="-387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Castilla-La Mancha</a:t>
            </a:r>
            <a:endParaRPr lang="es-ES" sz="12900" noProof="0" dirty="0"/>
          </a:p>
        </p:txBody>
      </p:sp>
      <p:sp>
        <p:nvSpPr>
          <p:cNvPr id="7" name="Text 2"/>
          <p:cNvSpPr/>
          <p:nvPr/>
        </p:nvSpPr>
        <p:spPr>
          <a:xfrm>
            <a:off x="1047705" y="6563894"/>
            <a:ext cx="3873018" cy="57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33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Madridejos, Toledo</a:t>
            </a:r>
            <a:endParaRPr lang="es-ES" sz="3300" noProof="0" dirty="0"/>
          </a:p>
        </p:txBody>
      </p:sp>
      <p:sp>
        <p:nvSpPr>
          <p:cNvPr id="8" name="Text 3"/>
          <p:cNvSpPr/>
          <p:nvPr/>
        </p:nvSpPr>
        <p:spPr>
          <a:xfrm>
            <a:off x="5140130" y="6563894"/>
            <a:ext cx="6293617" cy="57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3300" b="1" noProof="0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 y 26 de septiembre de 2026</a:t>
            </a:r>
            <a:endParaRPr lang="es-ES" sz="3300" noProof="0" dirty="0"/>
          </a:p>
        </p:txBody>
      </p:sp>
      <p:sp>
        <p:nvSpPr>
          <p:cNvPr id="9" name="Text 4"/>
          <p:cNvSpPr/>
          <p:nvPr/>
        </p:nvSpPr>
        <p:spPr>
          <a:xfrm>
            <a:off x="1047705" y="8531929"/>
            <a:ext cx="7537433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Organiza: Albacete Power BI &amp; Fabric </a:t>
            </a:r>
            <a:r>
              <a:rPr lang="es-ES" sz="2100" noProof="0" dirty="0" err="1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Group</a:t>
            </a:r>
          </a:p>
        </p:txBody>
      </p:sp>
      <p:sp>
        <p:nvSpPr>
          <p:cNvPr id="10" name="Text 5"/>
          <p:cNvSpPr/>
          <p:nvPr/>
        </p:nvSpPr>
        <p:spPr>
          <a:xfrm>
            <a:off x="8365601" y="8531929"/>
            <a:ext cx="9140935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211E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05" y="2840247"/>
            <a:ext cx="4034871" cy="4034871"/>
          </a:xfrm>
          <a:prstGeom prst="ellipse">
            <a:avLst/>
          </a:prstGeom>
          <a:solidFill>
            <a:srgbClr val="ECE8DE"/>
          </a:solidFill>
          <a:ln w="17253">
            <a:solidFill>
              <a:srgbClr val="C9C3B6"/>
            </a:solidFill>
            <a:prstDash val="dash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2"/>
          <p:cNvSpPr/>
          <p:nvPr/>
        </p:nvSpPr>
        <p:spPr>
          <a:xfrm>
            <a:off x="6000480" y="1804223"/>
            <a:ext cx="1236379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kern="0" spc="462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PONENTE</a:t>
            </a:r>
            <a:endParaRPr lang="es-ES" sz="2100" noProof="0" dirty="0"/>
          </a:p>
        </p:txBody>
      </p:sp>
      <p:sp>
        <p:nvSpPr>
          <p:cNvPr id="6" name="Text 3"/>
          <p:cNvSpPr/>
          <p:nvPr/>
        </p:nvSpPr>
        <p:spPr>
          <a:xfrm>
            <a:off x="6000480" y="2405511"/>
            <a:ext cx="12363797" cy="876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645"/>
              </a:lnSpc>
              <a:buNone/>
            </a:pPr>
            <a:r>
              <a:rPr lang="es-ES" sz="6600" b="1" kern="0" spc="-132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Roberto Carrancio</a:t>
            </a:r>
            <a:endParaRPr lang="es-ES" sz="6600" noProof="0" dirty="0"/>
          </a:p>
        </p:txBody>
      </p:sp>
      <p:sp>
        <p:nvSpPr>
          <p:cNvPr id="7" name="Text 4"/>
          <p:cNvSpPr/>
          <p:nvPr/>
        </p:nvSpPr>
        <p:spPr>
          <a:xfrm>
            <a:off x="6000480" y="3491361"/>
            <a:ext cx="12363797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3000" b="1" noProof="0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DBA as a Service - @Encora</a:t>
            </a:r>
            <a:endParaRPr lang="es-ES" sz="3000" noProof="0" dirty="0"/>
          </a:p>
        </p:txBody>
      </p:sp>
      <p:sp>
        <p:nvSpPr>
          <p:cNvPr id="9" name="Text 6"/>
          <p:cNvSpPr/>
          <p:nvPr/>
        </p:nvSpPr>
        <p:spPr>
          <a:xfrm>
            <a:off x="6063264" y="8004426"/>
            <a:ext cx="1508612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211E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@soydba</a:t>
            </a:r>
            <a:endParaRPr lang="es-ES" sz="2250" noProof="0" dirty="0"/>
          </a:p>
        </p:txBody>
      </p:sp>
      <p:sp>
        <p:nvSpPr>
          <p:cNvPr id="10" name="Text 7"/>
          <p:cNvSpPr/>
          <p:nvPr/>
        </p:nvSpPr>
        <p:spPr>
          <a:xfrm>
            <a:off x="7853785" y="8004426"/>
            <a:ext cx="4337092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211E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linkedin.com/in/</a:t>
            </a:r>
            <a:r>
              <a:rPr lang="es-ES" sz="2250" noProof="0" dirty="0" err="1">
                <a:solidFill>
                  <a:srgbClr val="211E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robertocarrancio</a:t>
            </a:r>
            <a:endParaRPr lang="es-ES" sz="2250" noProof="0" dirty="0"/>
          </a:p>
        </p:txBody>
      </p:sp>
      <p:sp>
        <p:nvSpPr>
          <p:cNvPr id="11" name="Text 8"/>
          <p:cNvSpPr/>
          <p:nvPr/>
        </p:nvSpPr>
        <p:spPr>
          <a:xfrm>
            <a:off x="1047705" y="8967158"/>
            <a:ext cx="10031119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616ED0CC-5FBC-4F90-4BFC-97C588BEE7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E63B430-F180-14EC-A475-A0099F64B1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2239" y="2249884"/>
            <a:ext cx="5309289" cy="5309289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AD99EED-3A2E-ACA4-BA84-84D2A70B4953}"/>
              </a:ext>
            </a:extLst>
          </p:cNvPr>
          <p:cNvSpPr txBox="1"/>
          <p:nvPr/>
        </p:nvSpPr>
        <p:spPr>
          <a:xfrm>
            <a:off x="6000480" y="4191594"/>
            <a:ext cx="95170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noProof="0" dirty="0">
                <a:latin typeface="Segoe Sans Display" pitchFamily="2" charset="0"/>
                <a:cs typeface="Segoe Sans Display" pitchFamily="2" charset="0"/>
              </a:rPr>
              <a:t>DBA as a Service - @Encora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Segoe Sans Display" pitchFamily="2" charset="0"/>
                <a:cs typeface="Segoe Sans Display" pitchFamily="2" charset="0"/>
              </a:rPr>
              <a:t>15 años </a:t>
            </a:r>
            <a:r>
              <a:rPr lang="es-ES" sz="2400" noProof="0" dirty="0">
                <a:latin typeface="Segoe Sans Display" pitchFamily="2" charset="0"/>
                <a:cs typeface="Segoe Sans Display" pitchFamily="2" charset="0"/>
              </a:rPr>
              <a:t>trabajando con SQL Server en proyectos de todos los tamaños y sectores.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noProof="0" dirty="0">
                <a:latin typeface="Segoe Sans Display" pitchFamily="2" charset="0"/>
                <a:cs typeface="Segoe Sans Display" pitchFamily="2" charset="0"/>
              </a:rPr>
              <a:t>Microsoft  Data </a:t>
            </a:r>
            <a:r>
              <a:rPr lang="es-ES" sz="2400" noProof="0" dirty="0" err="1">
                <a:latin typeface="Segoe Sans Display" pitchFamily="2" charset="0"/>
                <a:cs typeface="Segoe Sans Display" pitchFamily="2" charset="0"/>
              </a:rPr>
              <a:t>Platform</a:t>
            </a:r>
            <a:r>
              <a:rPr lang="es-ES" sz="2400" noProof="0" dirty="0">
                <a:latin typeface="Segoe Sans Display" pitchFamily="2" charset="0"/>
                <a:cs typeface="Segoe Sans Display" pitchFamily="2" charset="0"/>
              </a:rPr>
              <a:t> MVP (SQL Server y Azure SQL)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noProof="0" dirty="0">
                <a:latin typeface="Segoe Sans Display" pitchFamily="2" charset="0"/>
                <a:cs typeface="Segoe Sans Display" pitchFamily="2" charset="0"/>
              </a:rPr>
              <a:t>Consultoría y formación a medida.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noProof="0" dirty="0">
                <a:latin typeface="Segoe Sans Display" pitchFamily="2" charset="0"/>
                <a:cs typeface="Segoe Sans Display" pitchFamily="2" charset="0"/>
              </a:rPr>
              <a:t>Autor del libro “</a:t>
            </a:r>
            <a:r>
              <a:rPr lang="es-ES" sz="2400" b="1" noProof="0" dirty="0">
                <a:latin typeface="Segoe Sans Display" pitchFamily="2" charset="0"/>
                <a:cs typeface="Segoe Sans Display" pitchFamily="2" charset="0"/>
              </a:rPr>
              <a:t>SQL SERVER: La NO guía práctica de optimización</a:t>
            </a:r>
            <a:r>
              <a:rPr lang="es-ES" sz="2400" noProof="0" dirty="0">
                <a:latin typeface="Segoe Sans Display" pitchFamily="2" charset="0"/>
                <a:cs typeface="Segoe Sans Display" pitchFamily="2" charset="0"/>
              </a:rPr>
              <a:t>”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noProof="0" dirty="0">
                <a:latin typeface="Segoe Sans Display" pitchFamily="2" charset="0"/>
                <a:cs typeface="Segoe Sans Display" pitchFamily="2" charset="0"/>
              </a:rPr>
              <a:t>Creador y autor del blog www.soydba.es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400" noProof="0" dirty="0">
                <a:latin typeface="Segoe Sans Display" pitchFamily="2" charset="0"/>
                <a:cs typeface="Segoe Sans Display" pitchFamily="2" charset="0"/>
              </a:rPr>
              <a:t>Co-Administrador del grupo de </a:t>
            </a:r>
            <a:r>
              <a:rPr lang="es-ES" sz="2400" noProof="0" dirty="0" err="1">
                <a:latin typeface="Segoe Sans Display" pitchFamily="2" charset="0"/>
                <a:cs typeface="Segoe Sans Display" pitchFamily="2" charset="0"/>
              </a:rPr>
              <a:t>Telegram</a:t>
            </a:r>
            <a:r>
              <a:rPr lang="es-ES" sz="2400" noProof="0" dirty="0">
                <a:latin typeface="Segoe Sans Display" pitchFamily="2" charset="0"/>
                <a:cs typeface="Segoe Sans Display" pitchFamily="2" charset="0"/>
              </a:rPr>
              <a:t> SQL Server Español </a:t>
            </a:r>
          </a:p>
        </p:txBody>
      </p:sp>
      <p:pic>
        <p:nvPicPr>
          <p:cNvPr id="15" name="Imagen 14" descr="Código QR&#10;&#10;El contenido generado por IA puede ser incorrecto.">
            <a:extLst>
              <a:ext uri="{FF2B5EF4-FFF2-40B4-BE49-F238E27FC236}">
                <a16:creationId xmlns:a16="http://schemas.microsoft.com/office/drawing/2014/main" id="{31B9FC9A-409B-6112-D3FE-56B6EF248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0381" y="7559173"/>
            <a:ext cx="2544418" cy="254441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C4A7E3B-71F0-72CB-3961-9E7B42C005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0392" y="2402727"/>
            <a:ext cx="768883" cy="7688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462" normalizeH="0" baseline="0" noProof="0" dirty="0">
                <a:ln>
                  <a:noFill/>
                </a:ln>
                <a:solidFill>
                  <a:srgbClr val="6B3FA8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PATROCINADORES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1781184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700" b="1" i="0" u="none" strike="noStrike" kern="0" cap="none" spc="-114" normalizeH="0" baseline="0" noProof="0" dirty="0">
                <a:ln>
                  <a:noFill/>
                </a:ln>
                <a:solidFill>
                  <a:srgbClr val="211E2B"/>
                </a:solidFill>
                <a:effectLst/>
                <a:uLnTx/>
                <a:uFillTx/>
                <a:latin typeface="Outfit" pitchFamily="34" charset="0"/>
                <a:ea typeface="Outfit" pitchFamily="34" charset="-122"/>
                <a:cs typeface="Outfit" pitchFamily="34" charset="-120"/>
              </a:rPr>
              <a:t>Quien hace posible el fin de semana</a:t>
            </a:r>
            <a:endParaRPr kumimoji="0" lang="en-US" sz="5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47705" y="8817679"/>
            <a:ext cx="9229787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6B657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6D218A4-F8C5-87B9-C7D6-6A996E16CBAB}"/>
              </a:ext>
            </a:extLst>
          </p:cNvPr>
          <p:cNvSpPr/>
          <p:nvPr/>
        </p:nvSpPr>
        <p:spPr>
          <a:xfrm>
            <a:off x="14111020" y="8375702"/>
            <a:ext cx="3657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700" b="1" i="0" u="none" strike="noStrike" kern="0" cap="none" spc="-114" normalizeH="0" baseline="0" noProof="0" dirty="0">
                <a:ln>
                  <a:noFill/>
                </a:ln>
                <a:solidFill>
                  <a:srgbClr val="6B3FA8"/>
                </a:solidFill>
                <a:effectLst/>
                <a:uLnTx/>
                <a:uFillTx/>
                <a:latin typeface="Outfit" pitchFamily="34" charset="0"/>
                <a:ea typeface="Outfit" pitchFamily="34" charset="-122"/>
                <a:cs typeface="Outfit" pitchFamily="34" charset="-120"/>
              </a:rPr>
              <a:t>¡Gracias!</a:t>
            </a:r>
            <a:endParaRPr kumimoji="0" lang="en-US" sz="5700" b="0" i="0" u="none" strike="noStrike" kern="1200" cap="none" spc="0" normalizeH="0" baseline="0" noProof="0" dirty="0">
              <a:ln>
                <a:noFill/>
              </a:ln>
              <a:solidFill>
                <a:srgbClr val="6B3F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F74EFA52-34BD-7DCC-E9DF-98B9BF59A2C7}"/>
              </a:ext>
            </a:extLst>
          </p:cNvPr>
          <p:cNvSpPr/>
          <p:nvPr/>
        </p:nvSpPr>
        <p:spPr>
          <a:xfrm>
            <a:off x="2559992" y="3396454"/>
            <a:ext cx="2820566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14" normalizeH="0" baseline="0" noProof="0" dirty="0">
                <a:ln>
                  <a:noFill/>
                </a:ln>
                <a:solidFill>
                  <a:srgbClr val="211E2B"/>
                </a:solidFill>
                <a:effectLst/>
                <a:uLnTx/>
                <a:uFillTx/>
                <a:latin typeface="Outfit" pitchFamily="34" charset="0"/>
                <a:ea typeface="Outfit" pitchFamily="34" charset="-122"/>
                <a:cs typeface="Outfit" pitchFamily="34" charset="-120"/>
              </a:rPr>
              <a:t>Gold Sponsor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55C46E22-29A9-BA26-2A48-A77D731C4D19}"/>
              </a:ext>
            </a:extLst>
          </p:cNvPr>
          <p:cNvSpPr/>
          <p:nvPr/>
        </p:nvSpPr>
        <p:spPr>
          <a:xfrm>
            <a:off x="9973878" y="3396454"/>
            <a:ext cx="2676229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14" normalizeH="0" baseline="0" noProof="0">
                <a:ln>
                  <a:noFill/>
                </a:ln>
                <a:solidFill>
                  <a:srgbClr val="211E2B"/>
                </a:solidFill>
                <a:effectLst/>
                <a:uLnTx/>
                <a:uFillTx/>
                <a:latin typeface="Outfit" pitchFamily="34" charset="0"/>
                <a:ea typeface="Outfit" pitchFamily="34" charset="-122"/>
                <a:cs typeface="Outfit" pitchFamily="34" charset="-120"/>
              </a:rPr>
              <a:t>Bronze Sponsor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63F59BF3-57A8-8FE3-A916-D8B5358FEE80}"/>
              </a:ext>
            </a:extLst>
          </p:cNvPr>
          <p:cNvSpPr/>
          <p:nvPr/>
        </p:nvSpPr>
        <p:spPr>
          <a:xfrm>
            <a:off x="13555426" y="3396454"/>
            <a:ext cx="3657599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14" normalizeH="0" baseline="0" noProof="0">
                <a:ln>
                  <a:noFill/>
                </a:ln>
                <a:solidFill>
                  <a:srgbClr val="211E2B"/>
                </a:solidFill>
                <a:effectLst/>
                <a:uLnTx/>
                <a:uFillTx/>
                <a:latin typeface="Outfit" pitchFamily="34" charset="0"/>
                <a:ea typeface="Outfit" pitchFamily="34" charset="-122"/>
                <a:cs typeface="+mn-cs"/>
              </a:rPr>
              <a:t>Colaboradores</a:t>
            </a:r>
            <a:endParaRPr kumimoji="0" lang="en-US" sz="3000" b="1" i="0" u="none" strike="noStrike" kern="0" cap="none" spc="-114" normalizeH="0" baseline="0" noProof="0" dirty="0">
              <a:ln>
                <a:noFill/>
              </a:ln>
              <a:solidFill>
                <a:srgbClr val="211E2B"/>
              </a:solidFill>
              <a:effectLst/>
              <a:uLnTx/>
              <a:uFillTx/>
              <a:latin typeface="Outfit" pitchFamily="34" charset="0"/>
              <a:ea typeface="Outfit" pitchFamily="34" charset="-122"/>
              <a:cs typeface="+mn-cs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8784BC99-FD87-9FF0-B130-C1B60EF0CC29}"/>
              </a:ext>
            </a:extLst>
          </p:cNvPr>
          <p:cNvGrpSpPr/>
          <p:nvPr/>
        </p:nvGrpSpPr>
        <p:grpSpPr>
          <a:xfrm>
            <a:off x="-5516" y="4430598"/>
            <a:ext cx="18293515" cy="3295997"/>
            <a:chOff x="-5515" y="6316727"/>
            <a:chExt cx="7562850" cy="1409868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B176ADA1-8942-30DA-62EF-286F0BE3D092}"/>
                </a:ext>
              </a:extLst>
            </p:cNvPr>
            <p:cNvSpPr/>
            <p:nvPr/>
          </p:nvSpPr>
          <p:spPr>
            <a:xfrm>
              <a:off x="-5515" y="6316727"/>
              <a:ext cx="7562850" cy="1409868"/>
            </a:xfrm>
            <a:prstGeom prst="rect">
              <a:avLst/>
            </a:prstGeom>
            <a:gradFill>
              <a:gsLst>
                <a:gs pos="24000">
                  <a:schemeClr val="accent4">
                    <a:lumMod val="40000"/>
                    <a:lumOff val="60000"/>
                  </a:schemeClr>
                </a:gs>
                <a:gs pos="54000">
                  <a:schemeClr val="bg2"/>
                </a:gs>
                <a:gs pos="37000">
                  <a:schemeClr val="bg2"/>
                </a:gs>
                <a:gs pos="67000">
                  <a:schemeClr val="bg1"/>
                </a:gs>
                <a:gs pos="64000">
                  <a:schemeClr val="accent4">
                    <a:lumMod val="75000"/>
                  </a:schemeClr>
                </a:gs>
                <a:gs pos="61000">
                  <a:schemeClr val="accent4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EC667356-C2A7-030D-3E9C-726168D87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7351" y="6807130"/>
              <a:ext cx="499871" cy="499871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2ADBF398-2525-FA1A-B6D9-B31AE03EB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0716"/>
            <a:stretch>
              <a:fillRect/>
            </a:stretch>
          </p:blipFill>
          <p:spPr>
            <a:xfrm>
              <a:off x="6709949" y="6452546"/>
              <a:ext cx="374161" cy="424898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323EF9E-F918-B912-AC44-B6B90680C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5904009" y="6517703"/>
              <a:ext cx="560730" cy="278073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154F563F-6451-4B76-6036-B27BF7231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816884" y="6889877"/>
              <a:ext cx="1175350" cy="297221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64789421-D69A-9498-8746-D1E6C01AF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145399" y="6406101"/>
              <a:ext cx="619255" cy="483776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C6ACD419-075E-6557-CB64-F2901964A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99859" y="6985686"/>
              <a:ext cx="578251" cy="569299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FA7ABCF-FBA3-EE94-A354-3A6E9143C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4980" y="6316727"/>
              <a:ext cx="1377988" cy="1377988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AE7D5BB-3DFF-24C0-7EB8-656D1D566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82541" y="6618304"/>
              <a:ext cx="798870" cy="852638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370D0406-D3FC-0AD2-80E5-035777DA2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191"/>
            <a:stretch>
              <a:fillRect/>
            </a:stretch>
          </p:blipFill>
          <p:spPr>
            <a:xfrm>
              <a:off x="6604094" y="6787097"/>
              <a:ext cx="597714" cy="284730"/>
            </a:xfrm>
            <a:prstGeom prst="rect">
              <a:avLst/>
            </a:prstGeom>
          </p:spPr>
        </p:pic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6C080715-7F6D-9D01-A183-E1F8AA0CD8CC}"/>
                </a:ext>
              </a:extLst>
            </p:cNvPr>
            <p:cNvGrpSpPr/>
            <p:nvPr/>
          </p:nvGrpSpPr>
          <p:grpSpPr>
            <a:xfrm>
              <a:off x="6645093" y="7161169"/>
              <a:ext cx="515670" cy="302799"/>
              <a:chOff x="7619504" y="4140929"/>
              <a:chExt cx="515670" cy="302799"/>
            </a:xfrm>
          </p:grpSpPr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3C7D3A9-120F-5F64-E36F-4D36639C3502}"/>
                  </a:ext>
                </a:extLst>
              </p:cNvPr>
              <p:cNvSpPr txBox="1"/>
              <p:nvPr/>
            </p:nvSpPr>
            <p:spPr>
              <a:xfrm>
                <a:off x="7636769" y="4140929"/>
                <a:ext cx="490537" cy="302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90"/>
                  <a:buFont typeface="Arial"/>
                  <a:buNone/>
                  <a:tabLst/>
                  <a:defRPr/>
                </a:pPr>
                <a:r>
                  <a:rPr kumimoji="0" lang="es-ES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95959"/>
                    </a:solidFill>
                    <a:effectLst/>
                    <a:uLnTx/>
                    <a:uFillTx/>
                    <a:latin typeface="Montserrat Black"/>
                    <a:ea typeface="Montserrat Black"/>
                    <a:cs typeface="Montserrat Black"/>
                    <a:sym typeface="Montserrat Black"/>
                  </a:rPr>
                  <a:t>m</a:t>
                </a:r>
                <a:r>
                  <a:rPr kumimoji="0" lang="es-ES" sz="4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EC000"/>
                    </a:solidFill>
                    <a:effectLst/>
                    <a:uLnTx/>
                    <a:uFillTx/>
                    <a:latin typeface="Montserrat Black"/>
                    <a:ea typeface="Montserrat Black"/>
                    <a:cs typeface="Montserrat Black"/>
                    <a:sym typeface="Montserrat Black"/>
                  </a:rPr>
                  <a:t>BI</a:t>
                </a:r>
                <a:endParaRPr kumimoji="0" lang="es-E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AEC000"/>
                  </a:solidFill>
                  <a:effectLst/>
                  <a:uLnTx/>
                  <a:uFillTx/>
                  <a:latin typeface="Montserrat Black"/>
                  <a:ea typeface="Montserrat Black"/>
                  <a:cs typeface="Montserrat Black"/>
                  <a:sym typeface="Montserrat Black"/>
                </a:endParaRPr>
              </a:p>
            </p:txBody>
          </p:sp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80C9F464-CD57-5A69-21B1-D2864C563B1A}"/>
                  </a:ext>
                </a:extLst>
              </p:cNvPr>
              <p:cNvGrpSpPr/>
              <p:nvPr/>
            </p:nvGrpSpPr>
            <p:grpSpPr>
              <a:xfrm>
                <a:off x="7619504" y="4163228"/>
                <a:ext cx="515670" cy="258304"/>
                <a:chOff x="7169050" y="4119070"/>
                <a:chExt cx="1009127" cy="505484"/>
              </a:xfrm>
            </p:grpSpPr>
            <p:sp>
              <p:nvSpPr>
                <p:cNvPr id="18" name="Forma en L 17">
                  <a:extLst>
                    <a:ext uri="{FF2B5EF4-FFF2-40B4-BE49-F238E27FC236}">
                      <a16:creationId xmlns:a16="http://schemas.microsoft.com/office/drawing/2014/main" id="{B4FA25A9-D279-FAD0-25A9-14A58B5ED008}"/>
                    </a:ext>
                  </a:extLst>
                </p:cNvPr>
                <p:cNvSpPr/>
                <p:nvPr/>
              </p:nvSpPr>
              <p:spPr>
                <a:xfrm>
                  <a:off x="7169050" y="4440658"/>
                  <a:ext cx="194113" cy="183896"/>
                </a:xfrm>
                <a:prstGeom prst="corner">
                  <a:avLst>
                    <a:gd name="adj1" fmla="val 30158"/>
                    <a:gd name="adj2" fmla="val 31746"/>
                  </a:avLst>
                </a:prstGeom>
                <a:solidFill>
                  <a:srgbClr val="AEC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FCA"/>
                    </a:solidFill>
                    <a:effectLst/>
                    <a:uLnTx/>
                    <a:uFillTx/>
                    <a:latin typeface="Montserrat Medium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9" name="Forma en L 18">
                  <a:extLst>
                    <a:ext uri="{FF2B5EF4-FFF2-40B4-BE49-F238E27FC236}">
                      <a16:creationId xmlns:a16="http://schemas.microsoft.com/office/drawing/2014/main" id="{0C02AF40-30EF-5AF9-9F06-F5D0AFCF6240}"/>
                    </a:ext>
                  </a:extLst>
                </p:cNvPr>
                <p:cNvSpPr/>
                <p:nvPr/>
              </p:nvSpPr>
              <p:spPr>
                <a:xfrm flipH="1" flipV="1">
                  <a:off x="7984064" y="4119070"/>
                  <a:ext cx="194113" cy="183896"/>
                </a:xfrm>
                <a:prstGeom prst="corner">
                  <a:avLst>
                    <a:gd name="adj1" fmla="val 30158"/>
                    <a:gd name="adj2" fmla="val 31746"/>
                  </a:avLst>
                </a:prstGeom>
                <a:solidFill>
                  <a:srgbClr val="AEC00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es-E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FCA"/>
                    </a:solidFill>
                    <a:effectLst/>
                    <a:uLnTx/>
                    <a:uFillTx/>
                    <a:latin typeface="Montserrat Medium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F9D16A61-52A5-31E9-D569-1DFD4F603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6527" t="3249" r="5278" b="12881"/>
            <a:stretch>
              <a:fillRect/>
            </a:stretch>
          </p:blipFill>
          <p:spPr>
            <a:xfrm>
              <a:off x="5145399" y="6924070"/>
              <a:ext cx="644374" cy="612767"/>
            </a:xfrm>
            <a:prstGeom prst="rect">
              <a:avLst/>
            </a:prstGeom>
          </p:spPr>
        </p:pic>
      </p:grpSp>
      <p:sp>
        <p:nvSpPr>
          <p:cNvPr id="24" name="Text 1">
            <a:extLst>
              <a:ext uri="{FF2B5EF4-FFF2-40B4-BE49-F238E27FC236}">
                <a16:creationId xmlns:a16="http://schemas.microsoft.com/office/drawing/2014/main" id="{589294FC-7BD1-36C7-B5C6-33AF09C46B8F}"/>
              </a:ext>
            </a:extLst>
          </p:cNvPr>
          <p:cNvSpPr/>
          <p:nvPr/>
        </p:nvSpPr>
        <p:spPr>
          <a:xfrm>
            <a:off x="6923923" y="3396454"/>
            <a:ext cx="2820566" cy="93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14" normalizeH="0" baseline="0" noProof="0" dirty="0">
                <a:ln>
                  <a:noFill/>
                </a:ln>
                <a:solidFill>
                  <a:srgbClr val="211E2B"/>
                </a:solidFill>
                <a:effectLst/>
                <a:uLnTx/>
                <a:uFillTx/>
                <a:latin typeface="Outfit" pitchFamily="34" charset="0"/>
                <a:ea typeface="Outfit" pitchFamily="34" charset="-122"/>
                <a:cs typeface="Outfit" pitchFamily="34" charset="-120"/>
              </a:rPr>
              <a:t>Silver Sponsor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8FCD2A50-54BF-8454-8F8B-7F63245B47CF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85000"/>
          </a:blip>
          <a:stretch>
            <a:fillRect/>
          </a:stretch>
        </p:blipFill>
        <p:spPr>
          <a:xfrm>
            <a:off x="15282333" y="773849"/>
            <a:ext cx="2415163" cy="24151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43BD-0B19-0B17-A78B-D173261E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5048EB-A1A8-5469-4905-6D1ED8E944B3}"/>
              </a:ext>
            </a:extLst>
          </p:cNvPr>
          <p:cNvSpPr/>
          <p:nvPr/>
        </p:nvSpPr>
        <p:spPr>
          <a:xfrm>
            <a:off x="1047705" y="952410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PATROCINADORES</a:t>
            </a:r>
            <a:endParaRPr lang="en-US" sz="2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CEF45A-7A7E-371A-40C7-B7882FDE2491}"/>
              </a:ext>
            </a:extLst>
          </p:cNvPr>
          <p:cNvSpPr/>
          <p:nvPr/>
        </p:nvSpPr>
        <p:spPr>
          <a:xfrm>
            <a:off x="1047705" y="1496548"/>
            <a:ext cx="1781184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Quien hace posible el fin de semana</a:t>
            </a:r>
            <a:endParaRPr lang="en-US" sz="57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BF93224A-B81F-BDD6-545D-67BCF20498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5282333" y="773849"/>
            <a:ext cx="2415163" cy="2415163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6BF170DF-FACC-6267-05D1-565BBC74A022}"/>
              </a:ext>
            </a:extLst>
          </p:cNvPr>
          <p:cNvSpPr/>
          <p:nvPr/>
        </p:nvSpPr>
        <p:spPr>
          <a:xfrm>
            <a:off x="13236393" y="8560651"/>
            <a:ext cx="3657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700" b="1" kern="0" spc="-114" dirty="0">
                <a:solidFill>
                  <a:srgbClr val="6B3FA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¡Gracias!</a:t>
            </a:r>
            <a:endParaRPr lang="en-US" sz="5700" dirty="0">
              <a:solidFill>
                <a:srgbClr val="6B3FA8"/>
              </a:solidFill>
            </a:endParaRPr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25B93B4A-3E63-EC0C-FE75-1E9DB8B5D02B}"/>
              </a:ext>
            </a:extLst>
          </p:cNvPr>
          <p:cNvSpPr/>
          <p:nvPr/>
        </p:nvSpPr>
        <p:spPr>
          <a:xfrm>
            <a:off x="1483537" y="2258009"/>
            <a:ext cx="164462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Contributor </a:t>
            </a:r>
            <a:r>
              <a:rPr lang="en-US" sz="3600" b="1" kern="0" spc="-114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Sponsors</a:t>
            </a:r>
            <a:endParaRPr lang="en-US" sz="30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27257F-FDFA-D471-A96C-507FBA6AEB51}"/>
              </a:ext>
            </a:extLst>
          </p:cNvPr>
          <p:cNvSpPr/>
          <p:nvPr/>
        </p:nvSpPr>
        <p:spPr>
          <a:xfrm>
            <a:off x="0" y="5297924"/>
            <a:ext cx="18293515" cy="745466"/>
          </a:xfrm>
          <a:prstGeom prst="rect">
            <a:avLst/>
          </a:prstGeom>
          <a:gradFill>
            <a:gsLst>
              <a:gs pos="48000">
                <a:schemeClr val="accent4">
                  <a:lumMod val="40000"/>
                  <a:lumOff val="60000"/>
                </a:schemeClr>
              </a:gs>
              <a:gs pos="100000">
                <a:srgbClr val="C39DD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67BEDB-DC6C-8911-5BD1-6C121B60F051}"/>
              </a:ext>
            </a:extLst>
          </p:cNvPr>
          <p:cNvSpPr txBox="1"/>
          <p:nvPr/>
        </p:nvSpPr>
        <p:spPr>
          <a:xfrm>
            <a:off x="676853" y="6820156"/>
            <a:ext cx="1755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Roberto Carrancio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57AB81-ADC9-A181-6310-19EFF6C77E17}"/>
              </a:ext>
            </a:extLst>
          </p:cNvPr>
          <p:cNvSpPr txBox="1"/>
          <p:nvPr/>
        </p:nvSpPr>
        <p:spPr>
          <a:xfrm>
            <a:off x="2927678" y="6813936"/>
            <a:ext cx="154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Javier</a:t>
            </a:r>
          </a:p>
          <a:p>
            <a:pPr algn="ctr"/>
            <a:r>
              <a:rPr lang="es-ES" b="1"/>
              <a:t>Sánchez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7A4D9D5-3F9A-C395-3913-B959D7BC8610}"/>
              </a:ext>
            </a:extLst>
          </p:cNvPr>
          <p:cNvSpPr txBox="1"/>
          <p:nvPr/>
        </p:nvSpPr>
        <p:spPr>
          <a:xfrm>
            <a:off x="4538755" y="6813935"/>
            <a:ext cx="2320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Clara Vega</a:t>
            </a:r>
            <a:br>
              <a:rPr lang="es-ES" b="1"/>
            </a:br>
            <a:r>
              <a:rPr lang="es-ES" b="1"/>
              <a:t>J.M. Pomares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18128E6-5C2E-FB26-526A-5EC5DA06F4FE}"/>
              </a:ext>
            </a:extLst>
          </p:cNvPr>
          <p:cNvSpPr txBox="1"/>
          <p:nvPr/>
        </p:nvSpPr>
        <p:spPr>
          <a:xfrm>
            <a:off x="6900175" y="6820156"/>
            <a:ext cx="180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J.M. Pomares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074738-2FCE-6438-A2C2-31990B0C181E}"/>
              </a:ext>
            </a:extLst>
          </p:cNvPr>
          <p:cNvSpPr txBox="1"/>
          <p:nvPr/>
        </p:nvSpPr>
        <p:spPr>
          <a:xfrm>
            <a:off x="9041115" y="6813936"/>
            <a:ext cx="1875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Diana Aguilera</a:t>
            </a:r>
          </a:p>
          <a:p>
            <a:pPr algn="ctr"/>
            <a:r>
              <a:rPr lang="es-ES" b="1"/>
              <a:t>Nelson López</a:t>
            </a:r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E505B599-842D-EA70-5F5A-D8F1987E437E}"/>
              </a:ext>
            </a:extLst>
          </p:cNvPr>
          <p:cNvSpPr/>
          <p:nvPr/>
        </p:nvSpPr>
        <p:spPr>
          <a:xfrm>
            <a:off x="1047705" y="8817679"/>
            <a:ext cx="9229787" cy="74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n-US" sz="210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D028884F-87BF-6DD1-92C6-DE7C06F147AE}"/>
              </a:ext>
            </a:extLst>
          </p:cNvPr>
          <p:cNvGrpSpPr/>
          <p:nvPr/>
        </p:nvGrpSpPr>
        <p:grpSpPr>
          <a:xfrm>
            <a:off x="649421" y="4118482"/>
            <a:ext cx="16845204" cy="2572543"/>
            <a:chOff x="576269" y="4283206"/>
            <a:chExt cx="15766579" cy="2407819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1730CE69-7DD5-D9CA-35FB-FA0818F2A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7375" y="4505454"/>
              <a:ext cx="1617243" cy="2185571"/>
            </a:xfrm>
            <a:prstGeom prst="rect">
              <a:avLst/>
            </a:prstGeom>
          </p:spPr>
        </p:pic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6A594BF7-4268-5C4A-E166-10423712B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44214" y="4283206"/>
              <a:ext cx="1541002" cy="2407819"/>
            </a:xfrm>
            <a:prstGeom prst="rect">
              <a:avLst/>
            </a:prstGeom>
          </p:spPr>
        </p:pic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681652F3-0DA3-6E8D-5E92-41A1786C6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269" y="4489540"/>
              <a:ext cx="1755786" cy="2201485"/>
            </a:xfrm>
            <a:prstGeom prst="rect">
              <a:avLst/>
            </a:prstGeom>
          </p:spPr>
        </p:pic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888DDC24-2AAA-B7F7-97E3-3F60AC89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0630" y="4453259"/>
              <a:ext cx="1755786" cy="2237766"/>
            </a:xfrm>
            <a:prstGeom prst="rect">
              <a:avLst/>
            </a:prstGeom>
          </p:spPr>
        </p:pic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AE155EEC-246E-8C9E-99A0-7CB19A2EB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6777" y="4481949"/>
              <a:ext cx="1691695" cy="2209076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F34260BB-1E7E-DCB5-F78D-297CB3FA9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553816" y="4453261"/>
              <a:ext cx="1789032" cy="2208406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01D41274-63D6-3C45-A574-3322AE976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577336" y="4481949"/>
              <a:ext cx="1683857" cy="2179717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491B4FDC-8CAF-0F8F-A4A8-99BA6C847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79038" y="4453260"/>
              <a:ext cx="1805676" cy="2237765"/>
            </a:xfrm>
            <a:prstGeom prst="rect">
              <a:avLst/>
            </a:prstGeom>
          </p:spPr>
        </p:pic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40A001F-61CD-1EC2-72D3-941F16B72DFD}"/>
              </a:ext>
            </a:extLst>
          </p:cNvPr>
          <p:cNvSpPr txBox="1"/>
          <p:nvPr/>
        </p:nvSpPr>
        <p:spPr>
          <a:xfrm>
            <a:off x="11250529" y="6820156"/>
            <a:ext cx="1908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Ana. M. Bisbé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08E7687-E8C4-0151-5C60-0874C82CCCEA}"/>
              </a:ext>
            </a:extLst>
          </p:cNvPr>
          <p:cNvSpPr txBox="1"/>
          <p:nvPr/>
        </p:nvSpPr>
        <p:spPr>
          <a:xfrm>
            <a:off x="13492376" y="6820156"/>
            <a:ext cx="17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Ana. M. Bisbé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D4095E-125E-2F6C-F7BB-196EC0E0F1D0}"/>
              </a:ext>
            </a:extLst>
          </p:cNvPr>
          <p:cNvSpPr txBox="1"/>
          <p:nvPr/>
        </p:nvSpPr>
        <p:spPr>
          <a:xfrm>
            <a:off x="15643786" y="6813935"/>
            <a:ext cx="1805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/>
              <a:t>Ana. M. Bisbé</a:t>
            </a:r>
          </a:p>
        </p:txBody>
      </p:sp>
    </p:spTree>
    <p:extLst>
      <p:ext uri="{BB962C8B-B14F-4D97-AF65-F5344CB8AC3E}">
        <p14:creationId xmlns:p14="http://schemas.microsoft.com/office/powerpoint/2010/main" val="1532625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7004110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kern="0" spc="462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s-ES" sz="2100" noProof="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700411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5700" b="1" kern="0" spc="-114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Agenda de la sesión</a:t>
            </a:r>
            <a:endParaRPr lang="es-ES" sz="5700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05" y="3077608"/>
            <a:ext cx="16192590" cy="17253"/>
          </a:xfrm>
          <a:prstGeom prst="rect">
            <a:avLst/>
          </a:prstGeom>
          <a:solidFill>
            <a:srgbClr val="DDD8CC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3"/>
          <p:cNvSpPr/>
          <p:nvPr/>
        </p:nvSpPr>
        <p:spPr>
          <a:xfrm>
            <a:off x="1047705" y="3466875"/>
            <a:ext cx="1990626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1</a:t>
            </a:r>
            <a:endParaRPr lang="es-ES" sz="2250" noProof="0" dirty="0"/>
          </a:p>
        </p:txBody>
      </p:sp>
      <p:sp>
        <p:nvSpPr>
          <p:cNvPr id="7" name="Text 4"/>
          <p:cNvSpPr/>
          <p:nvPr/>
        </p:nvSpPr>
        <p:spPr>
          <a:xfrm>
            <a:off x="3276420" y="3380611"/>
            <a:ext cx="10576058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3000" b="1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consulta no está bien</a:t>
            </a:r>
            <a:endParaRPr lang="es-ES" sz="3000" noProof="0" dirty="0"/>
          </a:p>
        </p:txBody>
      </p:sp>
      <p:sp>
        <p:nvSpPr>
          <p:cNvPr id="9" name="Shape 6"/>
          <p:cNvSpPr/>
          <p:nvPr/>
        </p:nvSpPr>
        <p:spPr>
          <a:xfrm>
            <a:off x="1047705" y="4140814"/>
            <a:ext cx="16192590" cy="17253"/>
          </a:xfrm>
          <a:prstGeom prst="rect">
            <a:avLst/>
          </a:prstGeom>
          <a:solidFill>
            <a:srgbClr val="DDD8CC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7"/>
          <p:cNvSpPr/>
          <p:nvPr/>
        </p:nvSpPr>
        <p:spPr>
          <a:xfrm>
            <a:off x="1047705" y="4530081"/>
            <a:ext cx="1990626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2</a:t>
            </a:r>
            <a:endParaRPr lang="es-ES" sz="2250" noProof="0" dirty="0"/>
          </a:p>
        </p:txBody>
      </p:sp>
      <p:sp>
        <p:nvSpPr>
          <p:cNvPr id="11" name="Text 8"/>
          <p:cNvSpPr/>
          <p:nvPr/>
        </p:nvSpPr>
        <p:spPr>
          <a:xfrm>
            <a:off x="3276420" y="4443817"/>
            <a:ext cx="10303102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3000" b="1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</a:rPr>
              <a:t>El plan de ejecución no está bien</a:t>
            </a:r>
            <a:endParaRPr lang="es-ES" sz="3000" noProof="0" dirty="0"/>
          </a:p>
        </p:txBody>
      </p:sp>
      <p:sp>
        <p:nvSpPr>
          <p:cNvPr id="13" name="Shape 10"/>
          <p:cNvSpPr/>
          <p:nvPr/>
        </p:nvSpPr>
        <p:spPr>
          <a:xfrm>
            <a:off x="1047705" y="5204020"/>
            <a:ext cx="16192590" cy="17253"/>
          </a:xfrm>
          <a:prstGeom prst="rect">
            <a:avLst/>
          </a:prstGeom>
          <a:solidFill>
            <a:srgbClr val="DDD8CC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1"/>
          <p:cNvSpPr/>
          <p:nvPr/>
        </p:nvSpPr>
        <p:spPr>
          <a:xfrm>
            <a:off x="1047705" y="5593286"/>
            <a:ext cx="1990626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3</a:t>
            </a:r>
            <a:endParaRPr lang="es-ES" sz="2250" noProof="0" dirty="0"/>
          </a:p>
        </p:txBody>
      </p:sp>
      <p:sp>
        <p:nvSpPr>
          <p:cNvPr id="15" name="Text 12"/>
          <p:cNvSpPr/>
          <p:nvPr/>
        </p:nvSpPr>
        <p:spPr>
          <a:xfrm>
            <a:off x="3276419" y="5507023"/>
            <a:ext cx="10139329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3000" b="1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consulta y el plan están bien</a:t>
            </a:r>
            <a:endParaRPr lang="es-ES" sz="3000" noProof="0" dirty="0"/>
          </a:p>
        </p:txBody>
      </p:sp>
      <p:sp>
        <p:nvSpPr>
          <p:cNvPr id="18" name="Shape 15"/>
          <p:cNvSpPr/>
          <p:nvPr/>
        </p:nvSpPr>
        <p:spPr>
          <a:xfrm>
            <a:off x="1047705" y="6267226"/>
            <a:ext cx="16192590" cy="17253"/>
          </a:xfrm>
          <a:prstGeom prst="rect">
            <a:avLst/>
          </a:prstGeom>
          <a:solidFill>
            <a:srgbClr val="DDD8CC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9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3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11811045" y="4191090"/>
            <a:ext cx="8000865" cy="800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7705" y="3906282"/>
            <a:ext cx="14668451" cy="1784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9900" b="1" kern="0" spc="-297" noProof="0" dirty="0">
                <a:solidFill>
                  <a:srgbClr val="F5F3E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Todas las bases de datos funcionan de maravilla… hasta que les añades datos y usuarios.</a:t>
            </a:r>
            <a:endParaRPr lang="es-ES" sz="9900" noProof="0" dirty="0"/>
          </a:p>
        </p:txBody>
      </p:sp>
      <p:sp>
        <p:nvSpPr>
          <p:cNvPr id="5" name="Text 2"/>
          <p:cNvSpPr/>
          <p:nvPr/>
        </p:nvSpPr>
        <p:spPr>
          <a:xfrm>
            <a:off x="1047705" y="5667258"/>
            <a:ext cx="14019423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s-ES" sz="3000" i="1" noProof="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Fernando G. Guerrero</a:t>
            </a:r>
            <a:endParaRPr lang="es-ES" sz="3000" i="1" noProof="0" dirty="0"/>
          </a:p>
        </p:txBody>
      </p:sp>
      <p:sp>
        <p:nvSpPr>
          <p:cNvPr id="6" name="Text 3"/>
          <p:cNvSpPr/>
          <p:nvPr/>
        </p:nvSpPr>
        <p:spPr>
          <a:xfrm>
            <a:off x="11065162" y="9728514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D9C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3FA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7642A1-AE5C-C827-3A0A-54983F42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54D9BB5-E784-F2D4-09DF-518180592B6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11811045" y="4191090"/>
            <a:ext cx="8000865" cy="800086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7B31D9E-9049-DC46-45AA-D29A4D2D2B9E}"/>
              </a:ext>
            </a:extLst>
          </p:cNvPr>
          <p:cNvSpPr/>
          <p:nvPr/>
        </p:nvSpPr>
        <p:spPr>
          <a:xfrm>
            <a:off x="1047705" y="3138937"/>
            <a:ext cx="17811848" cy="443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0" cap="none" spc="528" normalizeH="0" baseline="0" noProof="0" dirty="0">
                <a:ln>
                  <a:noFill/>
                </a:ln>
                <a:solidFill>
                  <a:srgbClr val="E0A526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1</a:t>
            </a: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F0AB3B7-A91E-ADCC-13C5-EEA16F436B50}"/>
              </a:ext>
            </a:extLst>
          </p:cNvPr>
          <p:cNvSpPr/>
          <p:nvPr/>
        </p:nvSpPr>
        <p:spPr>
          <a:xfrm>
            <a:off x="1047705" y="3906283"/>
            <a:ext cx="14668451" cy="123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52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900" b="1" i="0" u="none" strike="noStrike" kern="0" cap="none" spc="-297" normalizeH="0" baseline="0" noProof="0" dirty="0">
                <a:ln>
                  <a:noFill/>
                </a:ln>
                <a:solidFill>
                  <a:srgbClr val="F5F3EE"/>
                </a:solidFill>
                <a:effectLst/>
                <a:uLnTx/>
                <a:uFillTx/>
                <a:latin typeface="Outfit" pitchFamily="34" charset="0"/>
                <a:ea typeface="Outfit" pitchFamily="34" charset="-122"/>
                <a:cs typeface="Outfit" pitchFamily="34" charset="-120"/>
              </a:rPr>
              <a:t>La enfermedad asintomática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E0FF243-0BC0-2897-61AF-D63EBAA44314}"/>
              </a:ext>
            </a:extLst>
          </p:cNvPr>
          <p:cNvSpPr/>
          <p:nvPr/>
        </p:nvSpPr>
        <p:spPr>
          <a:xfrm>
            <a:off x="1047705" y="5673081"/>
            <a:ext cx="11525200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noProof="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El problema estaba ahí pero no lo notábamos hasta que crecieron los datos</a:t>
            </a:r>
            <a:endParaRPr kumimoji="0" lang="es-E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A6EF8E2-BD7E-A999-F185-BDE40CC97467}"/>
              </a:ext>
            </a:extLst>
          </p:cNvPr>
          <p:cNvSpPr/>
          <p:nvPr/>
        </p:nvSpPr>
        <p:spPr>
          <a:xfrm>
            <a:off x="1047705" y="6794246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0" i="0" u="none" strike="noStrike" kern="1200" cap="none" spc="0" normalizeH="0" baseline="0" noProof="0" dirty="0">
                <a:ln>
                  <a:noFill/>
                </a:ln>
                <a:solidFill>
                  <a:srgbClr val="D9CDE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kumimoji="0" lang="es-E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991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kern="0" spc="462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1</a:t>
            </a:r>
            <a:endParaRPr lang="es-ES" sz="2100" noProof="0" dirty="0"/>
          </a:p>
        </p:txBody>
      </p:sp>
      <p:sp>
        <p:nvSpPr>
          <p:cNvPr id="3" name="Text 1"/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5700" b="1" kern="0" spc="-114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uses SELECT *</a:t>
            </a:r>
            <a:endParaRPr lang="es-ES" sz="5700" noProof="0" dirty="0"/>
          </a:p>
        </p:txBody>
      </p:sp>
      <p:sp>
        <p:nvSpPr>
          <p:cNvPr id="5" name="Text 2"/>
          <p:cNvSpPr/>
          <p:nvPr/>
        </p:nvSpPr>
        <p:spPr>
          <a:xfrm>
            <a:off x="1047705" y="3117236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6" name="Text 3"/>
          <p:cNvSpPr/>
          <p:nvPr/>
        </p:nvSpPr>
        <p:spPr>
          <a:xfrm>
            <a:off x="1486978" y="3039598"/>
            <a:ext cx="7159493" cy="518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Evita leer columnas que no necesitas.</a:t>
            </a:r>
          </a:p>
        </p:txBody>
      </p:sp>
      <p:sp>
        <p:nvSpPr>
          <p:cNvPr id="7" name="Text 4"/>
          <p:cNvSpPr/>
          <p:nvPr/>
        </p:nvSpPr>
        <p:spPr>
          <a:xfrm>
            <a:off x="1047705" y="3978125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8" name="Text 5"/>
          <p:cNvSpPr/>
          <p:nvPr/>
        </p:nvSpPr>
        <p:spPr>
          <a:xfrm>
            <a:off x="1486978" y="3900488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Si no hay columnas anchas el motor va a leer las mismas páginas, pero…</a:t>
            </a:r>
          </a:p>
        </p:txBody>
      </p:sp>
      <p:sp>
        <p:nvSpPr>
          <p:cNvPr id="9" name="Text 6"/>
          <p:cNvSpPr/>
          <p:nvPr/>
        </p:nvSpPr>
        <p:spPr>
          <a:xfrm>
            <a:off x="2556458" y="5246829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10" name="Text 7"/>
          <p:cNvSpPr/>
          <p:nvPr/>
        </p:nvSpPr>
        <p:spPr>
          <a:xfrm>
            <a:off x="2934268" y="5241356"/>
            <a:ext cx="6046965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Más columnas = más coste para </a:t>
            </a:r>
            <a:r>
              <a:rPr lang="es-ES" sz="2800" dirty="0" err="1"/>
              <a:t>joins</a:t>
            </a:r>
            <a:r>
              <a:rPr lang="es-ES" sz="2800" dirty="0"/>
              <a:t>, ordenaciones y agregados</a:t>
            </a:r>
          </a:p>
        </p:txBody>
      </p:sp>
      <p:sp>
        <p:nvSpPr>
          <p:cNvPr id="13" name="Text 10"/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4CE05C8B-C54B-88BE-9612-5E015FC2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7B8AA161-CD5C-BC21-29A4-3C4D28400092}"/>
              </a:ext>
            </a:extLst>
          </p:cNvPr>
          <p:cNvSpPr/>
          <p:nvPr/>
        </p:nvSpPr>
        <p:spPr>
          <a:xfrm>
            <a:off x="2584426" y="6289420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FFD9AE5-82FE-3DDD-7323-984AEBDF4D6E}"/>
              </a:ext>
            </a:extLst>
          </p:cNvPr>
          <p:cNvSpPr/>
          <p:nvPr/>
        </p:nvSpPr>
        <p:spPr>
          <a:xfrm>
            <a:off x="2962236" y="6283947"/>
            <a:ext cx="6046965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Puede dar problemas si cambia el esquema</a:t>
            </a: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C2D6623-A617-2A5F-A275-74F59FF798E1}"/>
              </a:ext>
            </a:extLst>
          </p:cNvPr>
          <p:cNvSpPr/>
          <p:nvPr/>
        </p:nvSpPr>
        <p:spPr>
          <a:xfrm>
            <a:off x="2584426" y="7336390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EF46481F-2D0A-05A6-01FC-D055C4DF1690}"/>
              </a:ext>
            </a:extLst>
          </p:cNvPr>
          <p:cNvSpPr/>
          <p:nvPr/>
        </p:nvSpPr>
        <p:spPr>
          <a:xfrm>
            <a:off x="2962236" y="7330917"/>
            <a:ext cx="6046965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Datos innecesarios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9BE0147C-F650-609A-F698-B1C697928184}"/>
              </a:ext>
            </a:extLst>
          </p:cNvPr>
          <p:cNvSpPr/>
          <p:nvPr/>
        </p:nvSpPr>
        <p:spPr>
          <a:xfrm>
            <a:off x="2584426" y="7955051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D35E0E70-52F1-E5F2-D5CC-DDA92949A37F}"/>
              </a:ext>
            </a:extLst>
          </p:cNvPr>
          <p:cNvSpPr/>
          <p:nvPr/>
        </p:nvSpPr>
        <p:spPr>
          <a:xfrm>
            <a:off x="2962236" y="7949578"/>
            <a:ext cx="6046965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Más consumo de red y memoria</a:t>
            </a:r>
          </a:p>
          <a:p>
            <a:endParaRPr lang="es-ES" sz="28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C6099D4-AA81-14CD-1346-556AADDBF6E0}"/>
              </a:ext>
            </a:extLst>
          </p:cNvPr>
          <p:cNvSpPr/>
          <p:nvPr/>
        </p:nvSpPr>
        <p:spPr>
          <a:xfrm>
            <a:off x="12324312" y="5111079"/>
            <a:ext cx="26741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SELECT *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506D899-8D21-89F0-A9E5-7ADED9017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3746" y="3745746"/>
            <a:ext cx="3679986" cy="36799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3DFCB-32DF-E7D6-5A90-4BE3A5F7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241274-5002-C47F-332B-F514482FDB99}"/>
              </a:ext>
            </a:extLst>
          </p:cNvPr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kern="0" spc="462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1</a:t>
            </a:r>
            <a:endParaRPr lang="es-ES" sz="2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BF8CD9-16BD-233C-E40D-24A3D0886214}"/>
              </a:ext>
            </a:extLst>
          </p:cNvPr>
          <p:cNvSpPr/>
          <p:nvPr/>
        </p:nvSpPr>
        <p:spPr>
          <a:xfrm>
            <a:off x="1047705" y="1496548"/>
            <a:ext cx="1219062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5700" b="1" kern="0" spc="-114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SARGABILIDAD y CONVERSIONES</a:t>
            </a:r>
            <a:endParaRPr lang="es-ES" sz="5700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6780E5F-CDC9-5D64-8A1E-A6B46FC20C7E}"/>
              </a:ext>
            </a:extLst>
          </p:cNvPr>
          <p:cNvSpPr/>
          <p:nvPr/>
        </p:nvSpPr>
        <p:spPr>
          <a:xfrm>
            <a:off x="1047705" y="2813177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8D35F0D-D5B4-A3AF-8F72-E0802D132F0E}"/>
              </a:ext>
            </a:extLst>
          </p:cNvPr>
          <p:cNvSpPr/>
          <p:nvPr/>
        </p:nvSpPr>
        <p:spPr>
          <a:xfrm>
            <a:off x="1486978" y="2756848"/>
            <a:ext cx="7374590" cy="1143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s-ES" sz="28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</a:t>
            </a:r>
            <a:r>
              <a:rPr lang="es-ES" sz="2800" noProof="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sargabilidad</a:t>
            </a:r>
            <a:r>
              <a:rPr lang="es-ES" sz="28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es la capacidad de leer el índice por niveles (Search </a:t>
            </a:r>
            <a:r>
              <a:rPr lang="es-ES" sz="2800" noProof="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ARGument</a:t>
            </a:r>
            <a:r>
              <a:rPr lang="es-ES" sz="28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ABLE)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19ECAAA-6A3F-6BA2-0043-675396A8BC3D}"/>
              </a:ext>
            </a:extLst>
          </p:cNvPr>
          <p:cNvSpPr/>
          <p:nvPr/>
        </p:nvSpPr>
        <p:spPr>
          <a:xfrm>
            <a:off x="1059781" y="4253958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5777943-7CA9-254B-60C3-758782ECE2F5}"/>
              </a:ext>
            </a:extLst>
          </p:cNvPr>
          <p:cNvSpPr/>
          <p:nvPr/>
        </p:nvSpPr>
        <p:spPr>
          <a:xfrm>
            <a:off x="1499054" y="4176321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Los filtros de búsqueda deben ser comparables con los datos almacenados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4645436-FD5E-723F-191A-699BDE3AE753}"/>
              </a:ext>
            </a:extLst>
          </p:cNvPr>
          <p:cNvSpPr/>
          <p:nvPr/>
        </p:nvSpPr>
        <p:spPr>
          <a:xfrm>
            <a:off x="9524910" y="3039598"/>
            <a:ext cx="7715385" cy="4130166"/>
          </a:xfrm>
          <a:prstGeom prst="rect">
            <a:avLst/>
          </a:prstGeom>
          <a:ln w="17253">
            <a:solidFill>
              <a:srgbClr val="C9C3B6"/>
            </a:solidFill>
            <a:prstDash val="dash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0EDA5FF-D978-8A5F-5629-0297968386D7}"/>
              </a:ext>
            </a:extLst>
          </p:cNvPr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10D78034-F08E-9780-0CBB-922F0A3375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E8497C47-1792-1E8F-3A25-253A1CA5DB94}"/>
              </a:ext>
            </a:extLst>
          </p:cNvPr>
          <p:cNvSpPr/>
          <p:nvPr/>
        </p:nvSpPr>
        <p:spPr>
          <a:xfrm>
            <a:off x="2556458" y="5246829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BDABE6A5-1AFF-F0EF-DE80-A1BA10E2DDD3}"/>
              </a:ext>
            </a:extLst>
          </p:cNvPr>
          <p:cNvSpPr/>
          <p:nvPr/>
        </p:nvSpPr>
        <p:spPr>
          <a:xfrm>
            <a:off x="2934268" y="5241356"/>
            <a:ext cx="6046965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No uses FUNCIONES sobre columnas de filtro</a:t>
            </a: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A578CDDF-A4CB-6ABC-E1D2-0250D1E21584}"/>
              </a:ext>
            </a:extLst>
          </p:cNvPr>
          <p:cNvSpPr/>
          <p:nvPr/>
        </p:nvSpPr>
        <p:spPr>
          <a:xfrm>
            <a:off x="2584426" y="6289420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CA34856-37C7-ADD7-1EB4-ECDB7A2BCDB5}"/>
              </a:ext>
            </a:extLst>
          </p:cNvPr>
          <p:cNvSpPr/>
          <p:nvPr/>
        </p:nvSpPr>
        <p:spPr>
          <a:xfrm>
            <a:off x="2962236" y="6283947"/>
            <a:ext cx="6046965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No hagas operaciones sobre columnas de filtro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991334FE-5740-001F-F609-2E2752703D76}"/>
              </a:ext>
            </a:extLst>
          </p:cNvPr>
          <p:cNvSpPr/>
          <p:nvPr/>
        </p:nvSpPr>
        <p:spPr>
          <a:xfrm>
            <a:off x="2584426" y="7336390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7DAB7817-D259-221B-2E52-2EC6A996F947}"/>
              </a:ext>
            </a:extLst>
          </p:cNvPr>
          <p:cNvSpPr/>
          <p:nvPr/>
        </p:nvSpPr>
        <p:spPr>
          <a:xfrm>
            <a:off x="2962236" y="7330917"/>
            <a:ext cx="6046965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Compara siempre el mismo tipo de datos</a:t>
            </a:r>
          </a:p>
        </p:txBody>
      </p:sp>
      <p:sp>
        <p:nvSpPr>
          <p:cNvPr id="29" name="Marcador de texto 12">
            <a:extLst>
              <a:ext uri="{FF2B5EF4-FFF2-40B4-BE49-F238E27FC236}">
                <a16:creationId xmlns:a16="http://schemas.microsoft.com/office/drawing/2014/main" id="{2F4DB53E-6945-C807-4A26-02EBDDE28815}"/>
              </a:ext>
            </a:extLst>
          </p:cNvPr>
          <p:cNvSpPr>
            <a:spLocks noGrp="1"/>
          </p:cNvSpPr>
          <p:nvPr/>
        </p:nvSpPr>
        <p:spPr>
          <a:xfrm>
            <a:off x="10617957" y="3213586"/>
            <a:ext cx="3100767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EVITA</a:t>
            </a:r>
          </a:p>
        </p:txBody>
      </p:sp>
      <p:sp>
        <p:nvSpPr>
          <p:cNvPr id="31" name="Marcador de texto 14">
            <a:extLst>
              <a:ext uri="{FF2B5EF4-FFF2-40B4-BE49-F238E27FC236}">
                <a16:creationId xmlns:a16="http://schemas.microsoft.com/office/drawing/2014/main" id="{1E73AFB8-688B-5313-7D75-AFBF05C833D5}"/>
              </a:ext>
            </a:extLst>
          </p:cNvPr>
          <p:cNvSpPr>
            <a:spLocks noGrp="1"/>
          </p:cNvSpPr>
          <p:nvPr/>
        </p:nvSpPr>
        <p:spPr>
          <a:xfrm>
            <a:off x="14959235" y="3227216"/>
            <a:ext cx="3101985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USA ESTO</a:t>
            </a:r>
          </a:p>
        </p:txBody>
      </p:sp>
      <p:sp>
        <p:nvSpPr>
          <p:cNvPr id="37" name="Marcador de contenido 13">
            <a:extLst>
              <a:ext uri="{FF2B5EF4-FFF2-40B4-BE49-F238E27FC236}">
                <a16:creationId xmlns:a16="http://schemas.microsoft.com/office/drawing/2014/main" id="{C545BA9F-3B3C-8C4F-717F-57980598E2A1}"/>
              </a:ext>
            </a:extLst>
          </p:cNvPr>
          <p:cNvSpPr>
            <a:spLocks noGrp="1"/>
          </p:cNvSpPr>
          <p:nvPr/>
        </p:nvSpPr>
        <p:spPr>
          <a:xfrm>
            <a:off x="9817172" y="4001713"/>
            <a:ext cx="3803294" cy="287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YEAR(fecha)=2025</a:t>
            </a:r>
            <a:br>
              <a:rPr lang="es-ES" dirty="0"/>
            </a:br>
            <a:br>
              <a:rPr lang="es-ES" dirty="0"/>
            </a:br>
            <a:endParaRPr lang="es-ES" dirty="0"/>
          </a:p>
          <a:p>
            <a:r>
              <a:rPr lang="es-ES" dirty="0"/>
              <a:t>columna + 1 = 5</a:t>
            </a:r>
          </a:p>
          <a:p>
            <a:r>
              <a:rPr lang="es-ES" dirty="0"/>
              <a:t>WHERE CAST(</a:t>
            </a:r>
            <a:r>
              <a:rPr lang="es-ES" dirty="0" err="1"/>
              <a:t>CampoNVarchar</a:t>
            </a:r>
            <a:r>
              <a:rPr lang="es-ES" dirty="0"/>
              <a:t> AS VARCHAR) = 'Juan'</a:t>
            </a:r>
          </a:p>
        </p:txBody>
      </p:sp>
      <p:sp>
        <p:nvSpPr>
          <p:cNvPr id="39" name="Marcador de contenido 15">
            <a:extLst>
              <a:ext uri="{FF2B5EF4-FFF2-40B4-BE49-F238E27FC236}">
                <a16:creationId xmlns:a16="http://schemas.microsoft.com/office/drawing/2014/main" id="{41B9C557-81AD-6754-E243-6D123AEC6230}"/>
              </a:ext>
            </a:extLst>
          </p:cNvPr>
          <p:cNvSpPr>
            <a:spLocks noGrp="1"/>
          </p:cNvSpPr>
          <p:nvPr/>
        </p:nvSpPr>
        <p:spPr>
          <a:xfrm>
            <a:off x="13803540" y="4001712"/>
            <a:ext cx="3436755" cy="2873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Fecha &gt;= '20250101' AND Fecha &lt; '20260101’</a:t>
            </a:r>
          </a:p>
          <a:p>
            <a:endParaRPr lang="es-ES" dirty="0"/>
          </a:p>
          <a:p>
            <a:r>
              <a:rPr lang="es-ES" dirty="0"/>
              <a:t>columna = 4</a:t>
            </a:r>
          </a:p>
          <a:p>
            <a:r>
              <a:rPr lang="es-ES" dirty="0"/>
              <a:t>WHERE </a:t>
            </a:r>
            <a:r>
              <a:rPr lang="es-ES" dirty="0" err="1"/>
              <a:t>CampoNVarchar</a:t>
            </a:r>
            <a:r>
              <a:rPr lang="es-ES" dirty="0"/>
              <a:t> = </a:t>
            </a:r>
            <a:r>
              <a:rPr lang="es-ES" dirty="0" err="1"/>
              <a:t>N’Juan</a:t>
            </a:r>
            <a:r>
              <a:rPr lang="es-ES" dirty="0"/>
              <a:t>’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126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55F65-6194-248A-E31B-49C050DB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E5C604-0E70-65A2-91AA-8F172CDE4DCF}"/>
              </a:ext>
            </a:extLst>
          </p:cNvPr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kern="0" spc="462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1</a:t>
            </a:r>
            <a:endParaRPr lang="es-ES" sz="2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985A6C-E5F3-6584-E441-E48F6FB91511}"/>
              </a:ext>
            </a:extLst>
          </p:cNvPr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5700" b="1" kern="0" spc="-114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SUBCONSULTAS</a:t>
            </a:r>
            <a:endParaRPr lang="es-ES" sz="5700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915676C-C315-3323-97A8-7C1DD44F1395}"/>
              </a:ext>
            </a:extLst>
          </p:cNvPr>
          <p:cNvSpPr/>
          <p:nvPr/>
        </p:nvSpPr>
        <p:spPr>
          <a:xfrm>
            <a:off x="1047705" y="3404546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EFE00A7-01B9-5F0B-8124-FDFD396C00AA}"/>
              </a:ext>
            </a:extLst>
          </p:cNvPr>
          <p:cNvSpPr/>
          <p:nvPr/>
        </p:nvSpPr>
        <p:spPr>
          <a:xfrm>
            <a:off x="1486978" y="3392976"/>
            <a:ext cx="7159493" cy="1299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s-ES" sz="2800" dirty="0"/>
              <a:t>Las subconsultas en el SELECT se ejecutan una vez por cada fila del FROM. Valora sustituirlas por un LEFT JOIN.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4675529-12B8-DB00-F305-4550B939E658}"/>
              </a:ext>
            </a:extLst>
          </p:cNvPr>
          <p:cNvSpPr/>
          <p:nvPr/>
        </p:nvSpPr>
        <p:spPr>
          <a:xfrm>
            <a:off x="1047705" y="4769698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8910E66-83B3-66C0-C725-10100668C617}"/>
              </a:ext>
            </a:extLst>
          </p:cNvPr>
          <p:cNvSpPr/>
          <p:nvPr/>
        </p:nvSpPr>
        <p:spPr>
          <a:xfrm>
            <a:off x="1486978" y="4692061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Las </a:t>
            </a:r>
            <a:r>
              <a:rPr lang="es-ES" sz="2800" dirty="0" err="1"/>
              <a:t>CTEs</a:t>
            </a:r>
            <a:r>
              <a:rPr lang="es-ES" sz="2800" dirty="0"/>
              <a:t> en el FROM no se reutilizan. Valora el uso de tablas temporales si es necesario.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409A822-31D5-F8E5-B458-B39A3DE67217}"/>
              </a:ext>
            </a:extLst>
          </p:cNvPr>
          <p:cNvSpPr/>
          <p:nvPr/>
        </p:nvSpPr>
        <p:spPr>
          <a:xfrm>
            <a:off x="1047705" y="6110567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C91A78A-1A99-90DB-7BD5-13D15EE4D150}"/>
              </a:ext>
            </a:extLst>
          </p:cNvPr>
          <p:cNvSpPr/>
          <p:nvPr/>
        </p:nvSpPr>
        <p:spPr>
          <a:xfrm>
            <a:off x="1486978" y="6032929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2800" dirty="0"/>
              <a:t>En el WHERE rinde mejor EXISTS que IN y muchas veces incluso mejor que INNER JOIN.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F93152A-DF67-94BB-A652-565ED9B95059}"/>
              </a:ext>
            </a:extLst>
          </p:cNvPr>
          <p:cNvSpPr/>
          <p:nvPr/>
        </p:nvSpPr>
        <p:spPr>
          <a:xfrm>
            <a:off x="9524910" y="3039598"/>
            <a:ext cx="7715385" cy="4130166"/>
          </a:xfrm>
          <a:prstGeom prst="rect">
            <a:avLst/>
          </a:prstGeom>
          <a:ln w="17253">
            <a:solidFill>
              <a:srgbClr val="C9C3B6"/>
            </a:solidFill>
            <a:prstDash val="dash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6D3E712-77DB-285C-1FAF-6C6C81E54377}"/>
              </a:ext>
            </a:extLst>
          </p:cNvPr>
          <p:cNvSpPr/>
          <p:nvPr/>
        </p:nvSpPr>
        <p:spPr>
          <a:xfrm>
            <a:off x="11619599" y="3506362"/>
            <a:ext cx="3966144" cy="3050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ES" sz="9600" noProof="0" dirty="0">
                <a:solidFill>
                  <a:srgbClr val="9A94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</a:t>
            </a:r>
          </a:p>
          <a:p>
            <a:pPr marL="0" indent="0" algn="ctr">
              <a:buNone/>
            </a:pPr>
            <a:r>
              <a:rPr lang="es-ES" sz="9600" dirty="0">
                <a:solidFill>
                  <a:srgbClr val="9A94A6"/>
                </a:solidFill>
                <a:latin typeface="JetBrains Mono" pitchFamily="34" charset="0"/>
                <a:ea typeface="JetBrains Mono" pitchFamily="34" charset="-122"/>
              </a:rPr>
              <a:t>JOIN</a:t>
            </a:r>
          </a:p>
          <a:p>
            <a:pPr marL="0" indent="0" algn="ctr">
              <a:buNone/>
            </a:pPr>
            <a:r>
              <a:rPr lang="es-ES" sz="3900" i="1" dirty="0">
                <a:solidFill>
                  <a:srgbClr val="9A94A6"/>
                </a:solidFill>
                <a:latin typeface="JetBrains Mono" pitchFamily="34" charset="0"/>
                <a:ea typeface="JetBrains Mono" pitchFamily="34" charset="-122"/>
              </a:rPr>
              <a:t>pero solo a veces</a:t>
            </a:r>
            <a:endParaRPr lang="es-ES" sz="7800" i="1" dirty="0">
              <a:solidFill>
                <a:srgbClr val="9A94A6"/>
              </a:solidFill>
              <a:latin typeface="JetBrains Mono" pitchFamily="34" charset="0"/>
              <a:ea typeface="JetBrains Mono" pitchFamily="34" charset="-122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43F55FC-834B-7EC6-4E72-40C35D5E684C}"/>
              </a:ext>
            </a:extLst>
          </p:cNvPr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E2419E00-0ABF-DD83-E38E-045E4C5763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sp>
        <p:nvSpPr>
          <p:cNvPr id="4" name="Corazón 3">
            <a:extLst>
              <a:ext uri="{FF2B5EF4-FFF2-40B4-BE49-F238E27FC236}">
                <a16:creationId xmlns:a16="http://schemas.microsoft.com/office/drawing/2014/main" id="{68035CFF-A3B4-F92F-8931-EBC66803BA94}"/>
              </a:ext>
            </a:extLst>
          </p:cNvPr>
          <p:cNvSpPr/>
          <p:nvPr/>
        </p:nvSpPr>
        <p:spPr>
          <a:xfrm>
            <a:off x="13191533" y="3604750"/>
            <a:ext cx="1187356" cy="1100982"/>
          </a:xfrm>
          <a:prstGeom prst="heart">
            <a:avLst/>
          </a:prstGeom>
          <a:solidFill>
            <a:srgbClr val="6B3F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7001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3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11811045" y="4191090"/>
            <a:ext cx="8000865" cy="80008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05" y="3138937"/>
            <a:ext cx="17811848" cy="443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0" cap="none" spc="528" normalizeH="0" baseline="0" noProof="0" dirty="0">
                <a:ln>
                  <a:noFill/>
                </a:ln>
                <a:solidFill>
                  <a:srgbClr val="E0A526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2</a:t>
            </a: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47705" y="3906283"/>
            <a:ext cx="14668451" cy="123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52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900" b="1" i="0" u="none" strike="noStrike" kern="0" cap="none" spc="-297" normalizeH="0" baseline="0" noProof="0" dirty="0">
                <a:ln>
                  <a:noFill/>
                </a:ln>
                <a:solidFill>
                  <a:srgbClr val="F5F3EE"/>
                </a:solidFill>
                <a:effectLst/>
                <a:uLnTx/>
                <a:uFillTx/>
                <a:latin typeface="Outfit" pitchFamily="34" charset="0"/>
                <a:ea typeface="Outfit" pitchFamily="34" charset="-122"/>
                <a:cs typeface="Outfit" pitchFamily="34" charset="-120"/>
              </a:rPr>
              <a:t>El plan ha cambiado</a:t>
            </a:r>
            <a:endParaRPr kumimoji="0" lang="es-ES" sz="9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47705" y="5462543"/>
            <a:ext cx="11525200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noProof="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</a:t>
            </a:r>
            <a:r>
              <a:rPr kumimoji="0" lang="es-ES" sz="3000" b="0" i="0" u="none" strike="noStrike" kern="1200" cap="none" spc="0" normalizeH="0" baseline="0" noProof="0" dirty="0">
                <a:ln>
                  <a:noFill/>
                </a:ln>
                <a:solidFill>
                  <a:srgbClr val="F5F3EE">
                    <a:alpha val="85000"/>
                  </a:srgbClr>
                </a:solidFill>
                <a:effectLst/>
                <a:uLnTx/>
                <a:uFillTx/>
                <a:latin typeface="Outfit" pitchFamily="34" charset="0"/>
                <a:ea typeface="Outfit" pitchFamily="34" charset="-122"/>
                <a:cs typeface="Outfit" pitchFamily="34" charset="-120"/>
              </a:rPr>
              <a:t>nas veces la consulta va bien y otras va bastante peor</a:t>
            </a:r>
            <a:endParaRPr kumimoji="0" lang="es-E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47705" y="6794246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0" i="0" u="none" strike="noStrike" kern="1200" cap="none" spc="0" normalizeH="0" baseline="0" noProof="0" dirty="0">
                <a:ln>
                  <a:noFill/>
                </a:ln>
                <a:solidFill>
                  <a:srgbClr val="D9CDE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kumimoji="0" lang="es-E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95A28-CCD7-435F-E89C-9071DE42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CB0F3C-B03C-152C-A021-D8A7AF22CAE3}"/>
              </a:ext>
            </a:extLst>
          </p:cNvPr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kern="0" spc="462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2</a:t>
            </a:r>
            <a:endParaRPr lang="es-ES" sz="2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AB7B00-242C-4B81-A8C0-1C3DC634037E}"/>
              </a:ext>
            </a:extLst>
          </p:cNvPr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5700" b="1" kern="0" spc="-114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Planes de ejecución</a:t>
            </a:r>
            <a:endParaRPr lang="es-ES" sz="5700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BAEC9AD-05CE-1551-9078-42BFA9097BDB}"/>
              </a:ext>
            </a:extLst>
          </p:cNvPr>
          <p:cNvSpPr/>
          <p:nvPr/>
        </p:nvSpPr>
        <p:spPr>
          <a:xfrm>
            <a:off x="1047705" y="3663148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B709952-9B05-0BAB-DB4B-E68AB67EEC0B}"/>
              </a:ext>
            </a:extLst>
          </p:cNvPr>
          <p:cNvSpPr/>
          <p:nvPr/>
        </p:nvSpPr>
        <p:spPr>
          <a:xfrm>
            <a:off x="1486978" y="3585510"/>
            <a:ext cx="7159493" cy="518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s-ES" sz="27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Forma en la que el motor va a resolver la consulta.</a:t>
            </a:r>
            <a:endParaRPr lang="es-ES" sz="27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18C2AAA-F2A4-58CC-A2EA-924F552CDBBB}"/>
              </a:ext>
            </a:extLst>
          </p:cNvPr>
          <p:cNvSpPr/>
          <p:nvPr/>
        </p:nvSpPr>
        <p:spPr>
          <a:xfrm>
            <a:off x="1047705" y="4811257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7F3BBC3-F2BB-0B8F-A06B-C34F16D26223}"/>
              </a:ext>
            </a:extLst>
          </p:cNvPr>
          <p:cNvSpPr/>
          <p:nvPr/>
        </p:nvSpPr>
        <p:spPr>
          <a:xfrm>
            <a:off x="1486978" y="4733620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s-ES" sz="27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</a:rPr>
              <a:t>Varían en función de los datos y recursos disponibles</a:t>
            </a:r>
            <a:endParaRPr lang="es-ES" sz="27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56AFE90-0AF6-D330-EDCD-F0D65F76F0E6}"/>
              </a:ext>
            </a:extLst>
          </p:cNvPr>
          <p:cNvSpPr/>
          <p:nvPr/>
        </p:nvSpPr>
        <p:spPr>
          <a:xfrm>
            <a:off x="1047705" y="5864906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D0B7913-F3F6-8E8F-432D-4686CFDDBFCF}"/>
              </a:ext>
            </a:extLst>
          </p:cNvPr>
          <p:cNvSpPr/>
          <p:nvPr/>
        </p:nvSpPr>
        <p:spPr>
          <a:xfrm>
            <a:off x="1486978" y="5787268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s-ES" sz="27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Contienen advertencias, métricas de consumo de recursos y tiempos.</a:t>
            </a:r>
            <a:endParaRPr lang="es-ES" sz="2700" noProof="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9B9C13D-D56E-53D9-341B-C0B81812F26E}"/>
              </a:ext>
            </a:extLst>
          </p:cNvPr>
          <p:cNvSpPr/>
          <p:nvPr/>
        </p:nvSpPr>
        <p:spPr>
          <a:xfrm>
            <a:off x="9524910" y="3039598"/>
            <a:ext cx="7715385" cy="4130166"/>
          </a:xfrm>
          <a:prstGeom prst="rect">
            <a:avLst/>
          </a:prstGeom>
          <a:ln w="17253">
            <a:solidFill>
              <a:srgbClr val="C9C3B6"/>
            </a:solidFill>
            <a:prstDash val="dash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03029CF-03FF-6496-DB7F-5558EF9BA8BD}"/>
              </a:ext>
            </a:extLst>
          </p:cNvPr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B402DB5E-4A49-EC97-1C5C-147995C0194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pic>
        <p:nvPicPr>
          <p:cNvPr id="4" name="Imagen 3" descr="Mostrar un plan de ejecución real - SQL Server | Microsoft Learn">
            <a:extLst>
              <a:ext uri="{FF2B5EF4-FFF2-40B4-BE49-F238E27FC236}">
                <a16:creationId xmlns:a16="http://schemas.microsoft.com/office/drawing/2014/main" id="{7B0121ED-D5EA-1DB9-5598-57CA81848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2627" y="3658261"/>
            <a:ext cx="7179950" cy="297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956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9AB1-8DEE-0D62-1EF1-007494190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F10FA9-7CB2-929C-14EE-AAFE7D6E5FE5}"/>
              </a:ext>
            </a:extLst>
          </p:cNvPr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kern="0" spc="462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2</a:t>
            </a:r>
            <a:endParaRPr lang="es-ES" sz="2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683D26-E809-7686-B3B7-57A129AE0F2A}"/>
              </a:ext>
            </a:extLst>
          </p:cNvPr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5700" b="1" kern="0" spc="-114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Query Store</a:t>
            </a:r>
            <a:endParaRPr lang="es-ES" sz="5700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427C278-16AF-70F6-AED0-9E8595FB58C4}"/>
              </a:ext>
            </a:extLst>
          </p:cNvPr>
          <p:cNvSpPr/>
          <p:nvPr/>
        </p:nvSpPr>
        <p:spPr>
          <a:xfrm>
            <a:off x="1047705" y="2803339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FD9F76D-AA99-B34A-4B1E-ECF1035FE436}"/>
              </a:ext>
            </a:extLst>
          </p:cNvPr>
          <p:cNvSpPr/>
          <p:nvPr/>
        </p:nvSpPr>
        <p:spPr>
          <a:xfrm>
            <a:off x="1486978" y="2699310"/>
            <a:ext cx="7159493" cy="127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s-ES" sz="28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Query Store captura todas las consultas, sus planes y estadísticas de ejecución.</a:t>
            </a:r>
            <a:endParaRPr lang="es-ES" sz="28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EC051F7-B66A-DD09-722A-942279C2DA97}"/>
              </a:ext>
            </a:extLst>
          </p:cNvPr>
          <p:cNvSpPr/>
          <p:nvPr/>
        </p:nvSpPr>
        <p:spPr>
          <a:xfrm>
            <a:off x="1047705" y="3978125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072945C-674B-F248-08EC-55DCC4F87D24}"/>
              </a:ext>
            </a:extLst>
          </p:cNvPr>
          <p:cNvSpPr/>
          <p:nvPr/>
        </p:nvSpPr>
        <p:spPr>
          <a:xfrm>
            <a:off x="1486978" y="3900488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s-ES" sz="28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 estos datos vamos a poder localizar problemas de rendimiento, advertencias y regresiones.</a:t>
            </a:r>
            <a:endParaRPr lang="es-ES" sz="28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E7A2D71-C87F-969F-4597-BCD9BE5186AA}"/>
              </a:ext>
            </a:extLst>
          </p:cNvPr>
          <p:cNvSpPr/>
          <p:nvPr/>
        </p:nvSpPr>
        <p:spPr>
          <a:xfrm>
            <a:off x="2121671" y="5198374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3E2BD7D-7E10-EB0B-D0E9-2725ADB334DB}"/>
              </a:ext>
            </a:extLst>
          </p:cNvPr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32A680B6-15F3-1FF4-EB8A-420B07D08F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grpSp>
        <p:nvGrpSpPr>
          <p:cNvPr id="40" name="Grupo 39">
            <a:extLst>
              <a:ext uri="{FF2B5EF4-FFF2-40B4-BE49-F238E27FC236}">
                <a16:creationId xmlns:a16="http://schemas.microsoft.com/office/drawing/2014/main" id="{2B25D339-AF57-9EAE-12F6-25BE0339C366}"/>
              </a:ext>
            </a:extLst>
          </p:cNvPr>
          <p:cNvGrpSpPr/>
          <p:nvPr/>
        </p:nvGrpSpPr>
        <p:grpSpPr>
          <a:xfrm>
            <a:off x="9641531" y="2699310"/>
            <a:ext cx="7866746" cy="5727279"/>
            <a:chOff x="902169" y="1737640"/>
            <a:chExt cx="7866746" cy="5727279"/>
          </a:xfrm>
        </p:grpSpPr>
        <p:sp>
          <p:nvSpPr>
            <p:cNvPr id="41" name="Rectángulo: esquinas redondeadas 40">
              <a:extLst>
                <a:ext uri="{FF2B5EF4-FFF2-40B4-BE49-F238E27FC236}">
                  <a16:creationId xmlns:a16="http://schemas.microsoft.com/office/drawing/2014/main" id="{5AE0C4FC-D466-1D3B-4E0C-323BB465A728}"/>
                </a:ext>
              </a:extLst>
            </p:cNvPr>
            <p:cNvSpPr/>
            <p:nvPr/>
          </p:nvSpPr>
          <p:spPr>
            <a:xfrm>
              <a:off x="1289148" y="4326804"/>
              <a:ext cx="1668165" cy="762919"/>
            </a:xfrm>
            <a:prstGeom prst="roundRect">
              <a:avLst/>
            </a:prstGeom>
            <a:solidFill>
              <a:srgbClr val="2256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200" b="1" dirty="0"/>
                <a:t>QUERY</a:t>
              </a:r>
              <a:endParaRPr lang="es-ES" b="1" dirty="0"/>
            </a:p>
          </p:txBody>
        </p:sp>
        <p:pic>
          <p:nvPicPr>
            <p:cNvPr id="42" name="Gráfico 17" descr="Hombre programador con relleno sólido">
              <a:extLst>
                <a:ext uri="{FF2B5EF4-FFF2-40B4-BE49-F238E27FC236}">
                  <a16:creationId xmlns:a16="http://schemas.microsoft.com/office/drawing/2014/main" id="{17B3E07D-0E4B-5B28-53DD-6B3EE0E986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48000" y="1737640"/>
              <a:ext cx="2133600" cy="2133600"/>
            </a:xfrm>
            <a:prstGeom prst="rect">
              <a:avLst/>
            </a:prstGeom>
          </p:spPr>
        </p:pic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EBFDB2F7-A73F-7643-895F-56AEF2DEB2F5}"/>
                </a:ext>
              </a:extLst>
            </p:cNvPr>
            <p:cNvSpPr/>
            <p:nvPr/>
          </p:nvSpPr>
          <p:spPr>
            <a:xfrm>
              <a:off x="5165327" y="4097058"/>
              <a:ext cx="3163885" cy="992665"/>
            </a:xfrm>
            <a:prstGeom prst="roundRect">
              <a:avLst/>
            </a:prstGeom>
            <a:solidFill>
              <a:srgbClr val="2256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200" b="1" dirty="0"/>
                <a:t>Vistas de Query Store</a:t>
              </a:r>
              <a:endParaRPr lang="es-ES" b="1" dirty="0"/>
            </a:p>
          </p:txBody>
        </p:sp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AEFA5979-97DD-93B7-74C4-703DA07C5747}"/>
                </a:ext>
              </a:extLst>
            </p:cNvPr>
            <p:cNvSpPr/>
            <p:nvPr/>
          </p:nvSpPr>
          <p:spPr>
            <a:xfrm>
              <a:off x="902169" y="5029068"/>
              <a:ext cx="2567197" cy="241525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32B67E2D-A351-E110-6AC1-463241762789}"/>
                </a:ext>
              </a:extLst>
            </p:cNvPr>
            <p:cNvSpPr/>
            <p:nvPr/>
          </p:nvSpPr>
          <p:spPr>
            <a:xfrm>
              <a:off x="1221767" y="5481095"/>
              <a:ext cx="1745794" cy="69261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/>
                <a:t>Compilar</a:t>
              </a:r>
            </a:p>
          </p:txBody>
        </p:sp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B4A00B06-ADA2-46F9-E771-C9F12B968035}"/>
                </a:ext>
              </a:extLst>
            </p:cNvPr>
            <p:cNvSpPr/>
            <p:nvPr/>
          </p:nvSpPr>
          <p:spPr>
            <a:xfrm>
              <a:off x="1255457" y="6370235"/>
              <a:ext cx="1745794" cy="69261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/>
                <a:t>Ejecutar</a:t>
              </a:r>
            </a:p>
          </p:txBody>
        </p:sp>
        <p:sp>
          <p:nvSpPr>
            <p:cNvPr id="47" name="Rectángulo: esquinas redondeadas 46">
              <a:extLst>
                <a:ext uri="{FF2B5EF4-FFF2-40B4-BE49-F238E27FC236}">
                  <a16:creationId xmlns:a16="http://schemas.microsoft.com/office/drawing/2014/main" id="{FF063570-374D-9F9E-9C1E-3E35A30B7C4C}"/>
                </a:ext>
              </a:extLst>
            </p:cNvPr>
            <p:cNvSpPr/>
            <p:nvPr/>
          </p:nvSpPr>
          <p:spPr>
            <a:xfrm>
              <a:off x="3939812" y="5020478"/>
              <a:ext cx="4829103" cy="233000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sp>
          <p:nvSpPr>
            <p:cNvPr id="48" name="Rectángulo: esquinas redondeadas 47">
              <a:extLst>
                <a:ext uri="{FF2B5EF4-FFF2-40B4-BE49-F238E27FC236}">
                  <a16:creationId xmlns:a16="http://schemas.microsoft.com/office/drawing/2014/main" id="{83C24ECC-2DCA-FFFA-DDF8-F1E643B54064}"/>
                </a:ext>
              </a:extLst>
            </p:cNvPr>
            <p:cNvSpPr/>
            <p:nvPr/>
          </p:nvSpPr>
          <p:spPr>
            <a:xfrm>
              <a:off x="4259409" y="5463139"/>
              <a:ext cx="2320022" cy="692618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/>
                <a:t>Almacén de consultas y planes</a:t>
              </a:r>
            </a:p>
          </p:txBody>
        </p:sp>
        <p:sp>
          <p:nvSpPr>
            <p:cNvPr id="49" name="Rectángulo: esquinas redondeadas 48">
              <a:extLst>
                <a:ext uri="{FF2B5EF4-FFF2-40B4-BE49-F238E27FC236}">
                  <a16:creationId xmlns:a16="http://schemas.microsoft.com/office/drawing/2014/main" id="{B8E4E7AB-14DC-EFBC-9B64-C6FF0D12E5CC}"/>
                </a:ext>
              </a:extLst>
            </p:cNvPr>
            <p:cNvSpPr/>
            <p:nvPr/>
          </p:nvSpPr>
          <p:spPr>
            <a:xfrm>
              <a:off x="4540378" y="6342407"/>
              <a:ext cx="1745794" cy="69261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/>
                <a:t>Almacén de </a:t>
              </a:r>
              <a:r>
                <a:rPr lang="es-ES" dirty="0" err="1"/>
                <a:t>etadísticas</a:t>
              </a:r>
              <a:endParaRPr lang="es-ES" dirty="0"/>
            </a:p>
          </p:txBody>
        </p:sp>
        <p:sp>
          <p:nvSpPr>
            <p:cNvPr id="50" name="Cilindro 49">
              <a:extLst>
                <a:ext uri="{FF2B5EF4-FFF2-40B4-BE49-F238E27FC236}">
                  <a16:creationId xmlns:a16="http://schemas.microsoft.com/office/drawing/2014/main" id="{D4ED40E4-97C0-033E-583B-C57488DB5F4E}"/>
                </a:ext>
              </a:extLst>
            </p:cNvPr>
            <p:cNvSpPr/>
            <p:nvPr/>
          </p:nvSpPr>
          <p:spPr>
            <a:xfrm>
              <a:off x="6931460" y="5510078"/>
              <a:ext cx="1063699" cy="1571604"/>
            </a:xfrm>
            <a:prstGeom prst="can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/>
                <a:t>Tablas de sistema</a:t>
              </a:r>
            </a:p>
          </p:txBody>
        </p:sp>
        <p:sp>
          <p:nvSpPr>
            <p:cNvPr id="51" name="Flecha: hacia abajo 50">
              <a:extLst>
                <a:ext uri="{FF2B5EF4-FFF2-40B4-BE49-F238E27FC236}">
                  <a16:creationId xmlns:a16="http://schemas.microsoft.com/office/drawing/2014/main" id="{6E9A19A7-3082-F3C5-F260-CFC73AD25D90}"/>
                </a:ext>
              </a:extLst>
            </p:cNvPr>
            <p:cNvSpPr/>
            <p:nvPr/>
          </p:nvSpPr>
          <p:spPr>
            <a:xfrm rot="2383325">
              <a:off x="2765794" y="3557045"/>
              <a:ext cx="446082" cy="930878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sp>
          <p:nvSpPr>
            <p:cNvPr id="52" name="Flecha: hacia abajo 51">
              <a:extLst>
                <a:ext uri="{FF2B5EF4-FFF2-40B4-BE49-F238E27FC236}">
                  <a16:creationId xmlns:a16="http://schemas.microsoft.com/office/drawing/2014/main" id="{E9E548C5-BFF4-A085-0F67-5F3735BF7F80}"/>
                </a:ext>
              </a:extLst>
            </p:cNvPr>
            <p:cNvSpPr/>
            <p:nvPr/>
          </p:nvSpPr>
          <p:spPr>
            <a:xfrm rot="7857167">
              <a:off x="4950844" y="3396645"/>
              <a:ext cx="434989" cy="954619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sp>
          <p:nvSpPr>
            <p:cNvPr id="53" name="Flecha: hacia abajo 52">
              <a:extLst>
                <a:ext uri="{FF2B5EF4-FFF2-40B4-BE49-F238E27FC236}">
                  <a16:creationId xmlns:a16="http://schemas.microsoft.com/office/drawing/2014/main" id="{24245EBF-9861-0601-CCEC-5A0AB0F547E7}"/>
                </a:ext>
              </a:extLst>
            </p:cNvPr>
            <p:cNvSpPr/>
            <p:nvPr/>
          </p:nvSpPr>
          <p:spPr>
            <a:xfrm rot="10800000">
              <a:off x="7158724" y="5030306"/>
              <a:ext cx="540044" cy="717303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sp>
          <p:nvSpPr>
            <p:cNvPr id="54" name="Flecha: hacia abajo 53">
              <a:extLst>
                <a:ext uri="{FF2B5EF4-FFF2-40B4-BE49-F238E27FC236}">
                  <a16:creationId xmlns:a16="http://schemas.microsoft.com/office/drawing/2014/main" id="{EAA11AFE-C140-CF0C-9250-9038B302285D}"/>
                </a:ext>
              </a:extLst>
            </p:cNvPr>
            <p:cNvSpPr/>
            <p:nvPr/>
          </p:nvSpPr>
          <p:spPr>
            <a:xfrm>
              <a:off x="1837679" y="6136908"/>
              <a:ext cx="345596" cy="334961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sp>
          <p:nvSpPr>
            <p:cNvPr id="55" name="Flecha: hacia abajo 54">
              <a:extLst>
                <a:ext uri="{FF2B5EF4-FFF2-40B4-BE49-F238E27FC236}">
                  <a16:creationId xmlns:a16="http://schemas.microsoft.com/office/drawing/2014/main" id="{FD1D028C-16DF-EF0A-CF4C-6681701A89C5}"/>
                </a:ext>
              </a:extLst>
            </p:cNvPr>
            <p:cNvSpPr/>
            <p:nvPr/>
          </p:nvSpPr>
          <p:spPr>
            <a:xfrm rot="12696387">
              <a:off x="3456404" y="3608305"/>
              <a:ext cx="441142" cy="1986368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sp>
          <p:nvSpPr>
            <p:cNvPr id="56" name="CuadroTexto 60">
              <a:extLst>
                <a:ext uri="{FF2B5EF4-FFF2-40B4-BE49-F238E27FC236}">
                  <a16:creationId xmlns:a16="http://schemas.microsoft.com/office/drawing/2014/main" id="{36BAABA1-BF4C-7130-87A4-80AFF03F0040}"/>
                </a:ext>
              </a:extLst>
            </p:cNvPr>
            <p:cNvSpPr txBox="1"/>
            <p:nvPr/>
          </p:nvSpPr>
          <p:spPr>
            <a:xfrm>
              <a:off x="6206750" y="5666588"/>
              <a:ext cx="1008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dirty="0">
                  <a:solidFill>
                    <a:schemeClr val="bg1">
                      <a:lumMod val="85000"/>
                    </a:schemeClr>
                  </a:solidFill>
                </a:rPr>
                <a:t>ASYNC</a:t>
              </a:r>
            </a:p>
          </p:txBody>
        </p:sp>
        <p:sp>
          <p:nvSpPr>
            <p:cNvPr id="57" name="Flecha: hacia abajo 56">
              <a:extLst>
                <a:ext uri="{FF2B5EF4-FFF2-40B4-BE49-F238E27FC236}">
                  <a16:creationId xmlns:a16="http://schemas.microsoft.com/office/drawing/2014/main" id="{78B568CB-BC2C-9598-C807-FF25E7B73B45}"/>
                </a:ext>
              </a:extLst>
            </p:cNvPr>
            <p:cNvSpPr/>
            <p:nvPr/>
          </p:nvSpPr>
          <p:spPr>
            <a:xfrm rot="16200000">
              <a:off x="3531826" y="4827154"/>
              <a:ext cx="430171" cy="2037029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sp>
          <p:nvSpPr>
            <p:cNvPr id="58" name="CuadroTexto 61">
              <a:extLst>
                <a:ext uri="{FF2B5EF4-FFF2-40B4-BE49-F238E27FC236}">
                  <a16:creationId xmlns:a16="http://schemas.microsoft.com/office/drawing/2014/main" id="{7D9762BC-F66A-ADE1-88A5-D3CFA4184EB9}"/>
                </a:ext>
              </a:extLst>
            </p:cNvPr>
            <p:cNvSpPr txBox="1"/>
            <p:nvPr/>
          </p:nvSpPr>
          <p:spPr>
            <a:xfrm>
              <a:off x="6076119" y="6372902"/>
              <a:ext cx="970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dirty="0">
                  <a:solidFill>
                    <a:schemeClr val="bg1">
                      <a:lumMod val="85000"/>
                    </a:schemeClr>
                  </a:solidFill>
                </a:rPr>
                <a:t>ASYNC</a:t>
              </a:r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5B7DF65F-895A-3C83-3B22-FF58A4E10808}"/>
                </a:ext>
              </a:extLst>
            </p:cNvPr>
            <p:cNvSpPr txBox="1"/>
            <p:nvPr/>
          </p:nvSpPr>
          <p:spPr>
            <a:xfrm>
              <a:off x="2838658" y="5705050"/>
              <a:ext cx="1648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sz="1100" dirty="0" err="1"/>
                <a:t>TextoConsulta</a:t>
              </a:r>
              <a:r>
                <a:rPr lang="es-ES" sz="1100" dirty="0"/>
                <a:t> y Plan</a:t>
              </a:r>
            </a:p>
          </p:txBody>
        </p:sp>
        <p:sp>
          <p:nvSpPr>
            <p:cNvPr id="60" name="Flecha: hacia abajo 59">
              <a:extLst>
                <a:ext uri="{FF2B5EF4-FFF2-40B4-BE49-F238E27FC236}">
                  <a16:creationId xmlns:a16="http://schemas.microsoft.com/office/drawing/2014/main" id="{049067CF-95A1-0E51-2031-0A816DC711E6}"/>
                </a:ext>
              </a:extLst>
            </p:cNvPr>
            <p:cNvSpPr/>
            <p:nvPr/>
          </p:nvSpPr>
          <p:spPr>
            <a:xfrm rot="16200000">
              <a:off x="3555280" y="5704079"/>
              <a:ext cx="430171" cy="2037029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sp>
          <p:nvSpPr>
            <p:cNvPr id="61" name="CuadroTexto 59">
              <a:extLst>
                <a:ext uri="{FF2B5EF4-FFF2-40B4-BE49-F238E27FC236}">
                  <a16:creationId xmlns:a16="http://schemas.microsoft.com/office/drawing/2014/main" id="{A5ED22B7-8972-94CA-9697-41E9CE2F3D62}"/>
                </a:ext>
              </a:extLst>
            </p:cNvPr>
            <p:cNvSpPr txBox="1"/>
            <p:nvPr/>
          </p:nvSpPr>
          <p:spPr>
            <a:xfrm>
              <a:off x="2845702" y="6605670"/>
              <a:ext cx="18923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sz="1100" dirty="0"/>
                <a:t>Estadísticas de Ejecución</a:t>
              </a:r>
            </a:p>
          </p:txBody>
        </p:sp>
        <p:sp>
          <p:nvSpPr>
            <p:cNvPr id="62" name="CuadroTexto 40">
              <a:extLst>
                <a:ext uri="{FF2B5EF4-FFF2-40B4-BE49-F238E27FC236}">
                  <a16:creationId xmlns:a16="http://schemas.microsoft.com/office/drawing/2014/main" id="{61DBE1BA-6F71-0152-33B2-45D01DF09EF6}"/>
                </a:ext>
              </a:extLst>
            </p:cNvPr>
            <p:cNvSpPr txBox="1"/>
            <p:nvPr/>
          </p:nvSpPr>
          <p:spPr>
            <a:xfrm>
              <a:off x="1341226" y="7095587"/>
              <a:ext cx="1706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dirty="0"/>
                <a:t>Motor BBDD</a:t>
              </a:r>
            </a:p>
          </p:txBody>
        </p:sp>
        <p:sp>
          <p:nvSpPr>
            <p:cNvPr id="63" name="CuadroTexto 45">
              <a:extLst>
                <a:ext uri="{FF2B5EF4-FFF2-40B4-BE49-F238E27FC236}">
                  <a16:creationId xmlns:a16="http://schemas.microsoft.com/office/drawing/2014/main" id="{D916D1E9-ABC1-5842-B856-EBA6DC94DA91}"/>
                </a:ext>
              </a:extLst>
            </p:cNvPr>
            <p:cNvSpPr txBox="1"/>
            <p:nvPr/>
          </p:nvSpPr>
          <p:spPr>
            <a:xfrm>
              <a:off x="5592937" y="6967307"/>
              <a:ext cx="1706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ES" dirty="0"/>
                <a:t>QUERY STORE</a:t>
              </a:r>
            </a:p>
          </p:txBody>
        </p:sp>
        <p:sp>
          <p:nvSpPr>
            <p:cNvPr id="64" name="Flecha: hacia abajo 63">
              <a:extLst>
                <a:ext uri="{FF2B5EF4-FFF2-40B4-BE49-F238E27FC236}">
                  <a16:creationId xmlns:a16="http://schemas.microsoft.com/office/drawing/2014/main" id="{A17EB916-74F9-3DD7-06D6-EC48FE7C4862}"/>
                </a:ext>
              </a:extLst>
            </p:cNvPr>
            <p:cNvSpPr/>
            <p:nvPr/>
          </p:nvSpPr>
          <p:spPr>
            <a:xfrm rot="16200000">
              <a:off x="6357940" y="5483813"/>
              <a:ext cx="588864" cy="758424"/>
            </a:xfrm>
            <a:prstGeom prst="downArrow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sp>
          <p:nvSpPr>
            <p:cNvPr id="65" name="Flecha: hacia abajo 64">
              <a:extLst>
                <a:ext uri="{FF2B5EF4-FFF2-40B4-BE49-F238E27FC236}">
                  <a16:creationId xmlns:a16="http://schemas.microsoft.com/office/drawing/2014/main" id="{E6E884E9-E82F-35D1-6837-86AB8DFB1DF5}"/>
                </a:ext>
              </a:extLst>
            </p:cNvPr>
            <p:cNvSpPr/>
            <p:nvPr/>
          </p:nvSpPr>
          <p:spPr>
            <a:xfrm rot="16200000">
              <a:off x="6241369" y="6066162"/>
              <a:ext cx="637626" cy="1008948"/>
            </a:xfrm>
            <a:prstGeom prst="downArrow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</p:grpSp>
      <p:sp>
        <p:nvSpPr>
          <p:cNvPr id="67" name="Marcador de contenido 2">
            <a:extLst>
              <a:ext uri="{FF2B5EF4-FFF2-40B4-BE49-F238E27FC236}">
                <a16:creationId xmlns:a16="http://schemas.microsoft.com/office/drawing/2014/main" id="{C950448F-43DB-477B-5185-2CE372081366}"/>
              </a:ext>
            </a:extLst>
          </p:cNvPr>
          <p:cNvSpPr txBox="1">
            <a:spLocks/>
          </p:cNvSpPr>
          <p:nvPr/>
        </p:nvSpPr>
        <p:spPr>
          <a:xfrm>
            <a:off x="2741880" y="5110008"/>
            <a:ext cx="5521397" cy="4295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indent="0">
              <a:lnSpc>
                <a:spcPct val="111300"/>
              </a:lnSpc>
              <a:buNone/>
              <a:defRPr sz="280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Consultas con recursión</a:t>
            </a:r>
          </a:p>
          <a:p>
            <a:r>
              <a:rPr lang="es-ES" dirty="0"/>
              <a:t>Resumen de consumo de recursos</a:t>
            </a:r>
          </a:p>
          <a:p>
            <a:r>
              <a:rPr lang="es-ES" dirty="0"/>
              <a:t>Consultas que más recursos consumen</a:t>
            </a:r>
          </a:p>
          <a:p>
            <a:r>
              <a:rPr lang="es-ES" dirty="0"/>
              <a:t>Consultas con gran variación</a:t>
            </a:r>
          </a:p>
          <a:p>
            <a:r>
              <a:rPr lang="es-ES" dirty="0"/>
              <a:t>Tiempos de espera de las consultas</a:t>
            </a:r>
          </a:p>
          <a:p>
            <a:r>
              <a:rPr lang="es-ES" dirty="0"/>
              <a:t>Consultas con planes forzados</a:t>
            </a:r>
          </a:p>
          <a:p>
            <a:r>
              <a:rPr lang="es-ES" dirty="0"/>
              <a:t>Seguimiento de consultas</a:t>
            </a:r>
          </a:p>
          <a:p>
            <a:endParaRPr lang="es-ES" dirty="0"/>
          </a:p>
        </p:txBody>
      </p:sp>
      <p:sp>
        <p:nvSpPr>
          <p:cNvPr id="69" name="Text 6">
            <a:extLst>
              <a:ext uri="{FF2B5EF4-FFF2-40B4-BE49-F238E27FC236}">
                <a16:creationId xmlns:a16="http://schemas.microsoft.com/office/drawing/2014/main" id="{92F28978-E734-7E8E-C2CA-F7692E6AAE88}"/>
              </a:ext>
            </a:extLst>
          </p:cNvPr>
          <p:cNvSpPr/>
          <p:nvPr/>
        </p:nvSpPr>
        <p:spPr>
          <a:xfrm>
            <a:off x="2118570" y="5663917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48BA0794-04EB-F8D0-62A0-C6F0E75A6372}"/>
              </a:ext>
            </a:extLst>
          </p:cNvPr>
          <p:cNvSpPr/>
          <p:nvPr/>
        </p:nvSpPr>
        <p:spPr>
          <a:xfrm>
            <a:off x="2118570" y="6155354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3E43C9CC-06E9-E0B7-2989-E04B6AD30F51}"/>
              </a:ext>
            </a:extLst>
          </p:cNvPr>
          <p:cNvSpPr/>
          <p:nvPr/>
        </p:nvSpPr>
        <p:spPr>
          <a:xfrm>
            <a:off x="2118570" y="7057345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75" name="Text 6">
            <a:extLst>
              <a:ext uri="{FF2B5EF4-FFF2-40B4-BE49-F238E27FC236}">
                <a16:creationId xmlns:a16="http://schemas.microsoft.com/office/drawing/2014/main" id="{D8B248C1-EAD1-4A97-8382-263B3C1F2B01}"/>
              </a:ext>
            </a:extLst>
          </p:cNvPr>
          <p:cNvSpPr/>
          <p:nvPr/>
        </p:nvSpPr>
        <p:spPr>
          <a:xfrm>
            <a:off x="2119494" y="7567340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77" name="Text 6">
            <a:extLst>
              <a:ext uri="{FF2B5EF4-FFF2-40B4-BE49-F238E27FC236}">
                <a16:creationId xmlns:a16="http://schemas.microsoft.com/office/drawing/2014/main" id="{17F06920-881B-7FB0-BB6F-F36D576873C2}"/>
              </a:ext>
            </a:extLst>
          </p:cNvPr>
          <p:cNvSpPr/>
          <p:nvPr/>
        </p:nvSpPr>
        <p:spPr>
          <a:xfrm>
            <a:off x="2103022" y="8069519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79" name="Text 6">
            <a:extLst>
              <a:ext uri="{FF2B5EF4-FFF2-40B4-BE49-F238E27FC236}">
                <a16:creationId xmlns:a16="http://schemas.microsoft.com/office/drawing/2014/main" id="{0603B20D-41CA-53DE-15A5-A72691E91E81}"/>
              </a:ext>
            </a:extLst>
          </p:cNvPr>
          <p:cNvSpPr/>
          <p:nvPr/>
        </p:nvSpPr>
        <p:spPr>
          <a:xfrm>
            <a:off x="2103021" y="8505614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</p:spTree>
    <p:extLst>
      <p:ext uri="{BB962C8B-B14F-4D97-AF65-F5344CB8AC3E}">
        <p14:creationId xmlns:p14="http://schemas.microsoft.com/office/powerpoint/2010/main" val="17425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17846-A831-75ED-C792-EB72AC5E1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E09B8D-C471-C4E2-212C-2BA10EDCE9DF}"/>
              </a:ext>
            </a:extLst>
          </p:cNvPr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kern="0" spc="462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2</a:t>
            </a:r>
            <a:endParaRPr lang="es-ES" sz="2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DD2990-616D-E367-CB72-AF827B3D0D1C}"/>
              </a:ext>
            </a:extLst>
          </p:cNvPr>
          <p:cNvSpPr/>
          <p:nvPr/>
        </p:nvSpPr>
        <p:spPr>
          <a:xfrm>
            <a:off x="1047705" y="1496548"/>
            <a:ext cx="103208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s-ES" sz="5700" b="1" kern="0" spc="-114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PSPO </a:t>
            </a:r>
            <a:r>
              <a:rPr lang="es-ES" sz="3200" kern="0" spc="-114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(</a:t>
            </a:r>
            <a:r>
              <a:rPr lang="es-ES" sz="36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Parameter</a:t>
            </a:r>
            <a:r>
              <a:rPr lang="es-ES" sz="36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Sensitive Plan </a:t>
            </a:r>
            <a:r>
              <a:rPr lang="es-ES" sz="36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Optimization</a:t>
            </a:r>
            <a:r>
              <a:rPr lang="es-ES" sz="3200" noProof="0" dirty="0"/>
              <a:t>)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EA2598-1C33-D90B-9C29-0487B4A8287C}"/>
              </a:ext>
            </a:extLst>
          </p:cNvPr>
          <p:cNvSpPr/>
          <p:nvPr/>
        </p:nvSpPr>
        <p:spPr>
          <a:xfrm>
            <a:off x="1047705" y="2665158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3BE82C3-8E2E-91D8-4771-B9DCAE9F9C56}"/>
              </a:ext>
            </a:extLst>
          </p:cNvPr>
          <p:cNvSpPr/>
          <p:nvPr/>
        </p:nvSpPr>
        <p:spPr>
          <a:xfrm>
            <a:off x="1486978" y="2601403"/>
            <a:ext cx="7159493" cy="1299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11300"/>
              </a:lnSpc>
            </a:pPr>
            <a:r>
              <a:rPr lang="es-ES" sz="28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Normalmente, se almacena un plan de ejecución para el primer valor que se pasa. Ese plan puede ser rápido para el primer valor, pero muy lento para los valores posteriores.</a:t>
            </a:r>
            <a:endParaRPr lang="es-ES" sz="28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9BA852C-3513-A509-344F-9EBA07103F30}"/>
              </a:ext>
            </a:extLst>
          </p:cNvPr>
          <p:cNvSpPr/>
          <p:nvPr/>
        </p:nvSpPr>
        <p:spPr>
          <a:xfrm>
            <a:off x="1141668" y="5590008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67108E9-DD11-A9DA-8A57-278B31806684}"/>
              </a:ext>
            </a:extLst>
          </p:cNvPr>
          <p:cNvSpPr/>
          <p:nvPr/>
        </p:nvSpPr>
        <p:spPr>
          <a:xfrm>
            <a:off x="1486978" y="5112799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11300"/>
              </a:lnSpc>
            </a:pPr>
            <a:r>
              <a:rPr lang="es-ES" sz="28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</a:rPr>
              <a:t>PSPO crea un plan variable según el valor del parámetro en tiempo de ejecución y dirige la ejecución hacia la mejor variante de consulta (con su plan personalizado).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B151E7B-EA8A-98B9-CA56-16862B1E1E90}"/>
              </a:ext>
            </a:extLst>
          </p:cNvPr>
          <p:cNvSpPr/>
          <p:nvPr/>
        </p:nvSpPr>
        <p:spPr>
          <a:xfrm>
            <a:off x="1172136" y="7519717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B7F8FD0-88B6-FBFA-E901-369D05116FBC}"/>
              </a:ext>
            </a:extLst>
          </p:cNvPr>
          <p:cNvSpPr/>
          <p:nvPr/>
        </p:nvSpPr>
        <p:spPr>
          <a:xfrm>
            <a:off x="1486978" y="7362093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11300"/>
              </a:lnSpc>
            </a:pPr>
            <a:r>
              <a:rPr lang="es-ES" sz="28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</a:rPr>
              <a:t>Es parte de </a:t>
            </a:r>
            <a:r>
              <a:rPr lang="es-ES" sz="280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</a:rPr>
              <a:t>Intelligent</a:t>
            </a:r>
            <a:r>
              <a:rPr lang="es-ES" sz="280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</a:rPr>
              <a:t> Query Processing (IQP) y funciona automáticamente sin necesidad de realizar ningún cambio en el código.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325B7DD-5AAE-8D3E-B1BD-20BF6881C4AA}"/>
              </a:ext>
            </a:extLst>
          </p:cNvPr>
          <p:cNvSpPr/>
          <p:nvPr/>
        </p:nvSpPr>
        <p:spPr>
          <a:xfrm>
            <a:off x="9524910" y="3039598"/>
            <a:ext cx="7715385" cy="4130166"/>
          </a:xfrm>
          <a:prstGeom prst="rect">
            <a:avLst/>
          </a:prstGeom>
          <a:ln w="17253">
            <a:solidFill>
              <a:srgbClr val="C9C3B6"/>
            </a:solidFill>
            <a:prstDash val="dash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E8743D1-A17E-8482-E858-37E3D3D73C95}"/>
              </a:ext>
            </a:extLst>
          </p:cNvPr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359159BB-C8B8-C794-EAB9-C91AB61821A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pic>
        <p:nvPicPr>
          <p:cNvPr id="4" name="Imagen 3" descr="Diagram showing the Parameter Sensitive Plan boundaries.">
            <a:extLst>
              <a:ext uri="{FF2B5EF4-FFF2-40B4-BE49-F238E27FC236}">
                <a16:creationId xmlns:a16="http://schemas.microsoft.com/office/drawing/2014/main" id="{073DDD41-0D0B-F6AE-1FE0-E66A6F37F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105" y="4076543"/>
            <a:ext cx="6964994" cy="206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92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3FA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0A827-8025-C27A-2538-690E2BE00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2DB2D18-F4C3-3F27-8279-DECBD98769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11811045" y="4191090"/>
            <a:ext cx="8000865" cy="800086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623D76C-491C-E4A2-9215-8C54A96B7FA5}"/>
              </a:ext>
            </a:extLst>
          </p:cNvPr>
          <p:cNvSpPr/>
          <p:nvPr/>
        </p:nvSpPr>
        <p:spPr>
          <a:xfrm>
            <a:off x="1047705" y="3138937"/>
            <a:ext cx="17811848" cy="443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0" cap="none" spc="528" normalizeH="0" baseline="0" noProof="0" dirty="0">
                <a:ln>
                  <a:noFill/>
                </a:ln>
                <a:solidFill>
                  <a:srgbClr val="E0A526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3</a:t>
            </a: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A13E879-19B2-67D9-F24A-16F732C76D8B}"/>
              </a:ext>
            </a:extLst>
          </p:cNvPr>
          <p:cNvSpPr/>
          <p:nvPr/>
        </p:nvSpPr>
        <p:spPr>
          <a:xfrm>
            <a:off x="1047705" y="3906283"/>
            <a:ext cx="14668451" cy="1232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525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900" b="1" i="0" u="none" strike="noStrike" kern="0" cap="none" spc="-297" normalizeH="0" baseline="0" noProof="0" dirty="0">
                <a:ln>
                  <a:noFill/>
                </a:ln>
                <a:solidFill>
                  <a:srgbClr val="F5F3EE"/>
                </a:solidFill>
                <a:effectLst/>
                <a:uLnTx/>
                <a:uFillTx/>
                <a:latin typeface="Outfit" pitchFamily="34" charset="0"/>
                <a:ea typeface="Outfit" pitchFamily="34" charset="-122"/>
                <a:cs typeface="Outfit" pitchFamily="34" charset="-120"/>
              </a:rPr>
              <a:t>Necesito más</a:t>
            </a:r>
            <a:endParaRPr kumimoji="0" lang="es-ES" sz="9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B9A60DD-10AD-CA66-6F04-CD5C03D78EB8}"/>
              </a:ext>
            </a:extLst>
          </p:cNvPr>
          <p:cNvSpPr/>
          <p:nvPr/>
        </p:nvSpPr>
        <p:spPr>
          <a:xfrm>
            <a:off x="1047705" y="5462543"/>
            <a:ext cx="11525200" cy="512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000" noProof="0" dirty="0">
                <a:solidFill>
                  <a:srgbClr val="F5F3EE">
                    <a:alpha val="8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consulta está bien y el plan es el correcto, pero necesito más rendimiento</a:t>
            </a:r>
            <a:endParaRPr kumimoji="0" lang="es-E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D1B687C-84FD-726C-155A-3B9ADA5A73C7}"/>
              </a:ext>
            </a:extLst>
          </p:cNvPr>
          <p:cNvSpPr/>
          <p:nvPr/>
        </p:nvSpPr>
        <p:spPr>
          <a:xfrm>
            <a:off x="1047705" y="6794246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0" i="0" u="none" strike="noStrike" kern="1200" cap="none" spc="0" normalizeH="0" baseline="0" noProof="0" dirty="0">
                <a:ln>
                  <a:noFill/>
                </a:ln>
                <a:solidFill>
                  <a:srgbClr val="D9CDEA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kumimoji="0" lang="es-E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663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F7858-3743-E3F7-1679-F7A181B4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A9C7EF-F54C-A7C1-9DB7-24A0D4E02638}"/>
              </a:ext>
            </a:extLst>
          </p:cNvPr>
          <p:cNvSpPr/>
          <p:nvPr/>
        </p:nvSpPr>
        <p:spPr>
          <a:xfrm>
            <a:off x="1047705" y="952410"/>
            <a:ext cx="9991087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kern="0" spc="462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APARTADO 3</a:t>
            </a:r>
            <a:endParaRPr lang="es-ES" sz="2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BDD33D-0F5D-4B49-1F91-EE9D2FAE6EDF}"/>
              </a:ext>
            </a:extLst>
          </p:cNvPr>
          <p:cNvSpPr/>
          <p:nvPr/>
        </p:nvSpPr>
        <p:spPr>
          <a:xfrm>
            <a:off x="1047705" y="1496548"/>
            <a:ext cx="9991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5700" b="1" kern="0" spc="-114" noProof="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Columnstore</a:t>
            </a:r>
            <a:r>
              <a:rPr lang="es-ES" sz="5700" b="1" kern="0" spc="-114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s-ES" sz="5700" b="1" kern="0" spc="-114" noProof="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Index</a:t>
            </a:r>
            <a:endParaRPr lang="es-ES" sz="5700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B74F890-91E2-5850-3DC4-9D404ACC59F0}"/>
              </a:ext>
            </a:extLst>
          </p:cNvPr>
          <p:cNvSpPr/>
          <p:nvPr/>
        </p:nvSpPr>
        <p:spPr>
          <a:xfrm>
            <a:off x="1047705" y="3376545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9793DEB-1DE2-C0B3-22D0-58627F414B0F}"/>
              </a:ext>
            </a:extLst>
          </p:cNvPr>
          <p:cNvSpPr/>
          <p:nvPr/>
        </p:nvSpPr>
        <p:spPr>
          <a:xfrm>
            <a:off x="1486978" y="3298907"/>
            <a:ext cx="7159493" cy="518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s-ES" sz="27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 SIENTO: </a:t>
            </a:r>
            <a:r>
              <a:rPr lang="es-ES" sz="28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Power BI</a:t>
            </a:r>
            <a:r>
              <a:rPr lang="es-ES" sz="27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no inventó </a:t>
            </a:r>
            <a:r>
              <a:rPr lang="es-ES" sz="2700" noProof="0" dirty="0" err="1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VertiPaq</a:t>
            </a:r>
            <a:endParaRPr lang="es-ES" sz="27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E095318-9C35-07A6-1ACE-4AA4F239A0A9}"/>
              </a:ext>
            </a:extLst>
          </p:cNvPr>
          <p:cNvSpPr/>
          <p:nvPr/>
        </p:nvSpPr>
        <p:spPr>
          <a:xfrm>
            <a:off x="1047705" y="4455798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439707D-B943-9476-2B31-5BD1945CDFA9}"/>
              </a:ext>
            </a:extLst>
          </p:cNvPr>
          <p:cNvSpPr/>
          <p:nvPr/>
        </p:nvSpPr>
        <p:spPr>
          <a:xfrm>
            <a:off x="1486978" y="4378161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s-ES" sz="28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SQL Server 2012 introdujo el almacenamiento por columnas en segmentos tal como lo conocemos ahora.</a:t>
            </a:r>
            <a:endParaRPr lang="es-ES" sz="28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58A87F7-8D15-73DA-218E-9EB60523C7D1}"/>
              </a:ext>
            </a:extLst>
          </p:cNvPr>
          <p:cNvSpPr/>
          <p:nvPr/>
        </p:nvSpPr>
        <p:spPr>
          <a:xfrm>
            <a:off x="1047705" y="6192449"/>
            <a:ext cx="248863" cy="400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E0A5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●</a:t>
            </a:r>
            <a:endParaRPr lang="es-ES" sz="225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7DF4596-3648-42AE-EB54-CD216BC868F0}"/>
              </a:ext>
            </a:extLst>
          </p:cNvPr>
          <p:cNvSpPr/>
          <p:nvPr/>
        </p:nvSpPr>
        <p:spPr>
          <a:xfrm>
            <a:off x="1486978" y="6114811"/>
            <a:ext cx="7494256" cy="99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300"/>
              </a:lnSpc>
              <a:buNone/>
            </a:pPr>
            <a:r>
              <a:rPr lang="es-ES" sz="2700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 SQL Server funciona en disco, no en memoria como Power BI.</a:t>
            </a:r>
            <a:endParaRPr lang="es-ES" sz="2700" noProof="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58F21C5-33D3-CE2F-2DCA-96C90C31CD94}"/>
              </a:ext>
            </a:extLst>
          </p:cNvPr>
          <p:cNvSpPr/>
          <p:nvPr/>
        </p:nvSpPr>
        <p:spPr>
          <a:xfrm>
            <a:off x="9524910" y="3039598"/>
            <a:ext cx="7715385" cy="4130166"/>
          </a:xfrm>
          <a:prstGeom prst="rect">
            <a:avLst/>
          </a:prstGeom>
          <a:ln w="17253">
            <a:solidFill>
              <a:srgbClr val="C9C3B6"/>
            </a:solidFill>
            <a:prstDash val="dash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7461DBC-5920-C94F-A94B-D50BB23C3B33}"/>
              </a:ext>
            </a:extLst>
          </p:cNvPr>
          <p:cNvSpPr/>
          <p:nvPr/>
        </p:nvSpPr>
        <p:spPr>
          <a:xfrm>
            <a:off x="1047705" y="9171362"/>
            <a:ext cx="17811848" cy="39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100" noProof="0" dirty="0">
                <a:solidFill>
                  <a:srgbClr val="6B65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100" noProof="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36946624-7E6A-6802-50A8-63818A58EB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6192590" y="952410"/>
            <a:ext cx="1047705" cy="1047705"/>
          </a:xfrm>
          <a:prstGeom prst="rect">
            <a:avLst/>
          </a:prstGeom>
        </p:spPr>
      </p:pic>
      <p:pic>
        <p:nvPicPr>
          <p:cNvPr id="4" name="Imagen 3" descr="Diagrama lógico de un índice de almacén de columnas agrupado. Incluye segmentos de columna comprimidos más filas en el índice, pero no en el almacén de columnas.">
            <a:extLst>
              <a:ext uri="{FF2B5EF4-FFF2-40B4-BE49-F238E27FC236}">
                <a16:creationId xmlns:a16="http://schemas.microsoft.com/office/drawing/2014/main" id="{871A06A0-42AD-84F4-5C03-D1582FACA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5196" y="3431242"/>
            <a:ext cx="4434812" cy="342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08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A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2095410" y="-1523910"/>
            <a:ext cx="7238910" cy="7238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05" y="1047705"/>
            <a:ext cx="6958444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kern="0" spc="495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MADRIDEJOS · 25-26 SEP 2026</a:t>
            </a:r>
            <a:endParaRPr lang="es-ES" sz="2250" noProof="0" dirty="0"/>
          </a:p>
        </p:txBody>
      </p:sp>
      <p:sp>
        <p:nvSpPr>
          <p:cNvPr id="5" name="Text 1"/>
          <p:cNvSpPr/>
          <p:nvPr/>
        </p:nvSpPr>
        <p:spPr>
          <a:xfrm>
            <a:off x="1047705" y="4302559"/>
            <a:ext cx="17811848" cy="1395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284"/>
              </a:lnSpc>
              <a:buNone/>
            </a:pPr>
            <a:r>
              <a:rPr lang="es-ES" sz="11250" b="1" kern="0" spc="-337" noProof="0" dirty="0">
                <a:solidFill>
                  <a:srgbClr val="211E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¡Gracias!</a:t>
            </a:r>
            <a:endParaRPr lang="es-ES" sz="11250" noProof="0" dirty="0"/>
          </a:p>
        </p:txBody>
      </p:sp>
      <p:sp>
        <p:nvSpPr>
          <p:cNvPr id="6" name="Text 2"/>
          <p:cNvSpPr/>
          <p:nvPr/>
        </p:nvSpPr>
        <p:spPr>
          <a:xfrm>
            <a:off x="1047705" y="6002772"/>
            <a:ext cx="11772900" cy="987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3000" noProof="0" dirty="0">
                <a:solidFill>
                  <a:srgbClr val="211E2B">
                    <a:alpha val="75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quienes ponen las sesiones, a quienes las escuchan, al pueblo que nos acoge y a los patrocinadores que lo hacen gratuito.</a:t>
            </a:r>
            <a:endParaRPr lang="es-ES" sz="3000" noProof="0" dirty="0"/>
          </a:p>
        </p:txBody>
      </p:sp>
      <p:sp>
        <p:nvSpPr>
          <p:cNvPr id="7" name="Text 3"/>
          <p:cNvSpPr/>
          <p:nvPr/>
        </p:nvSpPr>
        <p:spPr>
          <a:xfrm>
            <a:off x="1047705" y="8859733"/>
            <a:ext cx="10748433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211E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#techenelpueblo · #somoscomunidad · #ppwclm · #madridejos</a:t>
            </a:r>
            <a:endParaRPr lang="es-ES" sz="2250" noProof="0" dirty="0"/>
          </a:p>
        </p:txBody>
      </p:sp>
      <p:sp>
        <p:nvSpPr>
          <p:cNvPr id="8" name="Text 4"/>
          <p:cNvSpPr/>
          <p:nvPr/>
        </p:nvSpPr>
        <p:spPr>
          <a:xfrm>
            <a:off x="13297485" y="8859733"/>
            <a:ext cx="4337092" cy="417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s-ES" sz="2250" noProof="0" dirty="0">
                <a:solidFill>
                  <a:srgbClr val="6B3F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Nos vemos en 2027</a:t>
            </a:r>
            <a:endParaRPr lang="es-ES" sz="2250" noProof="0" dirty="0"/>
          </a:p>
        </p:txBody>
      </p:sp>
      <p:pic>
        <p:nvPicPr>
          <p:cNvPr id="9" name="Imagen 8" descr="Código QR&#10;&#10;El contenido generado por IA puede ser incorrecto.">
            <a:extLst>
              <a:ext uri="{FF2B5EF4-FFF2-40B4-BE49-F238E27FC236}">
                <a16:creationId xmlns:a16="http://schemas.microsoft.com/office/drawing/2014/main" id="{08D531C9-99E2-6CE1-9C71-19149F867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7617" y="4078994"/>
            <a:ext cx="2544418" cy="25444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1295</Words>
  <Application>Microsoft Office PowerPoint</Application>
  <PresentationFormat>Personalizado</PresentationFormat>
  <Paragraphs>217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Aptos</vt:lpstr>
      <vt:lpstr>Arial</vt:lpstr>
      <vt:lpstr>Calibri</vt:lpstr>
      <vt:lpstr>JetBrains Mono</vt:lpstr>
      <vt:lpstr>Montserrat Black</vt:lpstr>
      <vt:lpstr>Montserrat Medium</vt:lpstr>
      <vt:lpstr>Outfit</vt:lpstr>
      <vt:lpstr>Segoe Sans Display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Roberto Carrancio</cp:lastModifiedBy>
  <cp:revision>18</cp:revision>
  <dcterms:created xsi:type="dcterms:W3CDTF">2026-08-26T05:47:19Z</dcterms:created>
  <dcterms:modified xsi:type="dcterms:W3CDTF">2026-09-21T07:15:35Z</dcterms:modified>
</cp:coreProperties>
</file>