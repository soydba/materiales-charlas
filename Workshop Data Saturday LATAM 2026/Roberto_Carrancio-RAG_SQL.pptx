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68" r:id="rId2"/>
    <p:sldId id="279" r:id="rId3"/>
    <p:sldId id="280" r:id="rId4"/>
    <p:sldId id="274" r:id="rId5"/>
    <p:sldId id="276" r:id="rId6"/>
    <p:sldId id="261" r:id="rId7"/>
    <p:sldId id="290" r:id="rId8"/>
    <p:sldId id="273" r:id="rId9"/>
    <p:sldId id="277" r:id="rId10"/>
    <p:sldId id="294" r:id="rId11"/>
    <p:sldId id="278" r:id="rId12"/>
    <p:sldId id="281" r:id="rId13"/>
    <p:sldId id="283" r:id="rId14"/>
    <p:sldId id="285" r:id="rId15"/>
    <p:sldId id="286" r:id="rId16"/>
    <p:sldId id="287" r:id="rId17"/>
    <p:sldId id="284" r:id="rId18"/>
    <p:sldId id="288" r:id="rId19"/>
    <p:sldId id="289" r:id="rId20"/>
    <p:sldId id="291" r:id="rId21"/>
    <p:sldId id="263" r:id="rId22"/>
    <p:sldId id="329" r:id="rId23"/>
    <p:sldId id="295" r:id="rId24"/>
    <p:sldId id="296" r:id="rId25"/>
    <p:sldId id="297" r:id="rId26"/>
    <p:sldId id="298" r:id="rId27"/>
    <p:sldId id="300" r:id="rId28"/>
    <p:sldId id="301" r:id="rId29"/>
    <p:sldId id="302" r:id="rId30"/>
    <p:sldId id="303" r:id="rId31"/>
    <p:sldId id="299" r:id="rId32"/>
    <p:sldId id="304" r:id="rId33"/>
    <p:sldId id="305" r:id="rId34"/>
    <p:sldId id="312" r:id="rId35"/>
    <p:sldId id="313" r:id="rId36"/>
    <p:sldId id="314" r:id="rId37"/>
    <p:sldId id="306" r:id="rId38"/>
    <p:sldId id="307" r:id="rId39"/>
    <p:sldId id="309" r:id="rId40"/>
    <p:sldId id="310" r:id="rId41"/>
    <p:sldId id="308" r:id="rId42"/>
    <p:sldId id="311" r:id="rId43"/>
    <p:sldId id="320" r:id="rId44"/>
    <p:sldId id="315" r:id="rId45"/>
    <p:sldId id="316" r:id="rId46"/>
    <p:sldId id="317" r:id="rId47"/>
    <p:sldId id="321" r:id="rId48"/>
    <p:sldId id="318" r:id="rId49"/>
    <p:sldId id="319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293" r:id="rId58"/>
    <p:sldId id="262" r:id="rId59"/>
    <p:sldId id="330" r:id="rId60"/>
    <p:sldId id="331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3A62D2EF-4683-416F-83D1-18C2C1B56325}">
          <p14:sldIdLst>
            <p14:sldId id="268"/>
            <p14:sldId id="279"/>
            <p14:sldId id="280"/>
            <p14:sldId id="274"/>
            <p14:sldId id="276"/>
            <p14:sldId id="261"/>
          </p14:sldIdLst>
        </p14:section>
        <p14:section name="Intro" id="{23B5469E-9C52-43CE-9667-FA3F1757E40E}">
          <p14:sldIdLst>
            <p14:sldId id="290"/>
            <p14:sldId id="273"/>
            <p14:sldId id="277"/>
            <p14:sldId id="294"/>
            <p14:sldId id="278"/>
            <p14:sldId id="281"/>
            <p14:sldId id="283"/>
            <p14:sldId id="285"/>
            <p14:sldId id="286"/>
            <p14:sldId id="287"/>
            <p14:sldId id="284"/>
            <p14:sldId id="288"/>
            <p14:sldId id="289"/>
          </p14:sldIdLst>
        </p14:section>
        <p14:section name="IA en SQL" id="{D3192A9F-1187-496C-9614-4DAE94663AE7}">
          <p14:sldIdLst>
            <p14:sldId id="291"/>
            <p14:sldId id="263"/>
            <p14:sldId id="329"/>
            <p14:sldId id="295"/>
            <p14:sldId id="296"/>
            <p14:sldId id="297"/>
            <p14:sldId id="298"/>
            <p14:sldId id="300"/>
            <p14:sldId id="301"/>
            <p14:sldId id="302"/>
            <p14:sldId id="303"/>
            <p14:sldId id="299"/>
            <p14:sldId id="304"/>
            <p14:sldId id="305"/>
            <p14:sldId id="312"/>
            <p14:sldId id="313"/>
            <p14:sldId id="314"/>
            <p14:sldId id="306"/>
          </p14:sldIdLst>
        </p14:section>
        <p14:section name="Patron RAG" id="{25590EE2-5804-4697-94B4-627CE54EFCDD}">
          <p14:sldIdLst>
            <p14:sldId id="307"/>
            <p14:sldId id="309"/>
            <p14:sldId id="310"/>
            <p14:sldId id="308"/>
            <p14:sldId id="311"/>
          </p14:sldIdLst>
        </p14:section>
        <p14:section name="Busqueda hibrida" id="{BEC1194E-67A3-4CFB-B1CC-86FEF367DD44}">
          <p14:sldIdLst>
            <p14:sldId id="320"/>
            <p14:sldId id="315"/>
            <p14:sldId id="316"/>
            <p14:sldId id="317"/>
          </p14:sldIdLst>
        </p14:section>
        <p14:section name="LOG" id="{D0CB6EA2-39CB-4B31-81A2-E9EE3BE0F261}">
          <p14:sldIdLst>
            <p14:sldId id="321"/>
            <p14:sldId id="318"/>
            <p14:sldId id="319"/>
          </p14:sldIdLst>
        </p14:section>
        <p14:section name="Seguridad" id="{92E1DEB5-6552-4C84-8D71-9A3B46661CCF}">
          <p14:sldIdLst>
            <p14:sldId id="322"/>
            <p14:sldId id="323"/>
            <p14:sldId id="324"/>
          </p14:sldIdLst>
        </p14:section>
        <p14:section name="Rendimiento" id="{E3D3EFFC-91F3-45BB-A9FD-363134F8BD1A}">
          <p14:sldIdLst>
            <p14:sldId id="325"/>
            <p14:sldId id="326"/>
            <p14:sldId id="327"/>
            <p14:sldId id="328"/>
          </p14:sldIdLst>
        </p14:section>
        <p14:section name="Final" id="{57A250ED-8FE3-4A27-8B55-638E580486D9}">
          <p14:sldIdLst>
            <p14:sldId id="293"/>
            <p14:sldId id="262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93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EVENTO — Reemplazar nombre del evento, ciudad y año. No mover los logos de la esquina inferior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Diapositiva 2 · duración sugerida: 2 min</a:t>
            </a:r>
          </a:p>
          <a:p>
            <a:endParaRPr/>
          </a:p>
          <a:p>
            <a:r>
              <a:t>- Presentar el resultado final: construir, ejecutar, medir y endurecer un RAG dentro de SQL Server.</a:t>
            </a:r>
          </a:p>
          <a:p>
            <a:endParaRPr/>
          </a:p>
          <a:p>
            <a:r>
              <a:t>[Sources]</a:t>
            </a:r>
          </a:p>
          <a:p>
            <a:r>
              <a:t>- D:/BLOG/03 Ponencias/2026/Data Saturday LATAM/WORKSHOP_PLAN_3H.md</a:t>
            </a:r>
          </a:p>
          <a:p>
            <a:r>
              <a:t>- D:/BLOG/03 Ponencias/2026/Data Saturday LATAM/WORKSHOP_DECISION_ENTORNO.md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Diapositiva 3 · duración sugerida: 2 min</a:t>
            </a:r>
          </a:p>
          <a:p>
            <a:endParaRPr/>
          </a:p>
          <a:p>
            <a:r>
              <a:t>- Conectar la experiencia DBA con el enfoque práctico y operativo del taller.</a:t>
            </a:r>
          </a:p>
          <a:p>
            <a:endParaRPr/>
          </a:p>
          <a:p>
            <a:r>
              <a:t>[Sources]</a:t>
            </a:r>
          </a:p>
          <a:p>
            <a:r>
              <a:t>- D:/BLOG/03 Ponencias/2026/Data Saturday LATAM/Fuentes/Tenerife Summer Sessions/Roberto_Carrancio_Javi_Sanchez-RAG_SQL-GuarandingaTECH_Summer.pptx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SPONSORS — Reemplazar la imagen por el arte oficial de sponsors vigente del evento (carpeta de logos provista por organización).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COMUNIDADES — Reemplazar las tarjetas placeholder por los logos de comunidades participantes. Mantener las tarjetas blancas para asegurar contraste.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71B0-3BB7-9E34-93DE-40A9C6F6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54633-496F-C0DC-7191-A21066530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E1F3B-7E38-5FE3-D1B6-172BA9D1E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2DF07-6044-22A4-2CAF-958673EBF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95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3415-F89C-7AB8-D836-B597DD42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88097-ACEC-E501-3B5D-A47DE97CA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72691-7F5D-9978-BF28-10819EA8F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B5E35-E103-9596-9FF2-209760245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03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823A-5B4B-4844-AE11-849E0DFE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935E6-D55E-2BA9-6EF0-FA12D702A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42F54-97F7-5553-791E-683097FFF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2B585-1D20-B04E-B474-4D1BB67B9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86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2A88-5675-4F98-FD62-74613EB3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74B37-59AC-B171-9EE8-7EF77E7C1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75051-B32A-DF45-7A04-F1620150B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BCE37-FC46-1718-809A-98A11FEDC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2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BE6D-9180-6809-8A3E-895B2E93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7E821-5ABC-7C7A-44FC-E502B07E6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6A798-050F-A853-8818-D18F16139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82B3E-9636-620E-444F-0F8BCA348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6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CCDF-5DE7-C6EE-163D-59778D7D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55A91-502A-004F-3C3D-5FA7AD890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21205-1B66-244F-C56E-A63A06853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8769-B953-E0FB-A9D4-3DB9480A7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7945-7E2B-757E-6F37-6A08FADD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622EC-DEED-1DFA-AF7A-0E86183C8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9D265-0E07-AE80-D03B-6CC39542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66EA-3C7A-CE63-2291-E8AF75625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9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56B6-C91C-3AC2-C36A-E7AAFAB6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3A3C2-7AE4-C910-B419-D7308BE29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33F93-6C81-06F2-4DEC-EC7A8B42D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1CBF1-E302-482A-455D-1D928E491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33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E602-6848-4DB0-0B19-02175C1D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4F2E9-6D19-E8B0-F750-89A335A98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F7E3E-28BA-A453-BE85-2CEF46721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2604-BD19-B217-5C79-8F61881C5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98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1C20C-F5BF-3C73-21E5-85596FB8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00CFA-1FFB-E26B-353A-576D316AD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948F5-B8B4-407A-2B8A-7FC6144ED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3EF3E-C398-896C-571A-86A6D0D6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27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D60F-2A9E-9719-1C40-73971F1C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5701A-D180-2680-EBF5-3B19F49E8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C43DE-BC4D-F456-6B74-446F3DA4E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C6AF6-9E7E-647D-406E-2255EBD1F6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92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4836-D96F-320D-6AF8-64ABF4F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21723-BF5E-7612-31A3-A7FDA6770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31C04-4A09-662F-A7C5-326E51361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764A3-8C0C-C6A6-68F0-075888045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13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B04F4-12F3-FD90-4A53-3917DC3D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92D66-4890-FA55-918C-91F04B72C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D6E8C-93AC-9E30-D98C-73F25F269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ABB37-B39E-4427-2DFE-B2B8A66E4D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21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— Resumir 3 ideas clave de la charla. Se puede ampliar a más tarjetas si es necesario, ajustando el ancho.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190A-5FA8-F8D5-789F-056E2960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8CAC5-67E6-1669-7C4E-D7541E897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EF61B-AE04-D9A6-5BE0-1105FDE98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3760F-1826-AB31-97CA-F118EFE73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04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E4C4-F4D5-F89C-833C-E9DCBBFE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FC6DA-CA62-59EB-76C2-C2FD13E97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5FEE5-5617-62BC-C9F4-C68FED9B3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F336-CEC7-F9CF-6215-A3435C7FE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00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6E8B-D57E-A393-8CAB-769FE58E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2271D-1294-BB79-0984-B5FEC93C4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67304-3411-FF98-6B8C-29863A92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2CD9F-E981-090C-32C7-A01F29396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71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D33B-917F-8E97-7B89-49E8D747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FB4E0-84A5-08EC-5006-1CDFEDBCB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E4467-D037-7A97-105D-BC660609E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F0642-F4C4-2900-7CA4-A700716CD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11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1A40-A366-8E51-D21B-1BCFD8B7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51D61-AEC3-4358-EE61-28836C27E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0F3B8-7CA8-D5FA-F63B-4A5E2687C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870D-2A59-01DD-E428-633993034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2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C83C-335E-B456-D148-60E64A80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73CF6-8DAF-33DE-E803-85B95F738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63CC2-19DE-6A3B-009C-F8486A6E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22568-5122-AC85-598A-F9CFD3ECB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32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12CE-C341-0846-B6F1-B5C8354D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C07B8-F72D-37FE-6A6D-B66CF387C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E0779-FBFE-6DA7-BA43-E815ED580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5EB42-21F6-1A31-4945-D702DD627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23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2D76-A878-6A26-7596-AA7FC778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65382-BD7F-79F5-61F0-DBED8D00D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FD580-830B-9301-69E1-9478DDD5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0B92-D98F-5B31-BDB0-6A07240F2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93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11AF6-210D-214E-E828-DA4D6558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7EE9D-925F-1E73-0471-D04B0F2B4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BDF1F-F97F-2AC6-BDCD-ACC0BFAB8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59FE8-A190-EE3E-A3BF-3A4D578DF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56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2833-E553-1076-B844-E5A2DECF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83DE5-5468-4B2D-19D5-158F95EE0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4E88-D24B-7866-6F74-A3C533C04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2080A-FA94-ACB1-50DE-2A12DDE79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830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7E50-4A45-E461-C16E-804E7484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7C9FF-803F-2887-92F2-9344BA757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02F4B-AAB3-1901-0586-012AF13B1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51625-1FB2-43CA-F51E-4EE0F1854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709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07CA-491F-4DA9-EF3A-63C55B23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CA35F-568D-2502-40B5-904C89616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F8FDC-14A8-A093-DA74-1593C119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BE3CE-C15E-FEEE-1110-C10D9BF2A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1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7DD37-6747-96CC-D301-17077D76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D7417-3FF4-10F8-7E7E-0295633D0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157DA-4D41-C874-5B4F-E28B1F220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E52C-AB1D-DB44-C1F6-879D48822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585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3EEA-C329-4305-C9A4-E0218A96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3CF00-49EF-08E2-D9FF-9D1AAB9D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0E727-D824-AB9C-D45C-2C657AB43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C6070-6CD1-6B20-F3B1-B0FB1269A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10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7D49-0C4E-0C89-A8E9-2784169F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4B9-0851-9203-245E-35CFCAC98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60794-A61E-970B-554A-48E6F540D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F6676-75CE-D32E-54C8-063FB8008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812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3A93-4AA9-1933-8AF7-C696F600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D0E7D-42F0-7DD6-AAE8-C7AF8A89C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1C5DE-FE26-265E-AD8E-852BC11FF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1F6C7-5E26-FEAC-3792-A6781E3FA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054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2093-1932-2F80-2995-A02F10EB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77F5D-82D1-15C0-593B-6F93B729E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EA183-0149-9315-91FE-A024E5C73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BEED2-1899-8898-F80E-B50E851AD6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533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C124-A3AE-2687-E7FA-9B360766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85F06-211A-0719-CFAE-3DACA7D30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E4666-E847-26FB-889C-C74A7DAE7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E9FB1-03AE-06B2-21BE-120E12171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742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267C-6247-4D85-F926-C192AA15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35E46-EA06-82FD-5B83-73EF41413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BC609-35A1-27AB-7B0F-F38792E87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BFFF2-1C08-9B0B-950B-864D91567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47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AB54-EB7C-BD1A-DCF0-5D386F28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7B761-7088-E019-7615-A29025DC6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A3BBB-FB76-C9A9-B3A6-5AC274EF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128D-1BFC-26C9-CF01-AD16ED869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892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6EEF-0C2A-9322-8EA0-2D5E537F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360AA-712E-1B45-4691-F231DB78A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DD62B-6256-7536-AED5-81C04B0B9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34A5-C53B-2353-A1C6-9813A465E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26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611C-AEF1-1778-62EC-6CA58816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DB0AD-7CA7-7078-6E1F-9C8BE55DB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20224-12A6-0C25-D7A0-EACBED27C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954-4E34-4D2E-72F7-7FCA05CF4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279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68F6-285A-D1D0-457B-272BF3E8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8352-3D3C-108E-E444-11BD169FB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01CC1-DDBD-E83C-19C4-A3B919DF0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35B58-131A-AB3E-BD0B-F9A5CDF5C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744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B1AF-D25E-76F8-2553-3D039F04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1A05B-6BEC-D025-8C08-11D74B703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AE384-B807-C559-09F6-0FCA64EBC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AE28E-1540-9319-79C6-0BF57D83D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310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D27F-1CD2-EE9F-B6C0-513EDE44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F001E-F99C-2947-9CD4-47C47A87D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45D00-6317-3FEF-4D02-2A1BB13E6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6DA99-C98A-422F-2B9E-5CCDA9A50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203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C37A-7578-AB35-54DD-6782E3CB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092C1-7D53-E746-7304-3266C5B79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767EE-18DD-8727-EA10-2DB4CE7C2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30FC7-EB9E-EC3A-9B15-E21334099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53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D56DC-8EEE-41A2-7499-87061F85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B0A07-36BC-17ED-5305-2E59A1742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DF4DC-600B-0DFF-B9AC-D6655D05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15665-A824-FEE0-92C4-3A6621D27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232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379E7-C312-626B-BC60-EFA1927F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676A5-3396-DE25-8A66-3043AF54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9573C-3869-0171-18E5-0AD465DE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072C-8C97-B82D-4BA4-57025995B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27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A9FC-9168-D5C8-246D-C4CFDC31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81F92-78B3-7352-7F48-DED3F5F36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FA12A-194D-B7A1-218A-8BC4872D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D2495-CB7F-8D22-B0A3-0662A6673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621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362D-5EC2-EF53-C96A-97850D6B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C1132-48EE-E8B4-8394-6D7ECEF1F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0219B-E2E8-4CBF-28AC-35C48ADFF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B5E08-8EEC-B260-32E2-A30FDF3C5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454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7959-B703-8994-9FF2-07884F2A7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87671-2609-D8B0-BAC7-BA013A4F5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6F2C4-F3DA-93AA-9062-E774DEFA4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8A4-0E3F-281E-77A4-C64EE9E66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007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C433-26EF-7904-F5BA-271CB6C84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0BF3D-0DD6-6101-9CCE-1BF57DC07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77E6A-FE4C-8C66-A746-62051A410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— Slide de transición para abrir el espacio de Q&amp;A. Opcionalmente agregar contacto o redes.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29D88-5290-306A-8F70-8918AF73E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080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9417D-18AD-D207-EC18-1D4163D3D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E197F-66FB-E5FB-5F8B-0A96D241C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7AD10-D66C-FFC6-D88A-22346A029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46822-4764-8F18-D119-711C392B3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596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617A-6A9A-18B8-A062-343A4147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08E60-C7CC-70D0-BA82-90C881CFA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0F8E9-4388-6C4B-4853-C87CD839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4E22-2E19-AEDD-FC0B-8A07868B4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93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7B83-AE2D-9E07-7F33-15AD3180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2C4C7-D570-AFD9-5F64-B1F15D41D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459D3-0262-AE50-2E84-AC72769AD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Completar los pasos/etapas de la charla. Agregar o quitar filas según la cantidad de bloques.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F608B-C352-F8A6-4C94-E2A6A56F1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2464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5A33-8D41-F968-D9EA-765589E3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40183-40C4-BB84-6420-61301836E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C5F29-20C6-5E0E-A9BB-81DAEE746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— Resumir 3 ideas clave de la charla. Se puede ampliar a más tarjetas si es necesario, ajustando el ancho.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C2A0-DF17-EE39-1232-869FFFCE6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841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RECURSOS ADICIONALES — Completar enlaces y reemplazar el placeholder por un código QR real (repositorio, formulario, slides,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Diapositiva 53 · duración sugerida: 5 min</a:t>
            </a:r>
          </a:p>
          <a:p>
            <a:endParaRPr/>
          </a:p>
          <a:p>
            <a:r>
              <a:t>- Priorizar preguntas sobre decisiones de arquitectura, seguridad y operación.</a:t>
            </a:r>
          </a:p>
          <a:p>
            <a:endParaRPr/>
          </a:p>
          <a:p>
            <a:r>
              <a:t>[Sources]</a:t>
            </a:r>
          </a:p>
          <a:p>
            <a:r>
              <a:t>- D:/BLOG/03 Ponencias/2026/Data Saturday LATAM/Fuentes/Tenerife Summer Sessions/Roberto_Carrancio_Javi_Sanchez-RAG_SQL-GuarandingaTECH_Summer.pptx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Diapositiva 54 · duración sugerida: 1 min</a:t>
            </a:r>
          </a:p>
          <a:p>
            <a:endParaRPr/>
          </a:p>
          <a:p>
            <a:r>
              <a:t>- Cerrar con una acción: ejecutar de nuevo el laboratorio con una pregunta propia.</a:t>
            </a:r>
          </a:p>
          <a:p>
            <a:endParaRPr/>
          </a:p>
          <a:p>
            <a:r>
              <a:t>[Sources]</a:t>
            </a:r>
          </a:p>
          <a:p>
            <a:r>
              <a:t>- D:/BLOG/03 Ponencias/2026/Data Saturday LATAM/Fuentes/Tenerife Summer Sessions/Roberto_Carrancio_Javi_Sanchez-RAG_SQL-GuarandingaTECH_Summer.pptx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microsoft.com/office/2007/relationships/hdphoto" Target="../media/hdphoto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3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10" Type="http://schemas.openxmlformats.org/officeDocument/2006/relationships/image" Target="../media/image49.svg"/><Relationship Id="rId4" Type="http://schemas.openxmlformats.org/officeDocument/2006/relationships/image" Target="../media/image2.png"/><Relationship Id="rId9" Type="http://schemas.openxmlformats.org/officeDocument/2006/relationships/image" Target="../media/image4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378200"/>
            <a:ext cx="10668000" cy="101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s-AR" sz="6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SATURDAY LATAM</a:t>
            </a:r>
          </a:p>
        </p:txBody>
      </p:sp>
      <p:sp>
        <p:nvSpPr>
          <p:cNvPr id="4" name="Text 1"/>
          <p:cNvSpPr/>
          <p:nvPr/>
        </p:nvSpPr>
        <p:spPr>
          <a:xfrm>
            <a:off x="762000" y="4826000"/>
            <a:ext cx="1066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AR" sz="1800" b="1" kern="0" spc="500" dirty="0">
                <a:solidFill>
                  <a:srgbClr val="8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AIRES · </a:t>
            </a:r>
            <a:r>
              <a:rPr lang="es-AR" sz="1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r>
              <a:rPr lang="es-AR" sz="1800" b="1" kern="0" spc="500" dirty="0">
                <a:solidFill>
                  <a:srgbClr val="8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</a:p>
        </p:txBody>
      </p:sp>
      <p:pic>
        <p:nvPicPr>
          <p:cNvPr id="5" name="Image 1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939800"/>
            <a:ext cx="3810000" cy="2286000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2600" y="5969000"/>
            <a:ext cx="1051560" cy="457200"/>
          </a:xfrm>
          <a:prstGeom prst="rect">
            <a:avLst/>
          </a:prstGeom>
        </p:spPr>
      </p:pic>
      <p:sp>
        <p:nvSpPr>
          <p:cNvPr id="7" name="Accent Bar">
            <a:extLst>
              <a:ext uri="{FF2B5EF4-FFF2-40B4-BE49-F238E27FC236}">
                <a16:creationId xmlns:a16="http://schemas.microsoft.com/office/drawing/2014/main" id="{B40C60D8-6CBF-4D22-8770-8CB7CA686F89}"/>
              </a:ext>
            </a:extLst>
          </p:cNvPr>
          <p:cNvSpPr/>
          <p:nvPr/>
        </p:nvSpPr>
        <p:spPr>
          <a:xfrm>
            <a:off x="4927600" y="4546600"/>
            <a:ext cx="863600" cy="889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8" name="Flag White">
            <a:extLst>
              <a:ext uri="{FF2B5EF4-FFF2-40B4-BE49-F238E27FC236}">
                <a16:creationId xmlns:a16="http://schemas.microsoft.com/office/drawing/2014/main" id="{F0F6A627-4CBF-437F-AD23-1A30EA57D093}"/>
              </a:ext>
            </a:extLst>
          </p:cNvPr>
          <p:cNvSpPr/>
          <p:nvPr/>
        </p:nvSpPr>
        <p:spPr>
          <a:xfrm>
            <a:off x="5791200" y="4546600"/>
            <a:ext cx="6096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9" name="Flag Celeste 2">
            <a:extLst>
              <a:ext uri="{FF2B5EF4-FFF2-40B4-BE49-F238E27FC236}">
                <a16:creationId xmlns:a16="http://schemas.microsoft.com/office/drawing/2014/main" id="{EB762617-5206-4119-8ABE-F6A77B9C92E9}"/>
              </a:ext>
            </a:extLst>
          </p:cNvPr>
          <p:cNvSpPr/>
          <p:nvPr/>
        </p:nvSpPr>
        <p:spPr>
          <a:xfrm>
            <a:off x="6400800" y="4546600"/>
            <a:ext cx="863600" cy="889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07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E584B63-C280-4B52-82EA-C6AC8188906A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300" b="1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DATA SATURDAY LATAM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D3E24D0-F5C8-45C8-9A0B-7FFC153889BB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</p:spPr>
        <p:txBody>
          <a:bodyPr wrap="square" anchor="b"/>
          <a:lstStyle/>
          <a:p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SEGURO EN SQL SERVER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D704AB-9B31-4E88-B471-9C19232AD66E}"/>
              </a:ext>
            </a:extLst>
          </p:cNvPr>
          <p:cNvSpPr>
            <a:spLocks noGrp="1"/>
          </p:cNvSpPr>
          <p:nvPr/>
        </p:nvSpPr>
        <p:spPr>
          <a:xfrm>
            <a:off x="822960" y="4160520"/>
            <a:ext cx="7315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Roberto Carrancio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7E57CF7-4E68-4695-A671-4F03F4429AD8}"/>
              </a:ext>
            </a:extLst>
          </p:cNvPr>
          <p:cNvSpPr>
            <a:spLocks noGrp="1"/>
          </p:cNvSpPr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DBA </a:t>
            </a:r>
            <a:r>
              <a:rPr lang="es-ES"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Microsoft Data Platform MVP </a:t>
            </a:r>
            <a:r>
              <a:rPr lang="es-ES"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SoyDBA</a:t>
            </a:r>
            <a:r>
              <a:rPr lang="es-ES"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s-ES"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Encora</a:t>
            </a:r>
            <a:endParaRPr sz="1400" dirty="0">
              <a:solidFill>
                <a:srgbClr val="A9BED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2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D8C266F2-857A-4E94-A6D1-AF741D956E15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86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881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3CC820-590B-4B28-AE56-12E9BD4D4610}"/>
              </a:ext>
            </a:extLst>
          </p:cNvPr>
          <p:cNvSpPr>
            <a:spLocks noGrp="1"/>
          </p:cNvSpPr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300" b="1" dirty="0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SOBRE EL/LA PONENTE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A2EA2D-E4E2-4F22-B7CB-42278577A9A6}"/>
              </a:ext>
            </a:extLst>
          </p:cNvPr>
          <p:cNvSpPr>
            <a:spLocks noGrp="1"/>
          </p:cNvSpPr>
          <p:nvPr/>
        </p:nvSpPr>
        <p:spPr>
          <a:xfrm>
            <a:off x="4023360" y="1600200"/>
            <a:ext cx="7315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Roberto Carrancio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BD60458-74BF-47EB-A9B0-D3B126A444EF}"/>
              </a:ext>
            </a:extLst>
          </p:cNvPr>
          <p:cNvSpPr>
            <a:spLocks noGrp="1"/>
          </p:cNvSpPr>
          <p:nvPr/>
        </p:nvSpPr>
        <p:spPr>
          <a:xfrm>
            <a:off x="4023360" y="214884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dirty="0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DBA </a:t>
            </a:r>
            <a:r>
              <a:rPr lang="es-ES" sz="1500" b="1" dirty="0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as a Service </a:t>
            </a:r>
            <a:r>
              <a:rPr sz="1500" b="1" dirty="0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500" b="1" dirty="0" err="1">
                <a:solidFill>
                  <a:srgbClr val="3E8EDE"/>
                </a:solidFill>
                <a:latin typeface="Calibri"/>
                <a:ea typeface="Calibri"/>
                <a:cs typeface="Calibri"/>
              </a:rPr>
              <a:t>SoyDBA</a:t>
            </a:r>
            <a:r>
              <a:rPr lang="es-ES" sz="1500" b="1" dirty="0">
                <a:solidFill>
                  <a:srgbClr val="3E8EDE"/>
                </a:solidFill>
                <a:ea typeface="Calibri"/>
                <a:cs typeface="Calibri"/>
              </a:rPr>
              <a:t> · </a:t>
            </a:r>
            <a:r>
              <a:rPr lang="es-ES" sz="1500" b="1" dirty="0" err="1">
                <a:solidFill>
                  <a:srgbClr val="3E8EDE"/>
                </a:solidFill>
                <a:ea typeface="Calibri"/>
                <a:cs typeface="Calibri"/>
              </a:rPr>
              <a:t>Encora</a:t>
            </a:r>
            <a:endParaRPr sz="1500" b="1" dirty="0">
              <a:solidFill>
                <a:srgbClr val="3E8ED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AA8FFD-3C4E-46BC-9D83-6A6FA913D568}"/>
              </a:ext>
            </a:extLst>
          </p:cNvPr>
          <p:cNvSpPr>
            <a:spLocks noGrp="1"/>
          </p:cNvSpPr>
          <p:nvPr/>
        </p:nvSpPr>
        <p:spPr>
          <a:xfrm>
            <a:off x="4023360" y="2697480"/>
            <a:ext cx="7315200" cy="1554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30000"/>
              </a:lnSpc>
              <a:buNone/>
            </a:pP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Más de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década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trabajando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con SQL Server.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Consultoría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formación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medida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. Autor de “SQL Server: La NO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guía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práctica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optimización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” y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creador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400" dirty="0" err="1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SoyDBA</a:t>
            </a:r>
            <a:r>
              <a:rPr sz="1400" dirty="0">
                <a:solidFill>
                  <a:srgbClr val="A9BED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D7DC227-1A30-4E58-AFAF-01F847888232}"/>
              </a:ext>
            </a:extLst>
          </p:cNvPr>
          <p:cNvSpPr>
            <a:spLocks noGrp="1"/>
          </p:cNvSpPr>
          <p:nvPr/>
        </p:nvSpPr>
        <p:spPr>
          <a:xfrm>
            <a:off x="4023360" y="438912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8FC3F0"/>
                </a:solidFill>
                <a:latin typeface="Calibri"/>
                <a:ea typeface="Calibri"/>
                <a:cs typeface="Calibri"/>
              </a:rPr>
              <a:t>linkedin.com/in/robertocarrancio   ·   soydba.es   ·   youtube.com/@soydba</a:t>
            </a: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2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2960" y="1554480"/>
            <a:ext cx="2834640" cy="2834640"/>
          </a:xfrm>
          <a:prstGeom prst="ellipse">
            <a:avLst/>
          </a:prstGeom>
        </p:spPr>
      </p:pic>
      <p:pic>
        <p:nvPicPr>
          <p:cNvPr id="4" name="Imagen 3" descr="Código QR&#10;&#10;El contenido generado por IA puede ser incorrecto.">
            <a:extLst>
              <a:ext uri="{FF2B5EF4-FFF2-40B4-BE49-F238E27FC236}">
                <a16:creationId xmlns:a16="http://schemas.microsoft.com/office/drawing/2014/main" id="{4E6F4AC7-7C4F-A90F-F77F-10BE46167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655" y="4858030"/>
            <a:ext cx="1838169" cy="1838169"/>
          </a:xfrm>
          <a:prstGeom prst="rect">
            <a:avLst/>
          </a:prstGeom>
        </p:spPr>
      </p:pic>
      <p:pic>
        <p:nvPicPr>
          <p:cNvPr id="10" name="Picture 2" descr="Microsoft MVP en Azure | JMFLORESZAZO">
            <a:extLst>
              <a:ext uri="{FF2B5EF4-FFF2-40B4-BE49-F238E27FC236}">
                <a16:creationId xmlns:a16="http://schemas.microsoft.com/office/drawing/2014/main" id="{78CFA0D7-908B-8223-C9C3-DC7271364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508" y="1423797"/>
            <a:ext cx="1740397" cy="70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1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ponsors Panel">
            <a:extLst>
              <a:ext uri="{FF2B5EF4-FFF2-40B4-BE49-F238E27FC236}">
                <a16:creationId xmlns:a16="http://schemas.microsoft.com/office/drawing/2014/main" id="{A8C002DC-674C-4F24-9419-57BB9E26D4FF}"/>
              </a:ext>
            </a:extLst>
          </p:cNvPr>
          <p:cNvSpPr/>
          <p:nvPr/>
        </p:nvSpPr>
        <p:spPr>
          <a:xfrm>
            <a:off x="755650" y="1803400"/>
            <a:ext cx="10679502" cy="3860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" name="Text 0"/>
          <p:cNvSpPr/>
          <p:nvPr/>
        </p:nvSpPr>
        <p:spPr>
          <a:xfrm>
            <a:off x="0" y="6400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4000" dirty="0"/>
          </a:p>
        </p:txBody>
      </p:sp>
      <p:pic>
        <p:nvPicPr>
          <p:cNvPr id="5" name="Image 2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3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6470891-67D3-28AA-6E05-DC6DEE6A2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850" y="2343150"/>
            <a:ext cx="9516803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5560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400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209800" y="18161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1" descr="assets/logo_datasaturday/Logo DataSaturday/Logo DT azul oscuro con mapa azul oscur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38400" y="2044700"/>
            <a:ext cx="1828800" cy="12827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53000" y="18161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2" descr="assets/logo_sponsors/Logos Sponsors/Logos comunidades/powerbichil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1600" y="2044700"/>
            <a:ext cx="1828800" cy="1282700"/>
          </a:xfrm>
          <a:prstGeom prst="rect">
            <a:avLst/>
          </a:prstGeom>
        </p:spPr>
      </p:pic>
      <p:pic>
        <p:nvPicPr>
          <p:cNvPr id="12" name="Image 3" descr="assets/logo_datasaturday/Logo DataSaturday/Logo DT Blanco con mapa 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3" name="Image 4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058FFDA-3A64-B551-2F7D-229AD523B61B}"/>
              </a:ext>
            </a:extLst>
          </p:cNvPr>
          <p:cNvSpPr/>
          <p:nvPr/>
        </p:nvSpPr>
        <p:spPr>
          <a:xfrm>
            <a:off x="4953000" y="39878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CF8796EF-D846-8BBC-457B-496E2C290E0D}"/>
              </a:ext>
            </a:extLst>
          </p:cNvPr>
          <p:cNvSpPr/>
          <p:nvPr/>
        </p:nvSpPr>
        <p:spPr>
          <a:xfrm>
            <a:off x="7696200" y="39878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3A30DB7-DB68-42E3-C4CF-8405F94E7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5527" y="4191000"/>
            <a:ext cx="1747344" cy="13335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696200" y="18161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4"/>
          <p:cNvSpPr/>
          <p:nvPr/>
        </p:nvSpPr>
        <p:spPr>
          <a:xfrm>
            <a:off x="7696200" y="18161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kern="0" spc="1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COMUNIDAD]</a:t>
            </a:r>
            <a:endParaRPr lang="en-US" sz="1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933F374-85AC-A3CF-0956-4DAC740090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892" y="4191000"/>
            <a:ext cx="1728215" cy="1333500"/>
          </a:xfrm>
          <a:prstGeom prst="ellipse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49508A5-5972-4580-E4C2-0A5A62FF10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7783" y="2019300"/>
            <a:ext cx="1502833" cy="1333500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1ECA3D7F-AABF-19BA-1BDB-FBBCADCA85E3}"/>
              </a:ext>
            </a:extLst>
          </p:cNvPr>
          <p:cNvSpPr/>
          <p:nvPr/>
        </p:nvSpPr>
        <p:spPr>
          <a:xfrm>
            <a:off x="2209800" y="3987800"/>
            <a:ext cx="2286000" cy="1739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63259F5-BC8F-D6EF-34F7-868616A797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6187" y="4191000"/>
            <a:ext cx="16532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7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F1F3D"/>
          </a:solidFill>
          <a:ln w="15875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19842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0F1F3D"/>
          </a:solidFill>
          <a:ln w="15875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29443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F1F3D"/>
          </a:solidFill>
          <a:ln w="15875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390448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y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0F1F3D"/>
          </a:solidFill>
          <a:ln w="15875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82296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00200" y="48646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600" dirty="0"/>
          </a:p>
        </p:txBody>
      </p:sp>
      <p:pic>
        <p:nvPicPr>
          <p:cNvPr id="17" name="Image 1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B08F-1EEC-85E1-90BA-B88815F0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C6A2B36B-6F60-FC08-D4B5-8F50B0FC7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B985D69-6A35-8282-2156-143F5D614E80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DD2FC00C-B28A-C7D2-BCE3-6E9E544A0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41301DA2-FF5C-8C9C-2D46-2B8EF43B9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2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IA en SQL Server</a:t>
            </a:r>
          </a:p>
        </p:txBody>
      </p:sp>
      <p:pic>
        <p:nvPicPr>
          <p:cNvPr id="17" name="Image 1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19" name="Visual Panel">
            <a:extLst>
              <a:ext uri="{FF2B5EF4-FFF2-40B4-BE49-F238E27FC236}">
                <a16:creationId xmlns:a16="http://schemas.microsoft.com/office/drawing/2014/main" id="{51C0588A-7D7F-4C19-98F3-01A430C0572D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" name="Accent Bar">
            <a:extLst>
              <a:ext uri="{FF2B5EF4-FFF2-40B4-BE49-F238E27FC236}">
                <a16:creationId xmlns:a16="http://schemas.microsoft.com/office/drawing/2014/main" id="{18602C9A-BFAB-45CF-9B7C-D0BDF554DFDA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1DFF317-BF28-302A-B11C-05239E3B7B70}"/>
              </a:ext>
            </a:extLst>
          </p:cNvPr>
          <p:cNvSpPr/>
          <p:nvPr/>
        </p:nvSpPr>
        <p:spPr>
          <a:xfrm>
            <a:off x="2716215" y="4084185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6286307-9FCB-B476-71C6-6EF1630ED2E0}"/>
              </a:ext>
            </a:extLst>
          </p:cNvPr>
          <p:cNvSpPr/>
          <p:nvPr/>
        </p:nvSpPr>
        <p:spPr>
          <a:xfrm>
            <a:off x="7353093" y="4057921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D7625CF-6B80-97DE-CB4F-D0E14BF2BE16}"/>
              </a:ext>
            </a:extLst>
          </p:cNvPr>
          <p:cNvSpPr/>
          <p:nvPr/>
        </p:nvSpPr>
        <p:spPr>
          <a:xfrm>
            <a:off x="5023253" y="4057921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1436B7AF-3D43-DBA6-705A-AAB52A031119}"/>
              </a:ext>
            </a:extLst>
          </p:cNvPr>
          <p:cNvSpPr/>
          <p:nvPr/>
        </p:nvSpPr>
        <p:spPr>
          <a:xfrm>
            <a:off x="7353093" y="2127835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743DA83-0ED4-5B59-2FF1-F1DA45D78BA8}"/>
              </a:ext>
            </a:extLst>
          </p:cNvPr>
          <p:cNvSpPr/>
          <p:nvPr/>
        </p:nvSpPr>
        <p:spPr>
          <a:xfrm>
            <a:off x="5023253" y="2127068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F75A65DF-A74B-A7A3-6E6E-9C7236C26160}"/>
              </a:ext>
            </a:extLst>
          </p:cNvPr>
          <p:cNvSpPr/>
          <p:nvPr/>
        </p:nvSpPr>
        <p:spPr>
          <a:xfrm>
            <a:off x="2716215" y="2127068"/>
            <a:ext cx="1710135" cy="153129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4595513C-02EE-C295-4448-B07F00D86D66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551" y="2608707"/>
            <a:ext cx="810662" cy="81066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4" name="Imagen 33" descr="Icono&#10;&#10;El contenido generado por IA puede ser incorrecto.">
            <a:extLst>
              <a:ext uri="{FF2B5EF4-FFF2-40B4-BE49-F238E27FC236}">
                <a16:creationId xmlns:a16="http://schemas.microsoft.com/office/drawing/2014/main" id="{0846319A-ADFB-9A9F-37E9-EAB47274DCF9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533" y="2608707"/>
            <a:ext cx="810662" cy="81066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9F09675B-EDE8-FC55-463A-8F20E75B0AD3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829" y="2608707"/>
            <a:ext cx="810662" cy="81066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6" name="Imagen 35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CA9426E4-CD4C-D321-794D-17D519DCA29E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630" y="4618504"/>
            <a:ext cx="810662" cy="81066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E6E85D87-607E-4309-DB4D-F802F2FCACA2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533" y="4573367"/>
            <a:ext cx="810662" cy="81066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8" name="Imagen 37" descr="Icono&#10;&#10;El contenido generado por IA puede ser incorrecto.">
            <a:extLst>
              <a:ext uri="{FF2B5EF4-FFF2-40B4-BE49-F238E27FC236}">
                <a16:creationId xmlns:a16="http://schemas.microsoft.com/office/drawing/2014/main" id="{4AB5B826-B2FE-FB0E-36D5-9968ED2043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156" y="4566560"/>
            <a:ext cx="810662" cy="81066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8AA3D2C1-DF39-9039-4132-D8E3D504B971}"/>
              </a:ext>
            </a:extLst>
          </p:cNvPr>
          <p:cNvSpPr/>
          <p:nvPr/>
        </p:nvSpPr>
        <p:spPr>
          <a:xfrm>
            <a:off x="3031282" y="2154559"/>
            <a:ext cx="112901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Segura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74A3D8C-34A0-BB39-8147-88C25558E114}"/>
              </a:ext>
            </a:extLst>
          </p:cNvPr>
          <p:cNvSpPr/>
          <p:nvPr/>
        </p:nvSpPr>
        <p:spPr>
          <a:xfrm>
            <a:off x="5321385" y="2137055"/>
            <a:ext cx="111295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Rápida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39FD3BF-9FC5-AC9A-F131-EDC3BAC9367E}"/>
              </a:ext>
            </a:extLst>
          </p:cNvPr>
          <p:cNvSpPr/>
          <p:nvPr/>
        </p:nvSpPr>
        <p:spPr>
          <a:xfrm>
            <a:off x="7443932" y="2162916"/>
            <a:ext cx="161929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Inteligente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C1B3FCF-77CC-4385-B6A8-F31FC5BECDEC}"/>
              </a:ext>
            </a:extLst>
          </p:cNvPr>
          <p:cNvSpPr/>
          <p:nvPr/>
        </p:nvSpPr>
        <p:spPr>
          <a:xfrm>
            <a:off x="2816096" y="4097204"/>
            <a:ext cx="162423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Interactiva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7B611AD-AA51-2FD3-26F4-6003EBF7B345}"/>
              </a:ext>
            </a:extLst>
          </p:cNvPr>
          <p:cNvSpPr/>
          <p:nvPr/>
        </p:nvSpPr>
        <p:spPr>
          <a:xfrm>
            <a:off x="5220859" y="4081408"/>
            <a:ext cx="13377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Humana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B5A5ADA-047D-174E-6F83-8CEFDA3530F7}"/>
              </a:ext>
            </a:extLst>
          </p:cNvPr>
          <p:cNvSpPr/>
          <p:nvPr/>
        </p:nvSpPr>
        <p:spPr>
          <a:xfrm>
            <a:off x="7443932" y="4101822"/>
            <a:ext cx="161065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Autónoma</a:t>
            </a:r>
          </a:p>
        </p:txBody>
      </p:sp>
    </p:spTree>
    <p:extLst>
      <p:ext uri="{BB962C8B-B14F-4D97-AF65-F5344CB8AC3E}">
        <p14:creationId xmlns:p14="http://schemas.microsoft.com/office/powerpoint/2010/main" val="4010963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DD7DA-D62F-3126-53A4-BF122B17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F80B2E48-5960-CA1D-E014-7CAC57833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24CCE5E-6269-9093-73D7-209194216FEB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7E96EF7-2B12-D473-FE82-C850904A6CCE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Conceptos clave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087A5E44-F8DD-994E-29D9-65609FCDE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1FD71CEE-FF32-6A3B-BC41-1E2B0713D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19" name="Visual Panel">
            <a:extLst>
              <a:ext uri="{FF2B5EF4-FFF2-40B4-BE49-F238E27FC236}">
                <a16:creationId xmlns:a16="http://schemas.microsoft.com/office/drawing/2014/main" id="{72302D2C-59A8-9B13-AD77-30097F180525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" name="Accent Bar">
            <a:extLst>
              <a:ext uri="{FF2B5EF4-FFF2-40B4-BE49-F238E27FC236}">
                <a16:creationId xmlns:a16="http://schemas.microsoft.com/office/drawing/2014/main" id="{AB9D69C0-D5A8-FEE6-1325-AC6883FFB183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0DEF4A0-9573-89A9-156C-C954FDD66164}"/>
              </a:ext>
            </a:extLst>
          </p:cNvPr>
          <p:cNvSpPr/>
          <p:nvPr/>
        </p:nvSpPr>
        <p:spPr>
          <a:xfrm>
            <a:off x="4309328" y="2185454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69663D5-F9DE-BCC4-1A1C-7C8523EA0732}"/>
              </a:ext>
            </a:extLst>
          </p:cNvPr>
          <p:cNvSpPr/>
          <p:nvPr/>
        </p:nvSpPr>
        <p:spPr>
          <a:xfrm>
            <a:off x="4273211" y="2302669"/>
            <a:ext cx="1537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Embedding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CADA2B81-181F-EECC-322C-778559B92F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404" y="2772349"/>
            <a:ext cx="613779" cy="61377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5350A43-756F-2F3C-EF28-DD775D9BBAA6}"/>
              </a:ext>
            </a:extLst>
          </p:cNvPr>
          <p:cNvSpPr/>
          <p:nvPr/>
        </p:nvSpPr>
        <p:spPr>
          <a:xfrm>
            <a:off x="2369380" y="2164055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1E3E2D8-8181-E74C-A8B6-AD125A93E65A}"/>
              </a:ext>
            </a:extLst>
          </p:cNvPr>
          <p:cNvSpPr/>
          <p:nvPr/>
        </p:nvSpPr>
        <p:spPr>
          <a:xfrm>
            <a:off x="2289739" y="2193237"/>
            <a:ext cx="15376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</a:t>
            </a:r>
          </a:p>
        </p:txBody>
      </p:sp>
      <p:pic>
        <p:nvPicPr>
          <p:cNvPr id="39" name="Imagen 38" descr="Icono&#10;&#10;El contenido generado por IA puede ser incorrecto.">
            <a:extLst>
              <a:ext uri="{FF2B5EF4-FFF2-40B4-BE49-F238E27FC236}">
                <a16:creationId xmlns:a16="http://schemas.microsoft.com/office/drawing/2014/main" id="{E6DF562F-26C9-65C9-FDFE-AD8405FDE9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46" y="2769835"/>
            <a:ext cx="609604" cy="60960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10BB5540-8831-5900-D525-327FC69A76F6}"/>
              </a:ext>
            </a:extLst>
          </p:cNvPr>
          <p:cNvSpPr/>
          <p:nvPr/>
        </p:nvSpPr>
        <p:spPr>
          <a:xfrm>
            <a:off x="7260111" y="3957471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CAC4508-3126-988D-4001-F6E16568F924}"/>
              </a:ext>
            </a:extLst>
          </p:cNvPr>
          <p:cNvSpPr/>
          <p:nvPr/>
        </p:nvSpPr>
        <p:spPr>
          <a:xfrm>
            <a:off x="7180470" y="3957471"/>
            <a:ext cx="1537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Similaridad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6" name="Imagen 35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9B5645D2-5F13-9D86-28F2-683E8059EF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460" y="4382318"/>
            <a:ext cx="777873" cy="77787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639399D-2302-4F10-8070-237B98B2211C}"/>
              </a:ext>
            </a:extLst>
          </p:cNvPr>
          <p:cNvSpPr/>
          <p:nvPr/>
        </p:nvSpPr>
        <p:spPr>
          <a:xfrm>
            <a:off x="6336325" y="2185454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E3AE041-A356-E2A1-2B73-2B6BDB34DFFC}"/>
              </a:ext>
            </a:extLst>
          </p:cNvPr>
          <p:cNvSpPr/>
          <p:nvPr/>
        </p:nvSpPr>
        <p:spPr>
          <a:xfrm>
            <a:off x="6256684" y="2196789"/>
            <a:ext cx="153761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Índice</a:t>
            </a:r>
          </a:p>
          <a:p>
            <a:pPr algn="ctr"/>
            <a:r>
              <a:rPr lang="es-ES" sz="20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</a:t>
            </a:r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ectores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5AC47929-0B65-0F60-C05E-0BB5EB28EC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639" y="2844466"/>
            <a:ext cx="543708" cy="543708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CD8BA5C-AAC3-585F-C2E3-A5DC01787343}"/>
              </a:ext>
            </a:extLst>
          </p:cNvPr>
          <p:cNvSpPr/>
          <p:nvPr/>
        </p:nvSpPr>
        <p:spPr>
          <a:xfrm>
            <a:off x="3264663" y="3978364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0E16DF3-4878-2C72-D836-6C638CB6E599}"/>
              </a:ext>
            </a:extLst>
          </p:cNvPr>
          <p:cNvSpPr/>
          <p:nvPr/>
        </p:nvSpPr>
        <p:spPr>
          <a:xfrm>
            <a:off x="3185022" y="3978364"/>
            <a:ext cx="15376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2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LLM</a:t>
            </a:r>
          </a:p>
        </p:txBody>
      </p:sp>
      <p:pic>
        <p:nvPicPr>
          <p:cNvPr id="30" name="Imagen 29" descr="Logotipo&#10;&#10;El contenido generado por IA puede ser incorrecto.">
            <a:extLst>
              <a:ext uri="{FF2B5EF4-FFF2-40B4-BE49-F238E27FC236}">
                <a16:creationId xmlns:a16="http://schemas.microsoft.com/office/drawing/2014/main" id="{09B374E0-ED15-8D51-0670-4114ED0389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807" y="4498602"/>
            <a:ext cx="704067" cy="70406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2C8200E-006E-A1A3-565D-DC2D14967D35}"/>
              </a:ext>
            </a:extLst>
          </p:cNvPr>
          <p:cNvSpPr/>
          <p:nvPr/>
        </p:nvSpPr>
        <p:spPr>
          <a:xfrm>
            <a:off x="5262387" y="3978364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3CAE58B-2602-2FA7-CB23-FFCC741F8214}"/>
              </a:ext>
            </a:extLst>
          </p:cNvPr>
          <p:cNvSpPr/>
          <p:nvPr/>
        </p:nvSpPr>
        <p:spPr>
          <a:xfrm>
            <a:off x="5193871" y="3966988"/>
            <a:ext cx="1537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0" cap="none" spc="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Prompt</a:t>
            </a:r>
            <a:endParaRPr lang="es-E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7" name="Imagen 26" descr="Icono&#10;&#10;El contenido generado por IA puede ser incorrecto.">
            <a:extLst>
              <a:ext uri="{FF2B5EF4-FFF2-40B4-BE49-F238E27FC236}">
                <a16:creationId xmlns:a16="http://schemas.microsoft.com/office/drawing/2014/main" id="{F2BF8C5D-45D1-FEA8-7E9F-A374BF5ECE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531" y="4418525"/>
            <a:ext cx="778723" cy="77872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D1BF9AF3-EFF8-E705-A8F5-0FD3EA105888}"/>
              </a:ext>
            </a:extLst>
          </p:cNvPr>
          <p:cNvSpPr/>
          <p:nvPr/>
        </p:nvSpPr>
        <p:spPr>
          <a:xfrm>
            <a:off x="8288486" y="2199942"/>
            <a:ext cx="1378338" cy="12926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490CA2E-1342-F481-EC69-C0C39F65F3C5}"/>
              </a:ext>
            </a:extLst>
          </p:cNvPr>
          <p:cNvSpPr/>
          <p:nvPr/>
        </p:nvSpPr>
        <p:spPr>
          <a:xfrm>
            <a:off x="8208845" y="2240420"/>
            <a:ext cx="1537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</a:t>
            </a:r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API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2" name="Imagen 41" descr="Icono&#10;&#10;El contenido generado por IA puede ser incorrecto.">
            <a:extLst>
              <a:ext uri="{FF2B5EF4-FFF2-40B4-BE49-F238E27FC236}">
                <a16:creationId xmlns:a16="http://schemas.microsoft.com/office/drawing/2014/main" id="{9525B4EF-CAA0-6B12-5103-510540328E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474" y="2640529"/>
            <a:ext cx="777873" cy="77787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43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2BA02-FBE8-DF23-26E2-D2DC15C1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AA069FAD-CDE5-BB27-51BB-E8909264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1F79F0-CB7D-2FC1-7B4B-024339DBDC14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07B9DC8-8341-3BAB-F7E8-3DD193CE3E80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¿Qué es un RAG?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2DDCBF39-63D7-B0E8-7984-17570C4B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4EF0EBC2-9C57-ACBA-CFED-9C904B35E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BF197253-96E5-7A78-2CA6-EF35FD01CCA6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8AE3AF3F-7E72-43AA-43B8-CE9E72265545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Retrieval-Augmented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Generation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 RAG es un sistema de IA que responde en base a una fuente de información.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Entrenar un modelo con nuestros datos es muy costoso.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Toda nuestra información no cabe en la ventana de contexto de un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prompt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RAG indexa la información con </a:t>
            </a:r>
            <a:r>
              <a:rPr lang="es-AR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AR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y es capaz de consultar solo los fragmentos relevantes</a:t>
            </a:r>
          </a:p>
        </p:txBody>
      </p:sp>
    </p:spTree>
    <p:extLst>
      <p:ext uri="{BB962C8B-B14F-4D97-AF65-F5344CB8AC3E}">
        <p14:creationId xmlns:p14="http://schemas.microsoft.com/office/powerpoint/2010/main" val="415919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F2BCC-E3D6-7D5C-B1D5-C24078E8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FCB82164-D81C-B2B9-6284-C9A017752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149B49F-A9F3-FB9E-90AB-C31D9CC2A7CE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7C6528-4B7A-6865-08BB-C73B6528420D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endParaRPr lang="es-AR" sz="3200" b="1" spc="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47CF3228-D568-A578-CE83-E160E8389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4E6F5FEB-6CAA-E35C-F092-46901856A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6407136-96ED-A09A-ACCB-C735FB45B0F9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92B7356-6F8A-3E9F-D5A9-1EA52BEF076C}"/>
              </a:ext>
            </a:extLst>
          </p:cNvPr>
          <p:cNvSpPr/>
          <p:nvPr/>
        </p:nvSpPr>
        <p:spPr>
          <a:xfrm>
            <a:off x="2940313" y="4015183"/>
            <a:ext cx="1378338" cy="188828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D3C2720-53AA-925A-BC4A-636E28214C85}"/>
              </a:ext>
            </a:extLst>
          </p:cNvPr>
          <p:cNvSpPr/>
          <p:nvPr/>
        </p:nvSpPr>
        <p:spPr>
          <a:xfrm>
            <a:off x="2951335" y="1420926"/>
            <a:ext cx="1378338" cy="188828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>
              <a:solidFill>
                <a:schemeClr val="bg1"/>
              </a:solidFill>
            </a:endParaRPr>
          </a:p>
        </p:txBody>
      </p:sp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D0429D4B-2A31-7021-8992-23527B5408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8" y="4396301"/>
            <a:ext cx="1259281" cy="12592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BB568687-773A-66D9-63FA-4BBC9D5BA9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270" y="1661321"/>
            <a:ext cx="1259281" cy="12592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309E010-094B-E6D1-E40C-619D9F77D51F}"/>
              </a:ext>
            </a:extLst>
          </p:cNvPr>
          <p:cNvSpPr/>
          <p:nvPr/>
        </p:nvSpPr>
        <p:spPr>
          <a:xfrm>
            <a:off x="4381554" y="781534"/>
            <a:ext cx="6579555" cy="63939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CARACTERÍSTICAS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FDC616C-E9A0-F8D8-26CF-6E436989A39D}"/>
              </a:ext>
            </a:extLst>
          </p:cNvPr>
          <p:cNvSpPr/>
          <p:nvPr/>
        </p:nvSpPr>
        <p:spPr>
          <a:xfrm>
            <a:off x="5065055" y="397790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Vehículo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4DA9C9E-CD4F-5DC2-8754-5B7F1AA6A6E3}"/>
              </a:ext>
            </a:extLst>
          </p:cNvPr>
          <p:cNvSpPr/>
          <p:nvPr/>
        </p:nvSpPr>
        <p:spPr>
          <a:xfrm>
            <a:off x="6430170" y="397790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flota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39DC57B-34CB-735A-42AC-861F560E1E6D}"/>
              </a:ext>
            </a:extLst>
          </p:cNvPr>
          <p:cNvSpPr/>
          <p:nvPr/>
        </p:nvSpPr>
        <p:spPr>
          <a:xfrm>
            <a:off x="7931472" y="397790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alas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55B32CF-DCDB-2B6C-7B65-9AF00749576A}"/>
              </a:ext>
            </a:extLst>
          </p:cNvPr>
          <p:cNvSpPr/>
          <p:nvPr/>
        </p:nvSpPr>
        <p:spPr>
          <a:xfrm>
            <a:off x="9432774" y="397790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50 metros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715CC9A-B364-26DE-F1A2-4F98197CDBE4}"/>
              </a:ext>
            </a:extLst>
          </p:cNvPr>
          <p:cNvSpPr/>
          <p:nvPr/>
        </p:nvSpPr>
        <p:spPr>
          <a:xfrm>
            <a:off x="5065055" y="469451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ser vivo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B3CA8BE-7670-53F0-6F4A-209645420438}"/>
              </a:ext>
            </a:extLst>
          </p:cNvPr>
          <p:cNvSpPr/>
          <p:nvPr/>
        </p:nvSpPr>
        <p:spPr>
          <a:xfrm>
            <a:off x="6430170" y="469451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Vuela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87B7F38-CDC9-7816-C055-A4FBA272DAA3}"/>
              </a:ext>
            </a:extLst>
          </p:cNvPr>
          <p:cNvSpPr/>
          <p:nvPr/>
        </p:nvSpPr>
        <p:spPr>
          <a:xfrm>
            <a:off x="7931472" y="469451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Gasolina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00B0AF1-D889-7844-1CA5-BD0A115B0289}"/>
              </a:ext>
            </a:extLst>
          </p:cNvPr>
          <p:cNvSpPr/>
          <p:nvPr/>
        </p:nvSpPr>
        <p:spPr>
          <a:xfrm>
            <a:off x="9432774" y="469451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Lleva personas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FA02B01-A89C-A0D4-0EDD-10ED800927CD}"/>
              </a:ext>
            </a:extLst>
          </p:cNvPr>
          <p:cNvSpPr/>
          <p:nvPr/>
        </p:nvSpPr>
        <p:spPr>
          <a:xfrm>
            <a:off x="5065055" y="541111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Aviones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55F4440-A837-4D20-8FFF-B8DF50BF0D21}"/>
              </a:ext>
            </a:extLst>
          </p:cNvPr>
          <p:cNvSpPr/>
          <p:nvPr/>
        </p:nvSpPr>
        <p:spPr>
          <a:xfrm>
            <a:off x="6430170" y="541111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motor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034102A3-865C-155C-B85B-9DB9ABF3F984}"/>
              </a:ext>
            </a:extLst>
          </p:cNvPr>
          <p:cNvSpPr/>
          <p:nvPr/>
        </p:nvSpPr>
        <p:spPr>
          <a:xfrm>
            <a:off x="7931472" y="541111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pies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F8228C0-EE53-256A-C8D9-601C72B3D766}"/>
              </a:ext>
            </a:extLst>
          </p:cNvPr>
          <p:cNvSpPr/>
          <p:nvPr/>
        </p:nvSpPr>
        <p:spPr>
          <a:xfrm>
            <a:off x="9432774" y="541111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habla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72DF5AF-C0C2-11B8-56E2-D79A48FD863A}"/>
              </a:ext>
            </a:extLst>
          </p:cNvPr>
          <p:cNvSpPr/>
          <p:nvPr/>
        </p:nvSpPr>
        <p:spPr>
          <a:xfrm>
            <a:off x="5065055" y="1630951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Vehículo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394087F-AC8D-A98C-22A3-C3D06773DFE7}"/>
              </a:ext>
            </a:extLst>
          </p:cNvPr>
          <p:cNvSpPr/>
          <p:nvPr/>
        </p:nvSpPr>
        <p:spPr>
          <a:xfrm>
            <a:off x="6430170" y="1630951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Flota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35F6D2A-D6F8-8ADF-120D-07BCB5C20046}"/>
              </a:ext>
            </a:extLst>
          </p:cNvPr>
          <p:cNvSpPr/>
          <p:nvPr/>
        </p:nvSpPr>
        <p:spPr>
          <a:xfrm>
            <a:off x="7931472" y="1630951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alas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0CB4A6E-C656-5B2E-E23B-41D3A9B0F9C2}"/>
              </a:ext>
            </a:extLst>
          </p:cNvPr>
          <p:cNvSpPr/>
          <p:nvPr/>
        </p:nvSpPr>
        <p:spPr>
          <a:xfrm>
            <a:off x="9432774" y="1630951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80 metros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C7D8566-C99F-B4E5-E2BB-D51E7DD9D56F}"/>
              </a:ext>
            </a:extLst>
          </p:cNvPr>
          <p:cNvSpPr/>
          <p:nvPr/>
        </p:nvSpPr>
        <p:spPr>
          <a:xfrm>
            <a:off x="5065055" y="2347555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ser vivo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E3E1E770-0C80-21C6-C1C4-348B011184CC}"/>
              </a:ext>
            </a:extLst>
          </p:cNvPr>
          <p:cNvSpPr/>
          <p:nvPr/>
        </p:nvSpPr>
        <p:spPr>
          <a:xfrm>
            <a:off x="6430170" y="2347555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vuela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CA648A4B-EB02-D555-CA8C-F0639B9019FF}"/>
              </a:ext>
            </a:extLst>
          </p:cNvPr>
          <p:cNvSpPr/>
          <p:nvPr/>
        </p:nvSpPr>
        <p:spPr>
          <a:xfrm>
            <a:off x="7931472" y="2347555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Gasolina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227C65E1-566B-17C0-78BE-62CAECEED1F4}"/>
              </a:ext>
            </a:extLst>
          </p:cNvPr>
          <p:cNvSpPr/>
          <p:nvPr/>
        </p:nvSpPr>
        <p:spPr>
          <a:xfrm>
            <a:off x="9432774" y="2347555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Lleva personas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45B996C6-379D-F9B7-26F5-B93B2A7DDEDB}"/>
              </a:ext>
            </a:extLst>
          </p:cNvPr>
          <p:cNvSpPr/>
          <p:nvPr/>
        </p:nvSpPr>
        <p:spPr>
          <a:xfrm>
            <a:off x="5065055" y="3064159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Barcos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F6C0A579-EF94-AA67-4D92-E25C7134008B}"/>
              </a:ext>
            </a:extLst>
          </p:cNvPr>
          <p:cNvSpPr/>
          <p:nvPr/>
        </p:nvSpPr>
        <p:spPr>
          <a:xfrm>
            <a:off x="6430170" y="3064159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motor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31E7EAAD-099E-BA19-965B-154087EA4577}"/>
              </a:ext>
            </a:extLst>
          </p:cNvPr>
          <p:cNvSpPr/>
          <p:nvPr/>
        </p:nvSpPr>
        <p:spPr>
          <a:xfrm>
            <a:off x="7931472" y="3064159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pies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00CD3A14-D248-245C-0FF6-D768BB8BC2B5}"/>
              </a:ext>
            </a:extLst>
          </p:cNvPr>
          <p:cNvSpPr/>
          <p:nvPr/>
        </p:nvSpPr>
        <p:spPr>
          <a:xfrm>
            <a:off x="9432774" y="3064159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habla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C3C4D58C-75EA-F566-B390-5EFB31AFB4D8}"/>
              </a:ext>
            </a:extLst>
          </p:cNvPr>
          <p:cNvSpPr/>
          <p:nvPr/>
        </p:nvSpPr>
        <p:spPr>
          <a:xfrm>
            <a:off x="2884485" y="3544739"/>
            <a:ext cx="8430060" cy="30122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40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101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E67A6-476D-BE1E-BBC4-CE7E35B4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BB8698E-6213-87FF-37F2-F2B3BC19C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2ABE016-0619-43FA-066F-34247DD69F89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A2EE3D1-979F-303B-EB7A-09AA40EECE7F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endParaRPr lang="es-AR" sz="3200" b="1" spc="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158EBD6-8D0F-7F00-D530-282849F78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D62EFC92-BBE1-2097-00A0-E0034E8D0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6BEC2783-C571-A267-F472-F87380DC221D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421D40E-E59E-0856-2E92-95BC92B4563F}"/>
              </a:ext>
            </a:extLst>
          </p:cNvPr>
          <p:cNvSpPr/>
          <p:nvPr/>
        </p:nvSpPr>
        <p:spPr>
          <a:xfrm>
            <a:off x="2884485" y="3544739"/>
            <a:ext cx="8430060" cy="30122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40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462E0F6-E38F-0985-073B-28C05C58C80B}"/>
              </a:ext>
            </a:extLst>
          </p:cNvPr>
          <p:cNvSpPr/>
          <p:nvPr/>
        </p:nvSpPr>
        <p:spPr>
          <a:xfrm>
            <a:off x="3194856" y="4039646"/>
            <a:ext cx="1378338" cy="188828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8BAD1B14-CCF9-502D-B845-DA27DD8329CE}"/>
              </a:ext>
            </a:extLst>
          </p:cNvPr>
          <p:cNvSpPr/>
          <p:nvPr/>
        </p:nvSpPr>
        <p:spPr>
          <a:xfrm>
            <a:off x="3228305" y="1414873"/>
            <a:ext cx="1378338" cy="188828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495A137A-25E2-A2B5-C17B-EF2AD2268CFB}"/>
              </a:ext>
            </a:extLst>
          </p:cNvPr>
          <p:cNvSpPr/>
          <p:nvPr/>
        </p:nvSpPr>
        <p:spPr>
          <a:xfrm>
            <a:off x="4848382" y="775480"/>
            <a:ext cx="6579555" cy="63939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CARACTERÍSTICAS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01FF4E40-6AB8-E170-4865-299CDE0D6EF2}"/>
              </a:ext>
            </a:extLst>
          </p:cNvPr>
          <p:cNvSpPr/>
          <p:nvPr/>
        </p:nvSpPr>
        <p:spPr>
          <a:xfrm>
            <a:off x="5308576" y="418525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Humano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9F6C8051-E640-968A-1B30-6574B2CE14AA}"/>
              </a:ext>
            </a:extLst>
          </p:cNvPr>
          <p:cNvSpPr/>
          <p:nvPr/>
        </p:nvSpPr>
        <p:spPr>
          <a:xfrm>
            <a:off x="6673691" y="418525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flota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8EDF110-1FB1-CE42-EA89-5CEF7BF804B7}"/>
              </a:ext>
            </a:extLst>
          </p:cNvPr>
          <p:cNvSpPr/>
          <p:nvPr/>
        </p:nvSpPr>
        <p:spPr>
          <a:xfrm>
            <a:off x="8174993" y="418525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alas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0F6C6A33-3C04-031A-28C3-28D452875779}"/>
              </a:ext>
            </a:extLst>
          </p:cNvPr>
          <p:cNvSpPr/>
          <p:nvPr/>
        </p:nvSpPr>
        <p:spPr>
          <a:xfrm>
            <a:off x="9676295" y="418525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2 manos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425FE5DF-7445-D4F9-AD3F-D6ECD096C09B}"/>
              </a:ext>
            </a:extLst>
          </p:cNvPr>
          <p:cNvSpPr/>
          <p:nvPr/>
        </p:nvSpPr>
        <p:spPr>
          <a:xfrm>
            <a:off x="5308576" y="4901860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 vivo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037DC98-CBD3-F601-99EE-D8BB909A5403}"/>
              </a:ext>
            </a:extLst>
          </p:cNvPr>
          <p:cNvSpPr/>
          <p:nvPr/>
        </p:nvSpPr>
        <p:spPr>
          <a:xfrm>
            <a:off x="6673691" y="4901860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Vuela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D50394FC-D360-C63A-9114-0FBC15DCE7E7}"/>
              </a:ext>
            </a:extLst>
          </p:cNvPr>
          <p:cNvSpPr/>
          <p:nvPr/>
        </p:nvSpPr>
        <p:spPr>
          <a:xfrm>
            <a:off x="8174993" y="4901860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Energía: Comida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84435FA3-661B-FAA5-2506-5871F14E3912}"/>
              </a:ext>
            </a:extLst>
          </p:cNvPr>
          <p:cNvSpPr/>
          <p:nvPr/>
        </p:nvSpPr>
        <p:spPr>
          <a:xfrm>
            <a:off x="9676295" y="4901860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Habla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13959BE-26FD-D98C-EC9E-0AF05CD94F73}"/>
              </a:ext>
            </a:extLst>
          </p:cNvPr>
          <p:cNvSpPr/>
          <p:nvPr/>
        </p:nvSpPr>
        <p:spPr>
          <a:xfrm>
            <a:off x="5308576" y="5618464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Mamifero</a:t>
            </a:r>
            <a:endParaRPr lang="es-ES" sz="1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E25320B-3E2F-E967-C5AB-1F223825B0F2}"/>
              </a:ext>
            </a:extLst>
          </p:cNvPr>
          <p:cNvSpPr/>
          <p:nvPr/>
        </p:nvSpPr>
        <p:spPr>
          <a:xfrm>
            <a:off x="6673691" y="5618464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Camina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732929D2-A608-B414-383D-8710E458ECCF}"/>
              </a:ext>
            </a:extLst>
          </p:cNvPr>
          <p:cNvSpPr/>
          <p:nvPr/>
        </p:nvSpPr>
        <p:spPr>
          <a:xfrm>
            <a:off x="8174993" y="5618464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2 pies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0E31CF65-E178-EA58-2BA4-C5DE991A8531}"/>
              </a:ext>
            </a:extLst>
          </p:cNvPr>
          <p:cNvSpPr/>
          <p:nvPr/>
        </p:nvSpPr>
        <p:spPr>
          <a:xfrm>
            <a:off x="9676295" y="5618464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Ropa amarilla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D8D78FBA-C5F5-65D5-ABAB-0D508D76EB82}"/>
              </a:ext>
            </a:extLst>
          </p:cNvPr>
          <p:cNvSpPr/>
          <p:nvPr/>
        </p:nvSpPr>
        <p:spPr>
          <a:xfrm>
            <a:off x="5342025" y="162489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Humano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E421793A-0417-3473-F2A1-5DFAD87972C2}"/>
              </a:ext>
            </a:extLst>
          </p:cNvPr>
          <p:cNvSpPr/>
          <p:nvPr/>
        </p:nvSpPr>
        <p:spPr>
          <a:xfrm>
            <a:off x="6707140" y="162489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flota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256D6D87-35CB-146B-1A83-D11B7461B51F}"/>
              </a:ext>
            </a:extLst>
          </p:cNvPr>
          <p:cNvSpPr/>
          <p:nvPr/>
        </p:nvSpPr>
        <p:spPr>
          <a:xfrm>
            <a:off x="8208442" y="162489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alas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75FC7890-EA3A-0BA5-EA4D-A915CC692B41}"/>
              </a:ext>
            </a:extLst>
          </p:cNvPr>
          <p:cNvSpPr/>
          <p:nvPr/>
        </p:nvSpPr>
        <p:spPr>
          <a:xfrm>
            <a:off x="9709744" y="1624898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2 manos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90378CD-87B5-274D-B487-76EAD13BB6A1}"/>
              </a:ext>
            </a:extLst>
          </p:cNvPr>
          <p:cNvSpPr/>
          <p:nvPr/>
        </p:nvSpPr>
        <p:spPr>
          <a:xfrm>
            <a:off x="5342025" y="234150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 vivo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D86A16-2119-BF84-A8E1-CCA312BD56ED}"/>
              </a:ext>
            </a:extLst>
          </p:cNvPr>
          <p:cNvSpPr/>
          <p:nvPr/>
        </p:nvSpPr>
        <p:spPr>
          <a:xfrm>
            <a:off x="6707140" y="234150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 vuela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4FBB04D9-53BA-FE82-305F-930238964465}"/>
              </a:ext>
            </a:extLst>
          </p:cNvPr>
          <p:cNvSpPr/>
          <p:nvPr/>
        </p:nvSpPr>
        <p:spPr>
          <a:xfrm>
            <a:off x="8208442" y="234150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Enerigía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Comida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2B8F5881-0B72-8F22-9844-9B61D4B88811}"/>
              </a:ext>
            </a:extLst>
          </p:cNvPr>
          <p:cNvSpPr/>
          <p:nvPr/>
        </p:nvSpPr>
        <p:spPr>
          <a:xfrm>
            <a:off x="9709744" y="2341502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Habla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D5C61FD3-6525-F3B9-4FF8-07389CFAD9F6}"/>
              </a:ext>
            </a:extLst>
          </p:cNvPr>
          <p:cNvSpPr/>
          <p:nvPr/>
        </p:nvSpPr>
        <p:spPr>
          <a:xfrm>
            <a:off x="5342025" y="305810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Mamífero</a:t>
            </a: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30C01B8-3AB0-BD6B-CA30-D7617AB3BF47}"/>
              </a:ext>
            </a:extLst>
          </p:cNvPr>
          <p:cNvSpPr/>
          <p:nvPr/>
        </p:nvSpPr>
        <p:spPr>
          <a:xfrm>
            <a:off x="6707140" y="305810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Camina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48F1907A-4F56-101F-D7A7-9C66912B3802}"/>
              </a:ext>
            </a:extLst>
          </p:cNvPr>
          <p:cNvSpPr/>
          <p:nvPr/>
        </p:nvSpPr>
        <p:spPr>
          <a:xfrm>
            <a:off x="8208442" y="305810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Tiene 2 pies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11C74A20-FF6C-594F-959B-AFB1656FFE6A}"/>
              </a:ext>
            </a:extLst>
          </p:cNvPr>
          <p:cNvSpPr/>
          <p:nvPr/>
        </p:nvSpPr>
        <p:spPr>
          <a:xfrm>
            <a:off x="9709744" y="3058106"/>
            <a:ext cx="1160410" cy="40338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Ropa verde</a:t>
            </a:r>
          </a:p>
        </p:txBody>
      </p:sp>
      <p:pic>
        <p:nvPicPr>
          <p:cNvPr id="66" name="Imagen 65" descr="Icono&#10;&#10;El contenido generado por IA puede ser incorrecto.">
            <a:extLst>
              <a:ext uri="{FF2B5EF4-FFF2-40B4-BE49-F238E27FC236}">
                <a16:creationId xmlns:a16="http://schemas.microsoft.com/office/drawing/2014/main" id="{0AA19C1B-DB11-A76F-818E-5DEBB2151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85" y="4262030"/>
            <a:ext cx="1279660" cy="127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E6DAAF5D-BD2F-5D5C-3375-43949497DC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592" y="1753730"/>
            <a:ext cx="1175544" cy="11755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22143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0A829-EBFB-4C4E-7445-C7E1FF7D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051A420B-68A7-2F17-5B36-8794661D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5CB4611-5B3A-9E71-D9F3-3F4EB47169F6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45966F-9FC5-ED06-6172-5A1C9E70FDC9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endParaRPr lang="es-AR" sz="3200" b="1" spc="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E8578CA7-9C83-3247-4144-732971493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58E49309-F974-3ED0-0BA1-CF69472C9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606F4AA4-D2ED-2CA4-F33D-D7F05EE9C0A7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6A32A72-B192-C539-2E04-E2DD62296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744382"/>
              </p:ext>
            </p:extLst>
          </p:nvPr>
        </p:nvGraphicFramePr>
        <p:xfrm>
          <a:off x="1008380" y="2232277"/>
          <a:ext cx="10604500" cy="3659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20645">
                  <a:extLst>
                    <a:ext uri="{9D8B030D-6E8A-4147-A177-3AD203B41FA5}">
                      <a16:colId xmlns:a16="http://schemas.microsoft.com/office/drawing/2014/main" val="1298852624"/>
                    </a:ext>
                  </a:extLst>
                </a:gridCol>
                <a:gridCol w="849449">
                  <a:extLst>
                    <a:ext uri="{9D8B030D-6E8A-4147-A177-3AD203B41FA5}">
                      <a16:colId xmlns:a16="http://schemas.microsoft.com/office/drawing/2014/main" val="2400329934"/>
                    </a:ext>
                  </a:extLst>
                </a:gridCol>
                <a:gridCol w="1136144">
                  <a:extLst>
                    <a:ext uri="{9D8B030D-6E8A-4147-A177-3AD203B41FA5}">
                      <a16:colId xmlns:a16="http://schemas.microsoft.com/office/drawing/2014/main" val="2540234774"/>
                    </a:ext>
                  </a:extLst>
                </a:gridCol>
                <a:gridCol w="980278">
                  <a:extLst>
                    <a:ext uri="{9D8B030D-6E8A-4147-A177-3AD203B41FA5}">
                      <a16:colId xmlns:a16="http://schemas.microsoft.com/office/drawing/2014/main" val="3953087941"/>
                    </a:ext>
                  </a:extLst>
                </a:gridCol>
                <a:gridCol w="814253">
                  <a:extLst>
                    <a:ext uri="{9D8B030D-6E8A-4147-A177-3AD203B41FA5}">
                      <a16:colId xmlns:a16="http://schemas.microsoft.com/office/drawing/2014/main" val="2177906337"/>
                    </a:ext>
                  </a:extLst>
                </a:gridCol>
                <a:gridCol w="858804">
                  <a:extLst>
                    <a:ext uri="{9D8B030D-6E8A-4147-A177-3AD203B41FA5}">
                      <a16:colId xmlns:a16="http://schemas.microsoft.com/office/drawing/2014/main" val="3421569951"/>
                    </a:ext>
                  </a:extLst>
                </a:gridCol>
                <a:gridCol w="1004866">
                  <a:extLst>
                    <a:ext uri="{9D8B030D-6E8A-4147-A177-3AD203B41FA5}">
                      <a16:colId xmlns:a16="http://schemas.microsoft.com/office/drawing/2014/main" val="3421353581"/>
                    </a:ext>
                  </a:extLst>
                </a:gridCol>
                <a:gridCol w="959981">
                  <a:extLst>
                    <a:ext uri="{9D8B030D-6E8A-4147-A177-3AD203B41FA5}">
                      <a16:colId xmlns:a16="http://schemas.microsoft.com/office/drawing/2014/main" val="1949275501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3225799754"/>
                    </a:ext>
                  </a:extLst>
                </a:gridCol>
                <a:gridCol w="2256444">
                  <a:extLst>
                    <a:ext uri="{9D8B030D-6E8A-4147-A177-3AD203B41FA5}">
                      <a16:colId xmlns:a16="http://schemas.microsoft.com/office/drawing/2014/main" val="724216226"/>
                    </a:ext>
                  </a:extLst>
                </a:gridCol>
              </a:tblGrid>
              <a:tr h="1172092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VIVO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HUMANO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ANIMAL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VUELA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FLOTA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CAMINA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Género</a:t>
                      </a:r>
                    </a:p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Masculino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Género</a:t>
                      </a:r>
                    </a:p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Femenino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67652"/>
                  </a:ext>
                </a:extLst>
              </a:tr>
              <a:tr h="603634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[0,0,0,0,1,0,0,0]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381405"/>
                  </a:ext>
                </a:extLst>
              </a:tr>
              <a:tr h="603634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[0,0,0,1,0,0,0,0]</a:t>
                      </a:r>
                    </a:p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6744"/>
                  </a:ext>
                </a:extLst>
              </a:tr>
              <a:tr h="603634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[1,1,0,0,0,1,0,1]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607455"/>
                  </a:ext>
                </a:extLst>
              </a:tr>
              <a:tr h="603634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/>
                          </a:solidFill>
                        </a:rPr>
                        <a:t>[1,1,0,0,0,1,1,0]</a:t>
                      </a:r>
                    </a:p>
                    <a:p>
                      <a:pPr algn="ctr"/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522849"/>
                  </a:ext>
                </a:extLst>
              </a:tr>
            </a:tbl>
          </a:graphicData>
        </a:graphic>
      </p:graphicFrame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84555960-217A-1388-BB30-53DB3BF8B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00" y="4044232"/>
            <a:ext cx="590548" cy="590548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9FB92A73-FF34-87FE-561A-574DB2E60F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706" y="3402699"/>
            <a:ext cx="521242" cy="521242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B4F50C21-99BB-80AF-7A9A-E98261269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706" y="5256936"/>
            <a:ext cx="452576" cy="45257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1A1471F-D82E-28E5-869C-783C54BBF7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706" y="4722785"/>
            <a:ext cx="429772" cy="42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81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CB03-1474-BCF8-78F4-69F53398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64530627-3EE1-7946-7B8A-9EEA53A80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905F25-907D-F327-87DC-4D36B14ADF4F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08AE38D-024A-ABEF-043B-68A894570920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Similitud (cosenos)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EB4D9F26-B4D3-4DFD-EEFF-538ADC492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145FCF63-3D76-39D6-9943-D35629D25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68A4DD18-1E14-1EBD-BC8C-6575280970F8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F0E89445-0F59-AA20-59DE-5A0C7B846F29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D1AD256-8041-D5CE-588E-0722EF05DD41}"/>
              </a:ext>
            </a:extLst>
          </p:cNvPr>
          <p:cNvSpPr/>
          <p:nvPr/>
        </p:nvSpPr>
        <p:spPr>
          <a:xfrm>
            <a:off x="4590910" y="974833"/>
            <a:ext cx="6789031" cy="63939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Perro [50, 10]				Gato [48, 12]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0AD173A-0ED1-2209-2458-FDFA00505F54}"/>
              </a:ext>
            </a:extLst>
          </p:cNvPr>
          <p:cNvSpPr/>
          <p:nvPr/>
        </p:nvSpPr>
        <p:spPr>
          <a:xfrm>
            <a:off x="8814949" y="1162934"/>
            <a:ext cx="280327" cy="280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0124940-A8A1-3588-34C2-2A68E7830B16}"/>
              </a:ext>
            </a:extLst>
          </p:cNvPr>
          <p:cNvSpPr/>
          <p:nvPr/>
        </p:nvSpPr>
        <p:spPr>
          <a:xfrm>
            <a:off x="4766672" y="1154365"/>
            <a:ext cx="280327" cy="28032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A03DA5E-42E4-DDE8-926B-7450F7583981}"/>
              </a:ext>
            </a:extLst>
          </p:cNvPr>
          <p:cNvSpPr/>
          <p:nvPr/>
        </p:nvSpPr>
        <p:spPr>
          <a:xfrm>
            <a:off x="6558500" y="2010466"/>
            <a:ext cx="4574320" cy="162740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Perro: 13.3º</a:t>
            </a:r>
            <a:b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Gato: 14,04º</a:t>
            </a:r>
            <a:b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Diferencia: 0,74º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Similaridad Coseno = Cos(0,74) = 0,9999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Distancia Coseno = 1- Cos(0,74) = 0,001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3B5707D9-A73D-A33A-63FF-8D09DFAB0178}"/>
              </a:ext>
            </a:extLst>
          </p:cNvPr>
          <p:cNvGrpSpPr/>
          <p:nvPr/>
        </p:nvGrpSpPr>
        <p:grpSpPr>
          <a:xfrm>
            <a:off x="1146642" y="2034029"/>
            <a:ext cx="6144945" cy="3827796"/>
            <a:chOff x="1160547" y="2025035"/>
            <a:chExt cx="6144945" cy="3827796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E9BF8EB-802B-5658-8563-3E5D344B3531}"/>
                </a:ext>
              </a:extLst>
            </p:cNvPr>
            <p:cNvSpPr/>
            <p:nvPr/>
          </p:nvSpPr>
          <p:spPr>
            <a:xfrm>
              <a:off x="5962814" y="4009926"/>
              <a:ext cx="280327" cy="28032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4F13A088-F311-3D4F-7DF3-7773B3D12869}"/>
                </a:ext>
              </a:extLst>
            </p:cNvPr>
            <p:cNvSpPr/>
            <p:nvPr/>
          </p:nvSpPr>
          <p:spPr>
            <a:xfrm>
              <a:off x="6243142" y="4211777"/>
              <a:ext cx="280327" cy="280327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FE8762D8-4E67-F097-ADAF-71C5C0A37E96}"/>
                </a:ext>
              </a:extLst>
            </p:cNvPr>
            <p:cNvCxnSpPr/>
            <p:nvPr/>
          </p:nvCxnSpPr>
          <p:spPr>
            <a:xfrm>
              <a:off x="1764583" y="4377779"/>
              <a:ext cx="460648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28701AB-8A81-A3A3-8968-60E6370C7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1069" y="4377779"/>
              <a:ext cx="0" cy="72355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DC8881CD-34E7-C3D4-32C1-FB03951CB2C3}"/>
                </a:ext>
              </a:extLst>
            </p:cNvPr>
            <p:cNvCxnSpPr>
              <a:cxnSpLocks/>
            </p:cNvCxnSpPr>
            <p:nvPr/>
          </p:nvCxnSpPr>
          <p:spPr>
            <a:xfrm>
              <a:off x="1764583" y="4211777"/>
              <a:ext cx="44184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5E4BD4F8-0DE6-71F8-C1BC-08B22759B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3069" y="4211777"/>
              <a:ext cx="0" cy="8895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B5215D35-9F79-CD71-DD55-B4B02FF250D7}"/>
                </a:ext>
              </a:extLst>
            </p:cNvPr>
            <p:cNvCxnSpPr/>
            <p:nvPr/>
          </p:nvCxnSpPr>
          <p:spPr>
            <a:xfrm flipV="1">
              <a:off x="1764583" y="4150089"/>
              <a:ext cx="4338394" cy="951249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5583338C-01D8-F653-8D29-DA5941E64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768" y="4351940"/>
              <a:ext cx="4651537" cy="749398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8" name="Arco 47">
              <a:extLst>
                <a:ext uri="{FF2B5EF4-FFF2-40B4-BE49-F238E27FC236}">
                  <a16:creationId xmlns:a16="http://schemas.microsoft.com/office/drawing/2014/main" id="{17C1BEEB-DF72-9EA5-8A97-06A653550E15}"/>
                </a:ext>
              </a:extLst>
            </p:cNvPr>
            <p:cNvSpPr/>
            <p:nvPr/>
          </p:nvSpPr>
          <p:spPr>
            <a:xfrm>
              <a:off x="3326624" y="4829184"/>
              <a:ext cx="312374" cy="646421"/>
            </a:xfrm>
            <a:prstGeom prst="arc">
              <a:avLst>
                <a:gd name="adj1" fmla="val 16200000"/>
                <a:gd name="adj2" fmla="val 21380098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Arco 48">
              <a:extLst>
                <a:ext uri="{FF2B5EF4-FFF2-40B4-BE49-F238E27FC236}">
                  <a16:creationId xmlns:a16="http://schemas.microsoft.com/office/drawing/2014/main" id="{6353EB5C-D894-9D07-1C48-80399BE24F5E}"/>
                </a:ext>
              </a:extLst>
            </p:cNvPr>
            <p:cNvSpPr/>
            <p:nvPr/>
          </p:nvSpPr>
          <p:spPr>
            <a:xfrm>
              <a:off x="3898219" y="4544645"/>
              <a:ext cx="857632" cy="1248118"/>
            </a:xfrm>
            <a:prstGeom prst="arc">
              <a:avLst>
                <a:gd name="adj1" fmla="val 16200000"/>
                <a:gd name="adj2" fmla="val 21380098"/>
              </a:avLst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FEB2026-0FB1-CDF7-3595-950E058C4021}"/>
                </a:ext>
              </a:extLst>
            </p:cNvPr>
            <p:cNvSpPr txBox="1"/>
            <p:nvPr/>
          </p:nvSpPr>
          <p:spPr>
            <a:xfrm>
              <a:off x="3649632" y="4756485"/>
              <a:ext cx="691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13,3º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E2CB485D-B46B-21A4-F3CA-E57586F1730C}"/>
                </a:ext>
              </a:extLst>
            </p:cNvPr>
            <p:cNvSpPr txBox="1"/>
            <p:nvPr/>
          </p:nvSpPr>
          <p:spPr>
            <a:xfrm>
              <a:off x="4687060" y="4710815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FF00"/>
                  </a:solidFill>
                </a:rPr>
                <a:t>14,04º</a:t>
              </a:r>
            </a:p>
          </p:txBody>
        </p:sp>
        <p:sp>
          <p:nvSpPr>
            <p:cNvPr id="52" name="Arco 51">
              <a:extLst>
                <a:ext uri="{FF2B5EF4-FFF2-40B4-BE49-F238E27FC236}">
                  <a16:creationId xmlns:a16="http://schemas.microsoft.com/office/drawing/2014/main" id="{34C7C551-55B2-52EB-4BE7-0BB1A5745C34}"/>
                </a:ext>
              </a:extLst>
            </p:cNvPr>
            <p:cNvSpPr/>
            <p:nvPr/>
          </p:nvSpPr>
          <p:spPr>
            <a:xfrm>
              <a:off x="5041095" y="4366146"/>
              <a:ext cx="279860" cy="369331"/>
            </a:xfrm>
            <a:prstGeom prst="arc">
              <a:avLst>
                <a:gd name="adj1" fmla="val 16200000"/>
                <a:gd name="adj2" fmla="val 21380098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50DB99A7-418A-B605-331A-144828130824}"/>
                </a:ext>
              </a:extLst>
            </p:cNvPr>
            <p:cNvSpPr txBox="1"/>
            <p:nvPr/>
          </p:nvSpPr>
          <p:spPr>
            <a:xfrm>
              <a:off x="5315079" y="4221532"/>
              <a:ext cx="724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highlight>
                    <a:srgbClr val="FFFF00"/>
                  </a:highlight>
                </a:rPr>
                <a:t>0,74º</a:t>
              </a:r>
            </a:p>
          </p:txBody>
        </p:sp>
        <p:sp>
          <p:nvSpPr>
            <p:cNvPr id="16" name="Marcador de contenido 2">
              <a:extLst>
                <a:ext uri="{FF2B5EF4-FFF2-40B4-BE49-F238E27FC236}">
                  <a16:creationId xmlns:a16="http://schemas.microsoft.com/office/drawing/2014/main" id="{C0305525-B03F-83F5-580F-D7765F761F47}"/>
                </a:ext>
              </a:extLst>
            </p:cNvPr>
            <p:cNvSpPr txBox="1">
              <a:spLocks/>
            </p:cNvSpPr>
            <p:nvPr/>
          </p:nvSpPr>
          <p:spPr>
            <a:xfrm>
              <a:off x="1612184" y="5206410"/>
              <a:ext cx="5272817" cy="646421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s-ES">
                  <a:solidFill>
                    <a:schemeClr val="bg1"/>
                  </a:solidFill>
                </a:rPr>
                <a:t>0	10	20	30	40	50	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BD582CB8-5E69-CA4A-0BD4-C3FBDFEC4A15}"/>
                </a:ext>
              </a:extLst>
            </p:cNvPr>
            <p:cNvSpPr txBox="1">
              <a:spLocks/>
            </p:cNvSpPr>
            <p:nvPr/>
          </p:nvSpPr>
          <p:spPr>
            <a:xfrm>
              <a:off x="1160547" y="2025035"/>
              <a:ext cx="678569" cy="3574170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marL="182880" indent="-18288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itchFamily="18" charset="2"/>
                <a:buChar char="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18288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 2" pitchFamily="18" charset="2"/>
                <a:buNone/>
              </a:pPr>
              <a:r>
                <a:rPr lang="es-ES" dirty="0">
                  <a:solidFill>
                    <a:schemeClr val="bg1"/>
                  </a:solidFill>
                </a:rPr>
                <a:t>40</a:t>
              </a:r>
            </a:p>
            <a:p>
              <a:pPr marL="0" indent="0">
                <a:buFont typeface="Wingdings 2" pitchFamily="18" charset="2"/>
                <a:buNone/>
              </a:pPr>
              <a:endParaRPr lang="es-ES" dirty="0">
                <a:solidFill>
                  <a:schemeClr val="bg1"/>
                </a:solidFill>
              </a:endParaRPr>
            </a:p>
            <a:p>
              <a:pPr marL="0" indent="0">
                <a:buFont typeface="Wingdings 2" pitchFamily="18" charset="2"/>
                <a:buNone/>
              </a:pPr>
              <a:r>
                <a:rPr lang="es-ES" dirty="0">
                  <a:solidFill>
                    <a:schemeClr val="bg1"/>
                  </a:solidFill>
                </a:rPr>
                <a:t>30</a:t>
              </a:r>
            </a:p>
            <a:p>
              <a:pPr marL="0" indent="0">
                <a:buFont typeface="Wingdings 2" pitchFamily="18" charset="2"/>
                <a:buNone/>
              </a:pPr>
              <a:endParaRPr lang="es-ES" dirty="0">
                <a:solidFill>
                  <a:schemeClr val="bg1"/>
                </a:solidFill>
              </a:endParaRPr>
            </a:p>
            <a:p>
              <a:pPr marL="0" indent="0">
                <a:buFont typeface="Wingdings 2" pitchFamily="18" charset="2"/>
                <a:buNone/>
              </a:pPr>
              <a:r>
                <a:rPr lang="es-ES" dirty="0">
                  <a:solidFill>
                    <a:schemeClr val="bg1"/>
                  </a:solidFill>
                </a:rPr>
                <a:t>20</a:t>
              </a:r>
            </a:p>
            <a:p>
              <a:pPr marL="0" indent="0">
                <a:buFont typeface="Wingdings 2" pitchFamily="18" charset="2"/>
                <a:buNone/>
              </a:pPr>
              <a:endParaRPr lang="es-ES" dirty="0">
                <a:solidFill>
                  <a:schemeClr val="bg1"/>
                </a:solidFill>
              </a:endParaRPr>
            </a:p>
            <a:p>
              <a:pPr marL="0" indent="0">
                <a:buFont typeface="Wingdings 2" pitchFamily="18" charset="2"/>
                <a:buNone/>
              </a:pPr>
              <a:r>
                <a:rPr lang="es-ES" dirty="0">
                  <a:solidFill>
                    <a:schemeClr val="bg1"/>
                  </a:solidFill>
                </a:rPr>
                <a:t>10</a:t>
              </a:r>
            </a:p>
            <a:p>
              <a:pPr marL="0" indent="0">
                <a:buFont typeface="Wingdings 2" pitchFamily="18" charset="2"/>
                <a:buNone/>
              </a:pPr>
              <a:endParaRPr lang="es-ES" dirty="0">
                <a:solidFill>
                  <a:schemeClr val="bg1"/>
                </a:solidFill>
              </a:endParaRPr>
            </a:p>
            <a:p>
              <a:pPr marL="0" indent="0">
                <a:buFont typeface="Wingdings 2" pitchFamily="18" charset="2"/>
                <a:buNone/>
              </a:pPr>
              <a:r>
                <a:rPr lang="es-ES" dirty="0">
                  <a:solidFill>
                    <a:schemeClr val="bg1"/>
                  </a:solidFill>
                </a:rPr>
                <a:t>0	</a:t>
              </a:r>
            </a:p>
          </p:txBody>
        </p: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284E1843-F815-9007-1430-088B83884BE8}"/>
                </a:ext>
              </a:extLst>
            </p:cNvPr>
            <p:cNvCxnSpPr>
              <a:cxnSpLocks/>
            </p:cNvCxnSpPr>
            <p:nvPr/>
          </p:nvCxnSpPr>
          <p:spPr>
            <a:xfrm>
              <a:off x="1612184" y="5101338"/>
              <a:ext cx="5693308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E90CE353-D1BD-39A1-ECA5-CE9111927D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4583" y="2025035"/>
              <a:ext cx="1" cy="3228703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70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89E8-7A9C-BC85-E5F7-A9330091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D2C9FF03-B731-033A-568A-ABFFBF525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613C61-B321-FE2D-A378-FA8FE69AE579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A9FF0AE-9336-09AD-5212-A62E87FC95EE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Similitud (cosenos)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51FA7677-A67B-B620-C5A8-82D4C5A95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A4795B91-6572-4798-DE71-EE3932031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FF4A53E6-6BE0-3249-4460-1E68670D45E0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87E93F54-6614-EC64-F57B-D7B171C511B6}"/>
              </a:ext>
            </a:extLst>
          </p:cNvPr>
          <p:cNvSpPr/>
          <p:nvPr/>
        </p:nvSpPr>
        <p:spPr>
          <a:xfrm>
            <a:off x="825500" y="1905000"/>
            <a:ext cx="10541000" cy="44958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EEE6BF0-5AA2-0810-C470-3911B99DE9B9}"/>
              </a:ext>
            </a:extLst>
          </p:cNvPr>
          <p:cNvSpPr txBox="1">
            <a:spLocks/>
          </p:cNvSpPr>
          <p:nvPr/>
        </p:nvSpPr>
        <p:spPr>
          <a:xfrm>
            <a:off x="1830891" y="5617219"/>
            <a:ext cx="5272817" cy="64642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S">
                <a:solidFill>
                  <a:schemeClr val="bg1"/>
                </a:solidFill>
              </a:rPr>
              <a:t>0	10	20	30	40	50	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49E74E0-9D8E-F504-4D28-56F0710FD971}"/>
              </a:ext>
            </a:extLst>
          </p:cNvPr>
          <p:cNvSpPr txBox="1">
            <a:spLocks/>
          </p:cNvSpPr>
          <p:nvPr/>
        </p:nvSpPr>
        <p:spPr>
          <a:xfrm>
            <a:off x="1379254" y="1953358"/>
            <a:ext cx="678569" cy="4056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50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40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30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20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10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0	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46D0B64-7F86-2C56-06C2-0BEE628D57FD}"/>
              </a:ext>
            </a:extLst>
          </p:cNvPr>
          <p:cNvSpPr/>
          <p:nvPr/>
        </p:nvSpPr>
        <p:spPr>
          <a:xfrm>
            <a:off x="4606485" y="808407"/>
            <a:ext cx="6789031" cy="63939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Manzana [10, 50]			Plátano [12, 48]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4A75826-069D-E051-D0F4-64A131D8468D}"/>
              </a:ext>
            </a:extLst>
          </p:cNvPr>
          <p:cNvSpPr/>
          <p:nvPr/>
        </p:nvSpPr>
        <p:spPr>
          <a:xfrm>
            <a:off x="8811138" y="969532"/>
            <a:ext cx="280327" cy="2803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3201B7-15DD-1420-ABD4-E8F5A6C4B2A6}"/>
              </a:ext>
            </a:extLst>
          </p:cNvPr>
          <p:cNvSpPr/>
          <p:nvPr/>
        </p:nvSpPr>
        <p:spPr>
          <a:xfrm>
            <a:off x="4782247" y="987939"/>
            <a:ext cx="280327" cy="280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AEEC06C-2FB8-6694-ECE0-92FE7FB9D2BB}"/>
              </a:ext>
            </a:extLst>
          </p:cNvPr>
          <p:cNvCxnSpPr>
            <a:cxnSpLocks/>
          </p:cNvCxnSpPr>
          <p:nvPr/>
        </p:nvCxnSpPr>
        <p:spPr>
          <a:xfrm>
            <a:off x="1950475" y="2387121"/>
            <a:ext cx="130874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D8ABCEE-448B-AAFC-B777-C4667FE08340}"/>
              </a:ext>
            </a:extLst>
          </p:cNvPr>
          <p:cNvCxnSpPr>
            <a:cxnSpLocks/>
          </p:cNvCxnSpPr>
          <p:nvPr/>
        </p:nvCxnSpPr>
        <p:spPr>
          <a:xfrm flipV="1">
            <a:off x="3259224" y="2387121"/>
            <a:ext cx="0" cy="31250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905220C-2EA8-8F2D-0E0E-1294E0A4D6C1}"/>
              </a:ext>
            </a:extLst>
          </p:cNvPr>
          <p:cNvCxnSpPr>
            <a:cxnSpLocks/>
          </p:cNvCxnSpPr>
          <p:nvPr/>
        </p:nvCxnSpPr>
        <p:spPr>
          <a:xfrm>
            <a:off x="1966639" y="2211865"/>
            <a:ext cx="99112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8DAFD72-47FB-156B-D7C7-2817DC88D757}"/>
              </a:ext>
            </a:extLst>
          </p:cNvPr>
          <p:cNvCxnSpPr>
            <a:cxnSpLocks/>
          </p:cNvCxnSpPr>
          <p:nvPr/>
        </p:nvCxnSpPr>
        <p:spPr>
          <a:xfrm flipV="1">
            <a:off x="2957759" y="2211865"/>
            <a:ext cx="0" cy="327909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DCF885D-5AAB-D53D-F6B1-7A1082FBCBA2}"/>
              </a:ext>
            </a:extLst>
          </p:cNvPr>
          <p:cNvCxnSpPr>
            <a:cxnSpLocks/>
          </p:cNvCxnSpPr>
          <p:nvPr/>
        </p:nvCxnSpPr>
        <p:spPr>
          <a:xfrm>
            <a:off x="1830891" y="5512147"/>
            <a:ext cx="5693308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4C2CD07-A8FB-72EC-602F-0FC43372167D}"/>
              </a:ext>
            </a:extLst>
          </p:cNvPr>
          <p:cNvCxnSpPr>
            <a:cxnSpLocks/>
          </p:cNvCxnSpPr>
          <p:nvPr/>
        </p:nvCxnSpPr>
        <p:spPr>
          <a:xfrm flipV="1">
            <a:off x="1983291" y="1898550"/>
            <a:ext cx="0" cy="376599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48D28326-7764-27A1-7467-B291C081162E}"/>
              </a:ext>
            </a:extLst>
          </p:cNvPr>
          <p:cNvCxnSpPr>
            <a:cxnSpLocks/>
          </p:cNvCxnSpPr>
          <p:nvPr/>
        </p:nvCxnSpPr>
        <p:spPr>
          <a:xfrm flipV="1">
            <a:off x="1983290" y="2254527"/>
            <a:ext cx="970735" cy="325762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D32B61D-727F-2054-1AA8-6AB47827B173}"/>
              </a:ext>
            </a:extLst>
          </p:cNvPr>
          <p:cNvCxnSpPr>
            <a:cxnSpLocks/>
          </p:cNvCxnSpPr>
          <p:nvPr/>
        </p:nvCxnSpPr>
        <p:spPr>
          <a:xfrm flipV="1">
            <a:off x="1950475" y="2423706"/>
            <a:ext cx="1308749" cy="3088441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Arco 25">
            <a:extLst>
              <a:ext uri="{FF2B5EF4-FFF2-40B4-BE49-F238E27FC236}">
                <a16:creationId xmlns:a16="http://schemas.microsoft.com/office/drawing/2014/main" id="{7B67985F-DFAF-A2FD-B891-2B95182DD13B}"/>
              </a:ext>
            </a:extLst>
          </p:cNvPr>
          <p:cNvSpPr/>
          <p:nvPr/>
        </p:nvSpPr>
        <p:spPr>
          <a:xfrm>
            <a:off x="1917299" y="5219720"/>
            <a:ext cx="312374" cy="646421"/>
          </a:xfrm>
          <a:prstGeom prst="arc">
            <a:avLst>
              <a:gd name="adj1" fmla="val 16200000"/>
              <a:gd name="adj2" fmla="val 21380098"/>
            </a:avLst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0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A2A8B2-292D-B1D0-7594-711D06C47AD2}"/>
              </a:ext>
            </a:extLst>
          </p:cNvPr>
          <p:cNvSpPr txBox="1"/>
          <p:nvPr/>
        </p:nvSpPr>
        <p:spPr>
          <a:xfrm>
            <a:off x="2226209" y="510290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75,96º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5FE29AE-CD7D-DC60-93E1-ED378C3FE762}"/>
              </a:ext>
            </a:extLst>
          </p:cNvPr>
          <p:cNvSpPr txBox="1"/>
          <p:nvPr/>
        </p:nvSpPr>
        <p:spPr>
          <a:xfrm>
            <a:off x="3558062" y="48119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6"/>
                </a:solidFill>
              </a:rPr>
              <a:t>76,6º</a:t>
            </a:r>
          </a:p>
        </p:txBody>
      </p:sp>
      <p:sp>
        <p:nvSpPr>
          <p:cNvPr id="29" name="Arco 28">
            <a:extLst>
              <a:ext uri="{FF2B5EF4-FFF2-40B4-BE49-F238E27FC236}">
                <a16:creationId xmlns:a16="http://schemas.microsoft.com/office/drawing/2014/main" id="{731D82D2-3F3C-67A8-57A2-A7AB6A694D62}"/>
              </a:ext>
            </a:extLst>
          </p:cNvPr>
          <p:cNvSpPr/>
          <p:nvPr/>
        </p:nvSpPr>
        <p:spPr>
          <a:xfrm>
            <a:off x="2532219" y="3279370"/>
            <a:ext cx="279860" cy="369331"/>
          </a:xfrm>
          <a:prstGeom prst="arc">
            <a:avLst>
              <a:gd name="adj1" fmla="val 16200000"/>
              <a:gd name="adj2" fmla="val 21380098"/>
            </a:avLst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BB0F5F5-B01C-C312-76ED-7D147A042D61}"/>
              </a:ext>
            </a:extLst>
          </p:cNvPr>
          <p:cNvSpPr txBox="1"/>
          <p:nvPr/>
        </p:nvSpPr>
        <p:spPr>
          <a:xfrm>
            <a:off x="2716823" y="2948491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0,74º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1DF37D71-4006-56F2-09C6-1933AC4B86B5}"/>
              </a:ext>
            </a:extLst>
          </p:cNvPr>
          <p:cNvSpPr/>
          <p:nvPr/>
        </p:nvSpPr>
        <p:spPr>
          <a:xfrm>
            <a:off x="6558500" y="2106794"/>
            <a:ext cx="4574320" cy="162740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Manzana: 76,6º 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Plátano: 75,96º</a:t>
            </a:r>
            <a:b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Diferencia: 0,74º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Similaridad Coseno = Cos(0,74) = 0,9999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Distancia Coseno = 1- Cos(0,74) = 0,001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5FAB85B6-6E44-A02C-14FD-6586F12FB400}"/>
              </a:ext>
            </a:extLst>
          </p:cNvPr>
          <p:cNvSpPr/>
          <p:nvPr/>
        </p:nvSpPr>
        <p:spPr>
          <a:xfrm>
            <a:off x="3125142" y="2277091"/>
            <a:ext cx="280327" cy="2803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74048C6-2C74-F774-B65C-57A1EF67DB06}"/>
              </a:ext>
            </a:extLst>
          </p:cNvPr>
          <p:cNvSpPr/>
          <p:nvPr/>
        </p:nvSpPr>
        <p:spPr>
          <a:xfrm>
            <a:off x="2834247" y="2106794"/>
            <a:ext cx="280327" cy="280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Arco 33">
            <a:extLst>
              <a:ext uri="{FF2B5EF4-FFF2-40B4-BE49-F238E27FC236}">
                <a16:creationId xmlns:a16="http://schemas.microsoft.com/office/drawing/2014/main" id="{29888354-9159-CFDF-1375-696536EF56CA}"/>
              </a:ext>
            </a:extLst>
          </p:cNvPr>
          <p:cNvSpPr/>
          <p:nvPr/>
        </p:nvSpPr>
        <p:spPr>
          <a:xfrm>
            <a:off x="1628127" y="3722513"/>
            <a:ext cx="1808184" cy="3130124"/>
          </a:xfrm>
          <a:prstGeom prst="arc">
            <a:avLst>
              <a:gd name="adj1" fmla="val 16200000"/>
              <a:gd name="adj2" fmla="val 690263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74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2ECB-D15F-C98A-ED25-8D7C1DCF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AD81DF9-3240-3D8C-9DC5-81D5E89CE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DAA81B7-28DA-A77C-67C8-55859D6A5939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7C0F2CB-FB43-395D-F6FA-7ECF8CF82855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Similitud (cosenos)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08534E2-F22A-B989-43CB-43E7425C2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D4F6715E-0277-738D-9A73-CA3ADE0F9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7493C514-6C29-06D4-527E-5CFDFE181721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9315BFDB-E2C1-5D7F-1DA7-DA2E92B1DF98}"/>
              </a:ext>
            </a:extLst>
          </p:cNvPr>
          <p:cNvSpPr/>
          <p:nvPr/>
        </p:nvSpPr>
        <p:spPr>
          <a:xfrm>
            <a:off x="825500" y="1905000"/>
            <a:ext cx="10541000" cy="4175342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5A12DDA0-E189-D168-78DE-2080822F8CEE}"/>
              </a:ext>
            </a:extLst>
          </p:cNvPr>
          <p:cNvSpPr txBox="1">
            <a:spLocks/>
          </p:cNvSpPr>
          <p:nvPr/>
        </p:nvSpPr>
        <p:spPr>
          <a:xfrm>
            <a:off x="1730936" y="5532954"/>
            <a:ext cx="5272817" cy="64642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S" dirty="0">
                <a:solidFill>
                  <a:schemeClr val="bg1"/>
                </a:solidFill>
              </a:rPr>
              <a:t>0	10	20	30	40	50	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5F6648C9-1FF2-763A-A41B-A43417B8116F}"/>
              </a:ext>
            </a:extLst>
          </p:cNvPr>
          <p:cNvSpPr txBox="1">
            <a:spLocks/>
          </p:cNvSpPr>
          <p:nvPr/>
        </p:nvSpPr>
        <p:spPr>
          <a:xfrm>
            <a:off x="1279299" y="1869093"/>
            <a:ext cx="678569" cy="4056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50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40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30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20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10</a:t>
            </a:r>
          </a:p>
          <a:p>
            <a:pPr marL="0" indent="0">
              <a:buFont typeface="Wingdings 2" pitchFamily="18" charset="2"/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Font typeface="Wingdings 2" pitchFamily="18" charset="2"/>
              <a:buNone/>
            </a:pPr>
            <a:r>
              <a:rPr lang="es-ES" dirty="0">
                <a:solidFill>
                  <a:schemeClr val="bg1"/>
                </a:solidFill>
              </a:rPr>
              <a:t>0	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9EAFB0F6-03F4-7BEB-30C6-D09587854F6E}"/>
              </a:ext>
            </a:extLst>
          </p:cNvPr>
          <p:cNvSpPr/>
          <p:nvPr/>
        </p:nvSpPr>
        <p:spPr>
          <a:xfrm>
            <a:off x="5017964" y="595600"/>
            <a:ext cx="6789031" cy="63939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Manzana [10, 50]			Gato [48, 12]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4A4E18CD-B511-AE36-C054-BC13EAB12466}"/>
              </a:ext>
            </a:extLst>
          </p:cNvPr>
          <p:cNvSpPr/>
          <p:nvPr/>
        </p:nvSpPr>
        <p:spPr>
          <a:xfrm>
            <a:off x="5193726" y="775132"/>
            <a:ext cx="280327" cy="280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8CEEA90-5CD4-A90F-BF3A-1E6ED0B7FD58}"/>
              </a:ext>
            </a:extLst>
          </p:cNvPr>
          <p:cNvCxnSpPr>
            <a:cxnSpLocks/>
          </p:cNvCxnSpPr>
          <p:nvPr/>
        </p:nvCxnSpPr>
        <p:spPr>
          <a:xfrm>
            <a:off x="1866684" y="2127600"/>
            <a:ext cx="99112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BD3AAD0-1ADC-C649-D0EB-98331D78A344}"/>
              </a:ext>
            </a:extLst>
          </p:cNvPr>
          <p:cNvCxnSpPr>
            <a:cxnSpLocks/>
          </p:cNvCxnSpPr>
          <p:nvPr/>
        </p:nvCxnSpPr>
        <p:spPr>
          <a:xfrm flipV="1">
            <a:off x="2857804" y="2127600"/>
            <a:ext cx="0" cy="327909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00DCF232-A456-AD5E-C59B-D5EB272F8B78}"/>
              </a:ext>
            </a:extLst>
          </p:cNvPr>
          <p:cNvCxnSpPr>
            <a:cxnSpLocks/>
          </p:cNvCxnSpPr>
          <p:nvPr/>
        </p:nvCxnSpPr>
        <p:spPr>
          <a:xfrm>
            <a:off x="1730936" y="5427882"/>
            <a:ext cx="5693308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55CFF18C-3603-2070-A152-581BE672DA9F}"/>
              </a:ext>
            </a:extLst>
          </p:cNvPr>
          <p:cNvCxnSpPr>
            <a:cxnSpLocks/>
          </p:cNvCxnSpPr>
          <p:nvPr/>
        </p:nvCxnSpPr>
        <p:spPr>
          <a:xfrm flipV="1">
            <a:off x="1883336" y="1814285"/>
            <a:ext cx="0" cy="376599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F170533D-2906-0327-EA7D-02110F57B41B}"/>
              </a:ext>
            </a:extLst>
          </p:cNvPr>
          <p:cNvCxnSpPr>
            <a:cxnSpLocks/>
          </p:cNvCxnSpPr>
          <p:nvPr/>
        </p:nvCxnSpPr>
        <p:spPr>
          <a:xfrm flipV="1">
            <a:off x="1883335" y="2170262"/>
            <a:ext cx="970735" cy="325762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BEB099D-732A-C214-65BF-81D8F1CF257E}"/>
              </a:ext>
            </a:extLst>
          </p:cNvPr>
          <p:cNvSpPr txBox="1"/>
          <p:nvPr/>
        </p:nvSpPr>
        <p:spPr>
          <a:xfrm>
            <a:off x="2891559" y="379731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76,6º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CA5C6F8-63D1-4B40-4E1C-7C6E214AE0B4}"/>
              </a:ext>
            </a:extLst>
          </p:cNvPr>
          <p:cNvSpPr txBox="1"/>
          <p:nvPr/>
        </p:nvSpPr>
        <p:spPr>
          <a:xfrm>
            <a:off x="4272650" y="3343166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62,32º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550DBC36-FF90-0ED9-47C4-72B83AD4CCED}"/>
              </a:ext>
            </a:extLst>
          </p:cNvPr>
          <p:cNvSpPr/>
          <p:nvPr/>
        </p:nvSpPr>
        <p:spPr>
          <a:xfrm>
            <a:off x="6007426" y="2138044"/>
            <a:ext cx="5179431" cy="162740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Manzana: 76,6º</a:t>
            </a:r>
            <a:b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Gato: 14,04º</a:t>
            </a:r>
            <a:b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Diferencia: 62,32º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Similaridad Coseno = Cos(62,32) = 0,46</a:t>
            </a:r>
          </a:p>
          <a:p>
            <a:pPr lvl="1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Distancia Coseno = 1- Cos(62,3,2) = 0,64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1E7D908B-4575-513E-90A6-B68F1CC4B8B9}"/>
              </a:ext>
            </a:extLst>
          </p:cNvPr>
          <p:cNvSpPr/>
          <p:nvPr/>
        </p:nvSpPr>
        <p:spPr>
          <a:xfrm>
            <a:off x="2734292" y="2022529"/>
            <a:ext cx="280327" cy="280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1D2ABCB3-B1B0-26D6-92FE-2C2CE5968807}"/>
              </a:ext>
            </a:extLst>
          </p:cNvPr>
          <p:cNvCxnSpPr>
            <a:cxnSpLocks/>
          </p:cNvCxnSpPr>
          <p:nvPr/>
        </p:nvCxnSpPr>
        <p:spPr>
          <a:xfrm flipV="1">
            <a:off x="1895571" y="4538319"/>
            <a:ext cx="4439883" cy="129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422CE1E-71BF-FD1C-2C97-58BAA29F4B49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6335455" y="4678483"/>
            <a:ext cx="0" cy="7235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Arco 65">
            <a:extLst>
              <a:ext uri="{FF2B5EF4-FFF2-40B4-BE49-F238E27FC236}">
                <a16:creationId xmlns:a16="http://schemas.microsoft.com/office/drawing/2014/main" id="{9E5DF9B8-593E-DC7F-241D-76631B627C2D}"/>
              </a:ext>
            </a:extLst>
          </p:cNvPr>
          <p:cNvSpPr/>
          <p:nvPr/>
        </p:nvSpPr>
        <p:spPr>
          <a:xfrm>
            <a:off x="4003623" y="4851167"/>
            <a:ext cx="857632" cy="1248118"/>
          </a:xfrm>
          <a:prstGeom prst="arc">
            <a:avLst>
              <a:gd name="adj1" fmla="val 17210421"/>
              <a:gd name="adj2" fmla="val 21380098"/>
            </a:avLst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04B975A-F792-8AAD-AC28-0483B76CB580}"/>
              </a:ext>
            </a:extLst>
          </p:cNvPr>
          <p:cNvSpPr txBox="1"/>
          <p:nvPr/>
        </p:nvSpPr>
        <p:spPr>
          <a:xfrm>
            <a:off x="5084456" y="4977533"/>
            <a:ext cx="8082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1"/>
                </a:solidFill>
              </a:rPr>
              <a:t>14,04º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DFEF9E21-7F35-DCF1-8170-5D583CCBC74A}"/>
              </a:ext>
            </a:extLst>
          </p:cNvPr>
          <p:cNvCxnSpPr>
            <a:cxnSpLocks/>
          </p:cNvCxnSpPr>
          <p:nvPr/>
        </p:nvCxnSpPr>
        <p:spPr>
          <a:xfrm flipV="1">
            <a:off x="1850520" y="4538319"/>
            <a:ext cx="4484934" cy="8895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0BA2BE2B-F755-A07F-1B63-FBE98D6848CE}"/>
              </a:ext>
            </a:extLst>
          </p:cNvPr>
          <p:cNvSpPr/>
          <p:nvPr/>
        </p:nvSpPr>
        <p:spPr>
          <a:xfrm>
            <a:off x="6195291" y="4398156"/>
            <a:ext cx="280327" cy="280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5AA4634-0B81-1BFC-CB20-25F3F6E0054B}"/>
              </a:ext>
            </a:extLst>
          </p:cNvPr>
          <p:cNvSpPr/>
          <p:nvPr/>
        </p:nvSpPr>
        <p:spPr>
          <a:xfrm>
            <a:off x="9089756" y="757987"/>
            <a:ext cx="280327" cy="280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Arco 70">
            <a:extLst>
              <a:ext uri="{FF2B5EF4-FFF2-40B4-BE49-F238E27FC236}">
                <a16:creationId xmlns:a16="http://schemas.microsoft.com/office/drawing/2014/main" id="{F466CDBA-933B-602B-771E-7C1B291E2D05}"/>
              </a:ext>
            </a:extLst>
          </p:cNvPr>
          <p:cNvSpPr/>
          <p:nvPr/>
        </p:nvSpPr>
        <p:spPr>
          <a:xfrm>
            <a:off x="174425" y="2576947"/>
            <a:ext cx="4246776" cy="3953830"/>
          </a:xfrm>
          <a:prstGeom prst="arc">
            <a:avLst>
              <a:gd name="adj1" fmla="val 16967668"/>
              <a:gd name="adj2" fmla="val 637948"/>
            </a:avLst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46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 animBg="1"/>
      <p:bldP spid="63" grpId="0" animBg="1"/>
      <p:bldP spid="66" grpId="0" animBg="1"/>
      <p:bldP spid="67" grpId="0"/>
      <p:bldP spid="69" grpId="0" animBg="1"/>
      <p:bldP spid="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08D3A-0E1B-7CEB-5829-65E50C5C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9A9EE98-8241-EC71-F9D4-FB8407771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688651E-0C72-8A17-E204-75F683D0544F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3240B6-F315-6828-25AA-88953EB14A43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Similitud (cosenos)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208F3999-66DB-B9EC-C9AA-0CD39F60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24DE7163-7BD1-2D9A-EE7D-326755CBD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090C19AE-53B8-B8E1-71C5-AC27A37AB5F7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034C80B7-228E-281C-0421-365204AB1BE3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A1562BB-C5E4-35CA-DE45-0B0CC4AA1532}"/>
              </a:ext>
            </a:extLst>
          </p:cNvPr>
          <p:cNvGrpSpPr/>
          <p:nvPr/>
        </p:nvGrpSpPr>
        <p:grpSpPr>
          <a:xfrm>
            <a:off x="2571531" y="2159633"/>
            <a:ext cx="7273044" cy="3444162"/>
            <a:chOff x="2013823" y="1400946"/>
            <a:chExt cx="8164357" cy="4056108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A56A07A-D699-7818-A53D-6BCE7E8A0D67}"/>
                </a:ext>
              </a:extLst>
            </p:cNvPr>
            <p:cNvGrpSpPr/>
            <p:nvPr/>
          </p:nvGrpSpPr>
          <p:grpSpPr>
            <a:xfrm>
              <a:off x="5471881" y="2408099"/>
              <a:ext cx="4706299" cy="2021365"/>
              <a:chOff x="7658098" y="2805132"/>
              <a:chExt cx="3137978" cy="1347768"/>
            </a:xfrm>
          </p:grpSpPr>
          <p:sp>
            <p:nvSpPr>
              <p:cNvPr id="29" name="CuadroTexto 57">
                <a:extLst>
                  <a:ext uri="{FF2B5EF4-FFF2-40B4-BE49-F238E27FC236}">
                    <a16:creationId xmlns:a16="http://schemas.microsoft.com/office/drawing/2014/main" id="{C5421966-A526-C4EE-802B-D30937DBE132}"/>
                  </a:ext>
                </a:extLst>
              </p:cNvPr>
              <p:cNvSpPr txBox="1"/>
              <p:nvPr/>
            </p:nvSpPr>
            <p:spPr>
              <a:xfrm>
                <a:off x="9769419" y="2805132"/>
                <a:ext cx="1026657" cy="338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371384">
                  <a:defRPr/>
                </a:pPr>
                <a:r>
                  <a:rPr lang="es-ES" sz="270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Italia</a:t>
                </a:r>
                <a:endParaRPr lang="es-ES" sz="2700">
                  <a:solidFill>
                    <a:schemeClr val="bg1"/>
                  </a:solidFill>
                  <a:latin typeface="Segoe UI"/>
                </a:endParaRPr>
              </a:p>
            </p:txBody>
          </p:sp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A676ADEB-0950-5F15-C483-E84B6588801A}"/>
                  </a:ext>
                </a:extLst>
              </p:cNvPr>
              <p:cNvCxnSpPr>
                <a:cxnSpLocks/>
                <a:endCxn id="29" idx="1"/>
              </p:cNvCxnSpPr>
              <p:nvPr/>
            </p:nvCxnSpPr>
            <p:spPr>
              <a:xfrm flipV="1">
                <a:off x="7658098" y="2974433"/>
                <a:ext cx="2111321" cy="1178467"/>
              </a:xfrm>
              <a:prstGeom prst="straightConnector1">
                <a:avLst/>
              </a:prstGeom>
              <a:ln w="53975"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4A5780DF-8332-B15E-89D9-4740BE56608A}"/>
                </a:ext>
              </a:extLst>
            </p:cNvPr>
            <p:cNvGrpSpPr/>
            <p:nvPr/>
          </p:nvGrpSpPr>
          <p:grpSpPr>
            <a:xfrm>
              <a:off x="2013823" y="1400946"/>
              <a:ext cx="7815228" cy="4056108"/>
              <a:chOff x="2013823" y="1400946"/>
              <a:chExt cx="7815228" cy="4056108"/>
            </a:xfrm>
          </p:grpSpPr>
          <p:sp>
            <p:nvSpPr>
              <p:cNvPr id="6" name="Arco 5">
                <a:extLst>
                  <a:ext uri="{FF2B5EF4-FFF2-40B4-BE49-F238E27FC236}">
                    <a16:creationId xmlns:a16="http://schemas.microsoft.com/office/drawing/2014/main" id="{E4135965-10B3-8A01-3161-5EC63278AD88}"/>
                  </a:ext>
                </a:extLst>
              </p:cNvPr>
              <p:cNvSpPr/>
              <p:nvPr/>
            </p:nvSpPr>
            <p:spPr>
              <a:xfrm rot="17289950">
                <a:off x="4753556" y="3466911"/>
                <a:ext cx="1868277" cy="2020467"/>
              </a:xfrm>
              <a:prstGeom prst="arc">
                <a:avLst>
                  <a:gd name="adj1" fmla="val 16200000"/>
                  <a:gd name="adj2" fmla="val 965772"/>
                </a:avLst>
              </a:prstGeom>
              <a:ln w="349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371384">
                  <a:defRPr/>
                </a:pPr>
                <a:endParaRPr lang="es-ES" sz="2700">
                  <a:solidFill>
                    <a:schemeClr val="bg1"/>
                  </a:solidFill>
                  <a:latin typeface="Segoe UI"/>
                </a:endParaRPr>
              </a:p>
            </p:txBody>
          </p:sp>
          <p:sp>
            <p:nvSpPr>
              <p:cNvPr id="8" name="Arco 7">
                <a:extLst>
                  <a:ext uri="{FF2B5EF4-FFF2-40B4-BE49-F238E27FC236}">
                    <a16:creationId xmlns:a16="http://schemas.microsoft.com/office/drawing/2014/main" id="{C38F8275-99CA-3905-C17D-135E1AD9C45F}"/>
                  </a:ext>
                </a:extLst>
              </p:cNvPr>
              <p:cNvSpPr/>
              <p:nvPr/>
            </p:nvSpPr>
            <p:spPr>
              <a:xfrm rot="500859">
                <a:off x="6148995" y="3243465"/>
                <a:ext cx="768139" cy="707002"/>
              </a:xfrm>
              <a:prstGeom prst="arc">
                <a:avLst/>
              </a:prstGeom>
              <a:ln w="349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371384">
                  <a:defRPr/>
                </a:pPr>
                <a:endParaRPr lang="es-ES" sz="2700">
                  <a:solidFill>
                    <a:schemeClr val="bg1"/>
                  </a:solidFill>
                  <a:latin typeface="Segoe UI"/>
                </a:endParaRPr>
              </a:p>
            </p:txBody>
          </p:sp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73A527A9-8497-18F6-7A87-286E89EE575F}"/>
                  </a:ext>
                </a:extLst>
              </p:cNvPr>
              <p:cNvGrpSpPr/>
              <p:nvPr/>
            </p:nvGrpSpPr>
            <p:grpSpPr>
              <a:xfrm>
                <a:off x="4412481" y="1400946"/>
                <a:ext cx="3856788" cy="4056108"/>
                <a:chOff x="6950746" y="2133600"/>
                <a:chExt cx="2571192" cy="2704455"/>
              </a:xfrm>
            </p:grpSpPr>
            <p:cxnSp>
              <p:nvCxnSpPr>
                <p:cNvPr id="31" name="Conector recto de flecha 30">
                  <a:extLst>
                    <a:ext uri="{FF2B5EF4-FFF2-40B4-BE49-F238E27FC236}">
                      <a16:creationId xmlns:a16="http://schemas.microsoft.com/office/drawing/2014/main" id="{A65443CF-E977-0AAB-7DC9-5CEF1D64D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658096" y="2133600"/>
                  <a:ext cx="4" cy="2019300"/>
                </a:xfrm>
                <a:prstGeom prst="straightConnector1">
                  <a:avLst/>
                </a:prstGeom>
                <a:ln w="34925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ector recto de flecha 31">
                  <a:extLst>
                    <a:ext uri="{FF2B5EF4-FFF2-40B4-BE49-F238E27FC236}">
                      <a16:creationId xmlns:a16="http://schemas.microsoft.com/office/drawing/2014/main" id="{9D5AE692-024D-CF76-3A26-AABEDC24A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58100" y="4120191"/>
                  <a:ext cx="1863838" cy="32709"/>
                </a:xfrm>
                <a:prstGeom prst="straightConnector1">
                  <a:avLst/>
                </a:prstGeom>
                <a:ln w="34925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ector recto de flecha 32">
                  <a:extLst>
                    <a:ext uri="{FF2B5EF4-FFF2-40B4-BE49-F238E27FC236}">
                      <a16:creationId xmlns:a16="http://schemas.microsoft.com/office/drawing/2014/main" id="{60AC487F-CC8D-51CB-BF90-567F2E7C3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50746" y="4152900"/>
                  <a:ext cx="707353" cy="685155"/>
                </a:xfrm>
                <a:prstGeom prst="straightConnector1">
                  <a:avLst/>
                </a:prstGeom>
                <a:ln w="34925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06C5F331-2A99-203E-A8BB-D6F14203C935}"/>
                  </a:ext>
                </a:extLst>
              </p:cNvPr>
              <p:cNvGrpSpPr/>
              <p:nvPr/>
            </p:nvGrpSpPr>
            <p:grpSpPr>
              <a:xfrm>
                <a:off x="5494077" y="1758977"/>
                <a:ext cx="3792790" cy="2670489"/>
                <a:chOff x="7672897" y="2372321"/>
                <a:chExt cx="2528885" cy="1780579"/>
              </a:xfrm>
            </p:grpSpPr>
            <p:cxnSp>
              <p:nvCxnSpPr>
                <p:cNvPr id="27" name="Conector recto de flecha 26">
                  <a:extLst>
                    <a:ext uri="{FF2B5EF4-FFF2-40B4-BE49-F238E27FC236}">
                      <a16:creationId xmlns:a16="http://schemas.microsoft.com/office/drawing/2014/main" id="{B3F083B9-6C57-AD85-45C6-A750BD14E54E}"/>
                    </a:ext>
                  </a:extLst>
                </p:cNvPr>
                <p:cNvCxnSpPr>
                  <a:cxnSpLocks/>
                  <a:endCxn id="28" idx="1"/>
                </p:cNvCxnSpPr>
                <p:nvPr/>
              </p:nvCxnSpPr>
              <p:spPr>
                <a:xfrm flipV="1">
                  <a:off x="7672897" y="2541622"/>
                  <a:ext cx="1502228" cy="1611278"/>
                </a:xfrm>
                <a:prstGeom prst="straightConnector1">
                  <a:avLst/>
                </a:prstGeom>
                <a:ln w="53975"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8" name="CuadroTexto 61">
                  <a:extLst>
                    <a:ext uri="{FF2B5EF4-FFF2-40B4-BE49-F238E27FC236}">
                      <a16:creationId xmlns:a16="http://schemas.microsoft.com/office/drawing/2014/main" id="{00D2108F-735D-8905-2C29-6C0E47FE761E}"/>
                    </a:ext>
                  </a:extLst>
                </p:cNvPr>
                <p:cNvSpPr txBox="1"/>
                <p:nvPr/>
              </p:nvSpPr>
              <p:spPr>
                <a:xfrm>
                  <a:off x="9175125" y="2372321"/>
                  <a:ext cx="1026657" cy="338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371384">
                    <a:defRPr/>
                  </a:pPr>
                  <a:r>
                    <a:rPr lang="es-ES" sz="2700">
                      <a:solidFill>
                        <a:schemeClr val="bg1"/>
                      </a:solidFill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Roma</a:t>
                  </a:r>
                  <a:endParaRPr lang="es-ES" sz="2700">
                    <a:solidFill>
                      <a:schemeClr val="bg1"/>
                    </a:solidFill>
                    <a:latin typeface="Segoe UI"/>
                  </a:endParaRPr>
                </a:p>
              </p:txBody>
            </p:sp>
          </p:grp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7C1C3DC1-C269-A51B-8887-49DA9592A49C}"/>
                  </a:ext>
                </a:extLst>
              </p:cNvPr>
              <p:cNvGrpSpPr/>
              <p:nvPr/>
            </p:nvGrpSpPr>
            <p:grpSpPr>
              <a:xfrm>
                <a:off x="5471879" y="3725532"/>
                <a:ext cx="3854018" cy="682549"/>
                <a:chOff x="7658097" y="3683536"/>
                <a:chExt cx="2569710" cy="455096"/>
              </a:xfrm>
            </p:grpSpPr>
            <p:sp>
              <p:nvSpPr>
                <p:cNvPr id="25" name="CuadroTexto 63">
                  <a:extLst>
                    <a:ext uri="{FF2B5EF4-FFF2-40B4-BE49-F238E27FC236}">
                      <a16:creationId xmlns:a16="http://schemas.microsoft.com/office/drawing/2014/main" id="{32F1802A-A474-F552-7AE3-39D440AF59BC}"/>
                    </a:ext>
                  </a:extLst>
                </p:cNvPr>
                <p:cNvSpPr txBox="1"/>
                <p:nvPr/>
              </p:nvSpPr>
              <p:spPr>
                <a:xfrm>
                  <a:off x="9201150" y="3683536"/>
                  <a:ext cx="1026657" cy="338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371384">
                    <a:defRPr/>
                  </a:pPr>
                  <a:r>
                    <a:rPr lang="es-ES" sz="2700">
                      <a:solidFill>
                        <a:schemeClr val="bg1"/>
                      </a:solidFill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Francia</a:t>
                  </a:r>
                  <a:endParaRPr lang="es-ES" sz="2700">
                    <a:solidFill>
                      <a:schemeClr val="bg1"/>
                    </a:solidFill>
                    <a:latin typeface="Segoe UI"/>
                  </a:endParaRPr>
                </a:p>
              </p:txBody>
            </p:sp>
            <p:cxnSp>
              <p:nvCxnSpPr>
                <p:cNvPr id="26" name="Conector recto de flecha 25">
                  <a:extLst>
                    <a:ext uri="{FF2B5EF4-FFF2-40B4-BE49-F238E27FC236}">
                      <a16:creationId xmlns:a16="http://schemas.microsoft.com/office/drawing/2014/main" id="{D9E9D693-7A08-7B9E-6172-4D6EB4CA6563}"/>
                    </a:ext>
                  </a:extLst>
                </p:cNvPr>
                <p:cNvCxnSpPr>
                  <a:cxnSpLocks/>
                  <a:endCxn id="25" idx="1"/>
                </p:cNvCxnSpPr>
                <p:nvPr/>
              </p:nvCxnSpPr>
              <p:spPr>
                <a:xfrm flipV="1">
                  <a:off x="7658097" y="3852837"/>
                  <a:ext cx="1543053" cy="285795"/>
                </a:xfrm>
                <a:prstGeom prst="straightConnector1">
                  <a:avLst/>
                </a:prstGeom>
                <a:ln w="53975"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AF88D548-3B35-C77F-3127-C71A32C3781A}"/>
                  </a:ext>
                </a:extLst>
              </p:cNvPr>
              <p:cNvGrpSpPr/>
              <p:nvPr/>
            </p:nvGrpSpPr>
            <p:grpSpPr>
              <a:xfrm>
                <a:off x="5471874" y="4383579"/>
                <a:ext cx="4357177" cy="507831"/>
                <a:chOff x="7658096" y="4122300"/>
                <a:chExt cx="2905197" cy="338602"/>
              </a:xfrm>
            </p:grpSpPr>
            <p:cxnSp>
              <p:nvCxnSpPr>
                <p:cNvPr id="23" name="Conector recto de flecha 22">
                  <a:extLst>
                    <a:ext uri="{FF2B5EF4-FFF2-40B4-BE49-F238E27FC236}">
                      <a16:creationId xmlns:a16="http://schemas.microsoft.com/office/drawing/2014/main" id="{169AECF7-FB87-3F89-4918-4AC8ED9ED344}"/>
                    </a:ext>
                  </a:extLst>
                </p:cNvPr>
                <p:cNvCxnSpPr>
                  <a:cxnSpLocks/>
                  <a:endCxn id="24" idx="1"/>
                </p:cNvCxnSpPr>
                <p:nvPr/>
              </p:nvCxnSpPr>
              <p:spPr>
                <a:xfrm>
                  <a:off x="7658096" y="4138632"/>
                  <a:ext cx="1725050" cy="152969"/>
                </a:xfrm>
                <a:prstGeom prst="straightConnector1">
                  <a:avLst/>
                </a:prstGeom>
                <a:ln w="53975"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4" name="CuadroTexto 67">
                  <a:extLst>
                    <a:ext uri="{FF2B5EF4-FFF2-40B4-BE49-F238E27FC236}">
                      <a16:creationId xmlns:a16="http://schemas.microsoft.com/office/drawing/2014/main" id="{BA1240FA-9F90-57D5-514F-58314A6ED5EB}"/>
                    </a:ext>
                  </a:extLst>
                </p:cNvPr>
                <p:cNvSpPr txBox="1"/>
                <p:nvPr/>
              </p:nvSpPr>
              <p:spPr>
                <a:xfrm>
                  <a:off x="9383146" y="4122300"/>
                  <a:ext cx="1180147" cy="338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371384">
                    <a:defRPr/>
                  </a:pPr>
                  <a:r>
                    <a:rPr lang="es-ES" sz="2700">
                      <a:solidFill>
                        <a:schemeClr val="bg1"/>
                      </a:solidFill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Paris</a:t>
                  </a:r>
                  <a:endParaRPr lang="es-ES" sz="2700">
                    <a:solidFill>
                      <a:schemeClr val="bg1"/>
                    </a:solidFill>
                    <a:latin typeface="Segoe UI"/>
                  </a:endParaRPr>
                </a:p>
              </p:txBody>
            </p:sp>
          </p:grp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743CE764-4903-47A1-ED1B-E02694AB2A29}"/>
                  </a:ext>
                </a:extLst>
              </p:cNvPr>
              <p:cNvGrpSpPr/>
              <p:nvPr/>
            </p:nvGrpSpPr>
            <p:grpSpPr>
              <a:xfrm>
                <a:off x="2013823" y="3606986"/>
                <a:ext cx="3480256" cy="822487"/>
                <a:chOff x="5300377" y="3604498"/>
                <a:chExt cx="2320499" cy="548402"/>
              </a:xfrm>
            </p:grpSpPr>
            <p:cxnSp>
              <p:nvCxnSpPr>
                <p:cNvPr id="20" name="Conector recto de flecha 19">
                  <a:extLst>
                    <a:ext uri="{FF2B5EF4-FFF2-40B4-BE49-F238E27FC236}">
                      <a16:creationId xmlns:a16="http://schemas.microsoft.com/office/drawing/2014/main" id="{07331F03-F0DC-0235-C83D-BF6EC7B78AE3}"/>
                    </a:ext>
                  </a:extLst>
                </p:cNvPr>
                <p:cNvCxnSpPr>
                  <a:cxnSpLocks/>
                  <a:endCxn id="22" idx="3"/>
                </p:cNvCxnSpPr>
                <p:nvPr/>
              </p:nvCxnSpPr>
              <p:spPr>
                <a:xfrm flipH="1" flipV="1">
                  <a:off x="6612536" y="3773799"/>
                  <a:ext cx="1008340" cy="379101"/>
                </a:xfrm>
                <a:prstGeom prst="straightConnector1">
                  <a:avLst/>
                </a:prstGeom>
                <a:ln w="53975"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2" name="CuadroTexto 70">
                  <a:extLst>
                    <a:ext uri="{FF2B5EF4-FFF2-40B4-BE49-F238E27FC236}">
                      <a16:creationId xmlns:a16="http://schemas.microsoft.com/office/drawing/2014/main" id="{E7ACC2EB-1C1F-D309-1BC2-AB3553AF60C6}"/>
                    </a:ext>
                  </a:extLst>
                </p:cNvPr>
                <p:cNvSpPr txBox="1"/>
                <p:nvPr/>
              </p:nvSpPr>
              <p:spPr>
                <a:xfrm>
                  <a:off x="5300377" y="3604498"/>
                  <a:ext cx="1312159" cy="3386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371384">
                    <a:defRPr/>
                  </a:pPr>
                  <a:r>
                    <a:rPr lang="es-ES" sz="2700" dirty="0">
                      <a:solidFill>
                        <a:schemeClr val="bg1"/>
                      </a:solidFill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Lechuga</a:t>
                  </a:r>
                  <a:endParaRPr lang="es-ES" sz="2700" dirty="0">
                    <a:solidFill>
                      <a:schemeClr val="bg1"/>
                    </a:solidFill>
                    <a:latin typeface="Segoe U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41032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53684-7DEB-1A9A-1E93-72D986E0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973E2A32-53A2-776B-6A4B-A9A3CEB39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0AE5C2B-2B7B-4BAE-97CF-D6E02727542F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9D37AA5-405D-54B2-2D1E-A08D055709EF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Similitud (cosenos)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AD3A9DF6-8A22-AA48-14CE-2B76BC460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9B724A7D-6AE7-ECF1-8D98-A748B7BF3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35EF809E-0B91-ADA5-4257-FD36705B198A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84C57277-0CAA-CCA9-87CC-C52621E47F6D}"/>
              </a:ext>
            </a:extLst>
          </p:cNvPr>
          <p:cNvSpPr/>
          <p:nvPr/>
        </p:nvSpPr>
        <p:spPr>
          <a:xfrm>
            <a:off x="76200" y="1508760"/>
            <a:ext cx="11951860" cy="475488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22FD66-F835-D106-0253-7219703D8B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8849"/>
          <a:stretch/>
        </p:blipFill>
        <p:spPr>
          <a:xfrm>
            <a:off x="163940" y="1983154"/>
            <a:ext cx="5663045" cy="7885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0360AA-CC27-B5A3-AB53-014390C6BB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4736"/>
          <a:stretch/>
        </p:blipFill>
        <p:spPr>
          <a:xfrm>
            <a:off x="6003067" y="1983153"/>
            <a:ext cx="5941717" cy="131473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FD35FA4-8944-870D-69F0-F5DE724F33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823"/>
          <a:stretch/>
        </p:blipFill>
        <p:spPr>
          <a:xfrm>
            <a:off x="163940" y="4027121"/>
            <a:ext cx="5663045" cy="1684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9460020-ACEC-3113-42B5-21568D226B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0772" b="32794"/>
          <a:stretch/>
        </p:blipFill>
        <p:spPr>
          <a:xfrm>
            <a:off x="6003067" y="3503245"/>
            <a:ext cx="5941717" cy="98552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AA32723-F1B2-B8AA-A9C0-939074F031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0748"/>
          <a:stretch/>
        </p:blipFill>
        <p:spPr>
          <a:xfrm>
            <a:off x="6003067" y="4620845"/>
            <a:ext cx="5941717" cy="1090597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2D66B501-C6A6-AE1C-234D-56A99FFEA3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421" b="51169"/>
          <a:stretch/>
        </p:blipFill>
        <p:spPr>
          <a:xfrm>
            <a:off x="163940" y="2893646"/>
            <a:ext cx="5663045" cy="91007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0A13D3D2-32B3-C367-C384-AAC491CD1A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2596" y="2050732"/>
            <a:ext cx="6286501" cy="35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7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2A2AB-2284-E8F2-6BDA-F8F9CE44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F877BBB6-FDA6-4F0D-336F-045DE24ED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6665077-D069-7B0C-BDDE-2CEDBB900E6E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Introducción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4A90CD-6C55-10AE-DB29-E085DF902B66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TRANQUILOS QUE SQL HACE LOS CALCULOS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088D2DDF-BE44-8C9A-FAAC-D4C7E6BA9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6C2B9554-4A11-1E7C-7D79-A160236C0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9BA1B88E-32A8-767B-01B5-9D6D889E6F47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AC4ED365-EB11-52DB-4E33-3B9B6D5AFBEF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buNone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None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046C981-9159-4CC6-24BF-3631B6DB2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596" y="2050732"/>
            <a:ext cx="6286501" cy="35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2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7C90-D57A-AF96-16C4-ADD1CFE8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A6EA759C-DC33-761E-5136-3CD660A10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D26783E-5420-197C-50B6-50D84526EE56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</a:t>
            </a:r>
            <a:r>
              <a:rPr lang="en-US" sz="5000" b="1" kern="0" spc="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Server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3E0A1AF-1B13-1D9C-5F6B-BB290DCE3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1600405A-8D11-FC3D-6A42-50BFC97EE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84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660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020928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20928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VECTOR con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4992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4724248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618181" y="3200400"/>
            <a:ext cx="293716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 API: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sp_invoke_external_rest_endpoint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5324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8427568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27568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AI_GENERATE_CHUNKS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AI_GENERATE_EMBEDDINGS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VECTOR_SEARCH</a:t>
            </a:r>
            <a:endParaRPr lang="en-US" sz="1500" dirty="0"/>
          </a:p>
        </p:txBody>
      </p:sp>
      <p:pic>
        <p:nvPicPr>
          <p:cNvPr id="14" name="Image 1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5" name="Image 2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B2399DBF-FC7C-6A15-11F1-B75D19F1B69D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564ECD35-64F5-682F-852B-3F8DE31A9B4E}"/>
              </a:ext>
            </a:extLst>
          </p:cNvPr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Funcionalidades IA en SQL Server</a:t>
            </a:r>
          </a:p>
        </p:txBody>
      </p:sp>
      <p:sp>
        <p:nvSpPr>
          <p:cNvPr id="22" name="Accent Bar">
            <a:extLst>
              <a:ext uri="{FF2B5EF4-FFF2-40B4-BE49-F238E27FC236}">
                <a16:creationId xmlns:a16="http://schemas.microsoft.com/office/drawing/2014/main" id="{711DBE0F-B0DF-3F54-7170-F6FB3FA81783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C8347-7A1E-3D3C-32F6-55BAAD5F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83FA2C90-A59F-B96F-A77E-08C1422B7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1E8D6A6-D38D-7BE3-A98F-AA312492D745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226945-BF5B-AF0C-DD39-33C750A1AB29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Tipo de dato: VECTOR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084F478F-E6B4-6709-F4FD-FD69AA377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B16BFA41-6E63-8255-6C66-B5A9B59C1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547E1DF6-3B63-E397-6999-2633C1A9A334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E6D87548-C142-E0D6-E6A0-718B593AEA37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Diseñado para almacenar vectores y optimizado para búsquedas de similitud.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almacena en un formato binario optimizado, pero se representa como un array JSON.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Son tipos de datos muy grandes, mejor almacenar en otra tabla.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Usan un tipo base float32. Se puede elegir float16 (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half-precision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El límite es de 1998 dimensiones en base 32 y 3996 en base 16.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Disponible 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SQL Server 2025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Azure SQL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Database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Azure SQL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Managed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Instance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Fabric SQL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Database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0677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14154-78F5-C544-3FB9-A47687F8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92A6C382-777A-93DC-84E1-EC5A9DD8D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1439BC0-5706-F26A-1B66-8262D52487DF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03B1778-6CE4-EFFB-C143-BD77280D07B4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GENERACIÓN DE EMBEDDINGS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FA1599BD-A9EA-55E6-2DBE-B234661D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7D7F0EFA-B046-E437-ED8B-BF0848B59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AC06273-6955-5924-E854-5BD6DE9D3A3E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4F6BD1AE-E5AC-4A4C-21C2-B37096CE4E11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Función escalar: AI_GENERATE_EMBEDDINGS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Llama a un modelo de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creado con CREATE EXTERNAL 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35FFAD-D9D5-3000-4D57-E96C90BBC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3619500"/>
            <a:ext cx="877374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32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25DFD-21E1-EAEE-AC52-105D6F30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2E93759A-E9AE-C774-7C9B-441D9862D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1A16FD7-4D93-0080-D723-5379FAD2D7D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918295-73D8-9B09-FA4F-35A3E7BE4CAB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CREAR CONEXIÓN AL MODELO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D461950B-E93A-84DC-D513-8FA7DC7C7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CF3D98A2-558D-826A-E8B0-DEBEA1CD9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89DD855E-D7DB-5994-541D-A2A09081E3D9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C00AB67D-8E4C-22F1-A11F-7FAE3CF5E914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CREATE EXTERNAL MODEL crea un objeto para el modelo externo de IA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Solo puede ser modelo de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, pero admite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Azure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OpenAI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OpenAI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Ollama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ONNX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Runtime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Solo admite conexión HTTPS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Necesitaremos una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Database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Scoped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Credential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22584F-A613-18F3-8B53-C898DD389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183" y="3242838"/>
            <a:ext cx="481079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F4F7-17B8-2EE4-8684-04DD4D2C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D754D05B-7694-1945-243A-9C773D554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4C8C42D-A322-84A1-0F65-EC07CA23D210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49C9DFF8-7046-B08E-5A67-7C3671CCF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D213F2DA-8BFF-DB74-80A6-4FCEE6F4F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33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32EC6-AC16-8325-497D-E87B9CBC2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2AEA8F8-5678-8794-B5D7-1A56A844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596939-4246-7836-5821-A3044009557A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835B8E1-0747-1687-B817-D7C7840E19C7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API DE MODELOS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7323880-C05B-984B-26A5-31B5CE9D0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812BB2AB-A669-A61A-B4F2-381833397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589AE82E-4F9E-137C-1CFD-B4D80E485C28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442F15F9-F4DE-E6F6-C1CF-37A6A10BE239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Procedimiento almacenado para llamadas REST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sp_incoke_external_rest_endpoint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AD543F-1DBD-5E15-CBC4-4E3FA65794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833"/>
          <a:stretch>
            <a:fillRect/>
          </a:stretch>
        </p:blipFill>
        <p:spPr>
          <a:xfrm>
            <a:off x="2069075" y="3163230"/>
            <a:ext cx="8053544" cy="235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6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17B1C-842E-4A74-4B9F-2A034C01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1191A6B-7E0A-2C4D-C184-92B109595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B610933-A644-3F7B-886B-5ED86BA4AD52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979ACC6-EB11-4929-D202-1B95441CA959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API DE MODELOS: Ventajas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58F78019-7BA0-FBF4-9176-18C125DE3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5B864AB3-CB83-3ACD-1B56-795A7EAA7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6A524BE9-897B-CED0-953A-043F3FB2DAC6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965A83FB-BEA0-FE1E-02BC-80E29FC32A4A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Llamada a cualquier API no solo modelos de IA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La API debe devolver texto (XML, JSON, Texto plano)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Los modelos de IA no solo devuelven la respuesta, devuelven un JSON con: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Respuesta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Detalle de errores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Tokens consumidos (entrada y salida)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Contexto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6674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9EE9-6736-7382-6643-56CAC6CC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AB00DDC-C619-B3E2-A290-EA541F08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EEF341-BEB5-D345-6D40-B48A13A78BA8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AB48DD5C-342D-1A83-96D0-1AF03DA43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145E516C-EEDE-076F-3551-0473ABAC3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65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7CD76-40D8-72E9-02E1-AD8726A2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DBCB52F9-18FD-8C9A-198E-57B46A57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8F72892-2A68-298B-2050-960FF8F5010E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61683F-E80E-D991-DD35-92D079842D74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DIVIDIR TEXTOS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9FB36B93-432E-6FAE-8519-6B76D1BD0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3D834F33-BF00-1645-71D6-6776775B6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3F37ABD-B0D2-3C10-FCC9-C27DB0A41B36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6DF71709-7980-931D-AD07-04A8EDED6650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Función de tabla: AI_GENERATE_CHUNKS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Crea “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chunks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” o fragmentos de texto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Solo admite tipos de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chunks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FIXED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puede especificar tamaño y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overlap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(en %) de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chunk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puede activar una columna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chunk_set_id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42C1A6-211B-A54F-D79F-25D7A2F96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288" y="3837708"/>
            <a:ext cx="890711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14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E03D0-CC50-78DD-111E-A8CC5DC8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4CFE36CF-B7BA-47C3-7210-CAC12CC21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A6FFDE-626C-308F-EAB5-B25F32211635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F4F059-CA76-8291-AC95-74D0CED52BF4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AI_GENERATE_CHUNKS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330835BD-7417-5A55-C3FC-8F03F9AA2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47C22437-362F-C8C4-F6C6-B496ACEBA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7D4C7080-5506-7114-3649-43316B489173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6B833FD3-F7DB-D334-EFCE-12A0E4A30AE8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DA5E1E-8370-3A56-90ED-D31C0CFEF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2666" y="2000325"/>
            <a:ext cx="8146362" cy="364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96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0D8A-8EF1-AD60-C0BA-F50E0A7D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8A23A879-A08B-D094-FDE0-2D2F9A715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D5AFEE-5637-3A4B-C9ED-4F7D33CE0CC6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EFC2C619-6AF9-9FE7-C8EB-8E7944581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8616B9BB-950B-444F-BEFF-36F562974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50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7E999-D895-2339-6EAE-15F2B6FD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18E0A4B6-891D-D057-4B5D-B392D65B4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436E302-D496-2810-6E5D-2AD2385F3052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4203A80-E7C5-7773-248A-00F6A20471C0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 EXACTA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E723BCA-6677-23A6-7A17-D9B8D1B34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FC95E87E-782D-0463-BC9C-ADDC6DD16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141C3781-2E55-F8D0-5C24-DD7A87614984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05664774-A2CC-BD35-2165-7E4C0B226254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Función escalar : VECTOR_DISTANCE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Devuelve la distancia entre dos vectores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 se usa para comparar un vector fijo con los de una tabla: NO USA ÍNDICES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Puede usar métricas de distancia: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Euclidean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Cosine</a:t>
            </a: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AB8F95-E9BC-6594-4931-367D8A5FD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2523" y="4712913"/>
            <a:ext cx="7526648" cy="52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41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E0477-DB17-8338-6ACC-C626ABF8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5D61FCF0-FA5F-0B0C-F375-94C3DFFD6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082AE74-588C-08BE-745F-5C91427B14C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AC32AD-ED62-78E3-3179-B5B36651DF22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 APROXIMADA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983B6E25-FCDE-AB85-273E-F315E64CF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E2280ED0-635A-DAC1-DB44-6D8D75084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5401FFBA-AC3C-50A1-F7D4-093057F354BF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BCB86B24-B7E3-0755-C8BE-8A7E64923C19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Función de tabla que busca el Top N vectores más cercanos.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USA LOS INDICES VECTORIALES.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Solo FILTRO POSTERIOR. </a:t>
            </a:r>
            <a:r>
              <a:rPr lang="es-ES" dirty="0"/>
              <a:t>La búsqueda de vectores se produce antes de aplicar cualquier predicado. </a:t>
            </a: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Puede usar métricas de distancia </a:t>
            </a:r>
            <a:r>
              <a:rPr lang="es-ES" dirty="0" err="1"/>
              <a:t>Euclidean</a:t>
            </a:r>
            <a:r>
              <a:rPr lang="es-ES" dirty="0"/>
              <a:t>, Dot y </a:t>
            </a:r>
            <a:r>
              <a:rPr lang="es-ES" dirty="0" err="1"/>
              <a:t>Cosine</a:t>
            </a: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2123EF-56C0-7F4F-CCE3-27BBE5CB7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5092" y="3429000"/>
            <a:ext cx="6081510" cy="207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92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4FE8E-220E-5452-1A53-31ECF805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54332C5-579D-4C10-8C12-A8846922A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7F909C2-DE04-609F-D397-05CCB718944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A485EC5-AF71-E88D-37A8-E0D079A52E54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DiskANN</a:t>
            </a: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: Búsqueda vectorial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AE0DAF7C-F1A3-E848-EF49-C02615F59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C0309E98-D7F9-9C0A-F208-38120DD6F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D619D11-F783-1F04-408C-D9DCE899B4F0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20C26DA4-714C-7044-3430-A0E58CE1FEB2}"/>
              </a:ext>
            </a:extLst>
          </p:cNvPr>
          <p:cNvSpPr/>
          <p:nvPr/>
        </p:nvSpPr>
        <p:spPr>
          <a:xfrm>
            <a:off x="825500" y="1905000"/>
            <a:ext cx="5445991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r>
              <a:rPr lang="es-ES" dirty="0" err="1">
                <a:sym typeface="Inter"/>
              </a:rPr>
              <a:t>DiskANN</a:t>
            </a:r>
            <a:r>
              <a:rPr lang="es-ES" dirty="0">
                <a:sym typeface="Inter"/>
              </a:rPr>
              <a:t> (basado en el algoritmo de grafo Vamana de Microsoft </a:t>
            </a:r>
            <a:r>
              <a:rPr lang="es-ES" dirty="0" err="1">
                <a:sym typeface="Inter"/>
              </a:rPr>
              <a:t>Research</a:t>
            </a:r>
            <a:r>
              <a:rPr lang="es-ES" dirty="0">
                <a:sym typeface="Inter"/>
              </a:rPr>
              <a:t>) revoluciona la indexación vectorial superando los límites de la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Optimizado para SSD</a:t>
            </a:r>
            <a:r>
              <a:rPr lang="es-ES" dirty="0"/>
              <a:t>: Mantiene la conectividad del grafo en disco sin penalizar severamente la latencia.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ym typeface="Inter SemiBold"/>
              </a:rPr>
              <a:t>Navegación de Grafo</a:t>
            </a:r>
            <a:r>
              <a:rPr lang="es-ES" dirty="0">
                <a:sym typeface="Inter SemiBold"/>
              </a:rPr>
              <a:t>:</a:t>
            </a:r>
            <a:r>
              <a:rPr lang="es-ES" dirty="0">
                <a:sym typeface="Inter"/>
              </a:rPr>
              <a:t> Ruta eficiente desde un nodo de entrada hasta los vecinos más cercanos.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ym typeface="Inter SemiBold"/>
              </a:rPr>
              <a:t>Regla de Oro</a:t>
            </a:r>
            <a:r>
              <a:rPr lang="es-ES" dirty="0">
                <a:sym typeface="Inter SemiBold"/>
              </a:rPr>
              <a:t>:</a:t>
            </a:r>
            <a:r>
              <a:rPr lang="es-ES" dirty="0">
                <a:sym typeface="Inter"/>
              </a:rPr>
              <a:t> Aporta beneficio de rendimiento real cuando superas los </a:t>
            </a:r>
            <a:r>
              <a:rPr lang="es-ES" dirty="0">
                <a:sym typeface="Inter SemiBold"/>
              </a:rPr>
              <a:t>50.000 registros</a:t>
            </a:r>
            <a:r>
              <a:rPr lang="es-ES" dirty="0">
                <a:sym typeface="Inter"/>
              </a:rPr>
              <a:t> vectoriales.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7" name="Imagen 6" descr="A graph representing the GreedySearch path (efficient nearest neighbor search)">
            <a:extLst>
              <a:ext uri="{FF2B5EF4-FFF2-40B4-BE49-F238E27FC236}">
                <a16:creationId xmlns:a16="http://schemas.microsoft.com/office/drawing/2014/main" id="{6CE4C4DE-0A6D-1731-A57F-575F254745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434" t="10938" r="29684" b="14546"/>
          <a:stretch>
            <a:fillRect/>
          </a:stretch>
        </p:blipFill>
        <p:spPr>
          <a:xfrm>
            <a:off x="7429833" y="1825520"/>
            <a:ext cx="4068414" cy="388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46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33205-023B-3D39-D99E-9F8B4E75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0CAAA6A7-9603-718C-1C1E-EFED5E605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4EBDB8-A1E5-4B02-C630-22D73E8D2479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88B5CD-738C-0E73-1E64-28E1044781E8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Filtros en </a:t>
            </a:r>
            <a:r>
              <a:rPr lang="es-ES" sz="3200" b="1" spc="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DiskANN</a:t>
            </a:r>
            <a:endParaRPr lang="es-ES" sz="3200" b="1" spc="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C55145F0-EFE3-74C3-D729-69730F5D3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AD5E8CB5-9008-CAEA-EC80-B452E439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4F741E6E-F9BF-DDBF-1DD4-8C8B24A6F022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FC2A1514-43AE-7ADA-D019-C8288570EB91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DiskANN</a:t>
            </a:r>
            <a:r>
              <a:rPr lang="es-ES" dirty="0"/>
              <a:t> filtra antes de los filtros tradicionales en SQL (</a:t>
            </a:r>
            <a:r>
              <a:rPr lang="es-ES" dirty="0" err="1"/>
              <a:t>Post-filtering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Fase 1 (Vectorial): 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El motor de SQL utiliza el índice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DiskANN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para encontrar rápidamente el Top K de vecinos más cercanos basándose únicamente en el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Fase 2 (Relacional): 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Sobre ese Top K resultante, se aplican a posteriori los filtros tradicionales definidos en el WHERE (ej.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Categoria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= 'snack’).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El Riesgo:</a:t>
            </a: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Si ninguno de los elementos del Top K vectorial cumple la condición tradicional del WHERE, la consulta devolverá un resultado vacío, aunque existan registros válidos más abajo en el ranking general.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Arquitectura: </a:t>
            </a: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Es crítico diseñar la partición de datos y afinar el valor de "K" considerando este comportamiento.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0906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EFA71-26B5-4A88-117E-90B8A147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A1FEDE63-0038-B3D8-3F76-4FAF4F83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F77D843-0448-DC2D-70CF-3C7BC1E25183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IA en SQL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5D63CB-66FC-E829-7156-FD4A4A2FF605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Cuando usar cada una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EAC0ECEB-0620-141D-E6E3-86F945B2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E0B9C3DB-8384-DB43-AD54-EDE247E4E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60AD4C6-E8DD-30AE-86A6-C1C83266A42E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BA8664DE-B62E-8D27-ED5E-2DE7AC2B23A2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VECTOR_SEARCH </a:t>
            </a:r>
            <a:r>
              <a:rPr lang="es-ES" dirty="0"/>
              <a:t>con índice </a:t>
            </a:r>
            <a:r>
              <a:rPr lang="es-ES" dirty="0" err="1"/>
              <a:t>DiskANN</a:t>
            </a:r>
            <a:r>
              <a:rPr lang="es-ES" dirty="0"/>
              <a:t> es muy rápido en grandes volúmenes de datos (+50.000 registros)</a:t>
            </a: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VECTOR_DISTANCE 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 aplica después de los filtros transaccionales.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 el resultado de los filtros es de muchos registros usa VECTOR_SEARCH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Para menos de 50.000 registros usa VECTOR_DISTANCE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 los filtros 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transaccionales son muy “agresivos” puede interesar VECTOR_DISTANCE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EJEMPLO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Tabla artículos con 100.000 registros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 categorías y 20 subcategorías de producto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Reparto uniforme (20.000 artículos por categoría, 1.000 por subcategoría)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Sin más filtros: VECTOR_SEARCH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Filtrando por Categoría y Subcategoría: VECTOR_DISTANCE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79358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4D20-9F1B-74BF-BA6D-A2809742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6505E856-42BC-BC20-C895-CD7A6BE80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4308A2-C116-4A5D-2EBA-B58E43091BE0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7E9A4A12-C0A7-8D93-EC21-751D3873C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A638332C-002F-6243-C4FF-A685C2D54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21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21BB-8DE1-5470-F8CA-2D0D18F2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80CB672F-2589-332C-14F8-EAF1364A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4DA74D8-E158-7477-A0EA-6F2AB9F5DB90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RAG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C0B97D50-B752-7187-594F-31172ABC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F9941AC2-C03D-F0D1-92B2-FC3F07B86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37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5568-B0CD-28E2-00D6-10495E94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BBEE6285-319A-9B23-F66D-444EE6FF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990437-8107-4408-3407-C6477D8B503F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2538572E-E49C-0340-6730-8611BC594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907C61A1-844A-B4B7-8AB9-8DF2D53CD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58" name="Text 0">
            <a:extLst>
              <a:ext uri="{FF2B5EF4-FFF2-40B4-BE49-F238E27FC236}">
                <a16:creationId xmlns:a16="http://schemas.microsoft.com/office/drawing/2014/main" id="{611E37FB-F06C-C0E9-FF27-500FF99714B3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Patrón RAG</a:t>
            </a: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1CC0A0F2-C1A6-8FB3-2783-A26ACFD42F7A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PATRÓN CLASICO</a:t>
            </a:r>
          </a:p>
        </p:txBody>
      </p:sp>
      <p:sp>
        <p:nvSpPr>
          <p:cNvPr id="62" name="Accent Bar">
            <a:extLst>
              <a:ext uri="{FF2B5EF4-FFF2-40B4-BE49-F238E27FC236}">
                <a16:creationId xmlns:a16="http://schemas.microsoft.com/office/drawing/2014/main" id="{8B52A0FE-63BD-B8AD-1D04-97DA41C222DD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801090E-7C61-1E42-3E04-4780E040137C}"/>
              </a:ext>
            </a:extLst>
          </p:cNvPr>
          <p:cNvSpPr/>
          <p:nvPr/>
        </p:nvSpPr>
        <p:spPr>
          <a:xfrm>
            <a:off x="1928307" y="5515519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E13E7C70-4079-0EA8-3ADA-7C200F16A1ED}"/>
              </a:ext>
            </a:extLst>
          </p:cNvPr>
          <p:cNvSpPr/>
          <p:nvPr/>
        </p:nvSpPr>
        <p:spPr>
          <a:xfrm>
            <a:off x="1908450" y="1377199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700554C9-7E0A-5C19-952C-9A23E7631997}"/>
              </a:ext>
            </a:extLst>
          </p:cNvPr>
          <p:cNvSpPr/>
          <p:nvPr/>
        </p:nvSpPr>
        <p:spPr>
          <a:xfrm>
            <a:off x="1918378" y="2751819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8C4A9FB5-F07D-FD37-B1A4-6A42324FEB45}"/>
              </a:ext>
            </a:extLst>
          </p:cNvPr>
          <p:cNvSpPr/>
          <p:nvPr/>
        </p:nvSpPr>
        <p:spPr>
          <a:xfrm>
            <a:off x="1939432" y="4180888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2F4EC80-A14F-AAB0-9450-E99A35315E38}"/>
              </a:ext>
            </a:extLst>
          </p:cNvPr>
          <p:cNvSpPr/>
          <p:nvPr/>
        </p:nvSpPr>
        <p:spPr>
          <a:xfrm>
            <a:off x="1918378" y="1412408"/>
            <a:ext cx="1862033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Cliente pregunta un producto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2D0796C-321C-D7C7-7741-9AD8160F5F49}"/>
              </a:ext>
            </a:extLst>
          </p:cNvPr>
          <p:cNvSpPr/>
          <p:nvPr/>
        </p:nvSpPr>
        <p:spPr>
          <a:xfrm>
            <a:off x="1928307" y="2787028"/>
            <a:ext cx="1862032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Vendedor interpreta necesidades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5C18F140-433D-22B7-340C-2A9780B1B94C}"/>
              </a:ext>
            </a:extLst>
          </p:cNvPr>
          <p:cNvSpPr/>
          <p:nvPr/>
        </p:nvSpPr>
        <p:spPr>
          <a:xfrm>
            <a:off x="4030107" y="5477818"/>
            <a:ext cx="6894661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357B284-D3FA-60B8-6ADC-569909FAC5E5}"/>
              </a:ext>
            </a:extLst>
          </p:cNvPr>
          <p:cNvSpPr/>
          <p:nvPr/>
        </p:nvSpPr>
        <p:spPr>
          <a:xfrm>
            <a:off x="4010250" y="1339498"/>
            <a:ext cx="6894661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8FDDF93-C3E7-6E78-D7B1-491EA59B16C6}"/>
              </a:ext>
            </a:extLst>
          </p:cNvPr>
          <p:cNvSpPr/>
          <p:nvPr/>
        </p:nvSpPr>
        <p:spPr>
          <a:xfrm>
            <a:off x="4020178" y="2714118"/>
            <a:ext cx="6894661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466E9BCE-A152-8FB6-1864-54B151D80AB7}"/>
              </a:ext>
            </a:extLst>
          </p:cNvPr>
          <p:cNvSpPr/>
          <p:nvPr/>
        </p:nvSpPr>
        <p:spPr>
          <a:xfrm>
            <a:off x="4041232" y="4143187"/>
            <a:ext cx="6894661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C3ACEA6-7534-0359-6DB7-81BD6F144FF1}"/>
              </a:ext>
            </a:extLst>
          </p:cNvPr>
          <p:cNvSpPr/>
          <p:nvPr/>
        </p:nvSpPr>
        <p:spPr>
          <a:xfrm>
            <a:off x="1908450" y="4216097"/>
            <a:ext cx="1871961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Consulta  base de datos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A117A71-8E7D-9E3E-6DE5-7628AD4C4114}"/>
              </a:ext>
            </a:extLst>
          </p:cNvPr>
          <p:cNvSpPr/>
          <p:nvPr/>
        </p:nvSpPr>
        <p:spPr>
          <a:xfrm>
            <a:off x="1928307" y="5574727"/>
            <a:ext cx="1871961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Respuesta vendedor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1" name="Imagen 50" descr="Icono, Círculo&#10;&#10;El contenido generado por IA puede ser incorrecto.">
            <a:extLst>
              <a:ext uri="{FF2B5EF4-FFF2-40B4-BE49-F238E27FC236}">
                <a16:creationId xmlns:a16="http://schemas.microsoft.com/office/drawing/2014/main" id="{71FA4761-A892-CE45-8089-F7EAA1C76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693" y="2161665"/>
            <a:ext cx="532812" cy="532812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54984271-55CD-9889-6F6F-E25530E637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663" y="3519830"/>
            <a:ext cx="549514" cy="549514"/>
          </a:xfrm>
          <a:prstGeom prst="rect">
            <a:avLst/>
          </a:prstGeom>
        </p:spPr>
      </p:pic>
      <p:pic>
        <p:nvPicPr>
          <p:cNvPr id="53" name="Imagen 52" descr="Icono&#10;&#10;El contenido generado por IA puede ser incorrecto.">
            <a:extLst>
              <a:ext uri="{FF2B5EF4-FFF2-40B4-BE49-F238E27FC236}">
                <a16:creationId xmlns:a16="http://schemas.microsoft.com/office/drawing/2014/main" id="{0AA422F1-EAEE-25DB-E239-E16F253D86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693" y="6300636"/>
            <a:ext cx="549514" cy="549514"/>
          </a:xfrm>
          <a:prstGeom prst="rect">
            <a:avLst/>
          </a:prstGeom>
        </p:spPr>
      </p:pic>
      <p:pic>
        <p:nvPicPr>
          <p:cNvPr id="54" name="Imagen 53" descr="Gráfico, Gráfico de embudo&#10;&#10;El contenido generado por IA puede ser incorrecto.">
            <a:extLst>
              <a:ext uri="{FF2B5EF4-FFF2-40B4-BE49-F238E27FC236}">
                <a16:creationId xmlns:a16="http://schemas.microsoft.com/office/drawing/2014/main" id="{773FACA4-4011-BD65-00D7-9150B2E710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611" y="4865224"/>
            <a:ext cx="549514" cy="549514"/>
          </a:xfrm>
          <a:prstGeom prst="rect">
            <a:avLst/>
          </a:prstGeom>
        </p:spPr>
      </p:pic>
      <p:sp>
        <p:nvSpPr>
          <p:cNvPr id="55" name="Rectángulo 54">
            <a:extLst>
              <a:ext uri="{FF2B5EF4-FFF2-40B4-BE49-F238E27FC236}">
                <a16:creationId xmlns:a16="http://schemas.microsoft.com/office/drawing/2014/main" id="{DC59B0C3-1DCF-5C42-973A-F1BCA635B897}"/>
              </a:ext>
            </a:extLst>
          </p:cNvPr>
          <p:cNvSpPr/>
          <p:nvPr/>
        </p:nvSpPr>
        <p:spPr>
          <a:xfrm>
            <a:off x="4007822" y="1546565"/>
            <a:ext cx="690956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PREGUNTA: ¿Tienes algo dulce para merendar cuando salga del colegio?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200D00AA-2B86-CDB4-4C65-A92FBC9830EE}"/>
              </a:ext>
            </a:extLst>
          </p:cNvPr>
          <p:cNvSpPr/>
          <p:nvPr/>
        </p:nvSpPr>
        <p:spPr>
          <a:xfrm>
            <a:off x="4017349" y="2926117"/>
            <a:ext cx="690956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PIENSA: Un snack dulce, sano, para niños, fácil de llevar y comer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5F9E6AA5-83AA-FC06-32EF-FF36FDCF30AC}"/>
              </a:ext>
            </a:extLst>
          </p:cNvPr>
          <p:cNvSpPr/>
          <p:nvPr/>
        </p:nvSpPr>
        <p:spPr>
          <a:xfrm>
            <a:off x="4017349" y="4143187"/>
            <a:ext cx="6909560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 * FROM Productos</a:t>
            </a:r>
          </a:p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WHERE 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Categoria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=‘snack’ AND 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EsSaludable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=1 AND 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ClienteObjetivo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=‘niños’ AND 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Descripcion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LIKE ‘%dulce%’</a:t>
            </a:r>
            <a:endParaRPr lang="es-ES" sz="16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F69AD74-26E4-FFE6-495F-36E91B2E0F29}"/>
              </a:ext>
            </a:extLst>
          </p:cNvPr>
          <p:cNvSpPr/>
          <p:nvPr/>
        </p:nvSpPr>
        <p:spPr>
          <a:xfrm>
            <a:off x="4033560" y="5543701"/>
            <a:ext cx="690956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RESPUESTA: Claro, te encantarán estos batidos de fruta. Además, vienen en una bolsa fácil de llevar en la mochila.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833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5" grpId="0" animBg="1"/>
      <p:bldP spid="56" grpId="0" animBg="1"/>
      <p:bldP spid="57" grpId="0" animBg="1"/>
      <p:bldP spid="5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971A-11C7-F367-6B68-BA270329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2882D03-9CD9-3143-07BD-00ACD3E8B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D4FCF19-75D0-1EE5-66F7-4D9164B49648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000" dirty="0"/>
          </a:p>
        </p:txBody>
      </p:sp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A515884F-104A-6F49-D5FB-641E7F6BF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58" name="Text 0">
            <a:extLst>
              <a:ext uri="{FF2B5EF4-FFF2-40B4-BE49-F238E27FC236}">
                <a16:creationId xmlns:a16="http://schemas.microsoft.com/office/drawing/2014/main" id="{04BBA4A6-FEF8-671E-A2A8-F28849E06C69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Patrón RAG</a:t>
            </a: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0A313203-E340-32AC-41D9-09BA3F76BAD6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PATRÓN RAG</a:t>
            </a:r>
          </a:p>
        </p:txBody>
      </p:sp>
      <p:sp>
        <p:nvSpPr>
          <p:cNvPr id="62" name="Accent Bar">
            <a:extLst>
              <a:ext uri="{FF2B5EF4-FFF2-40B4-BE49-F238E27FC236}">
                <a16:creationId xmlns:a16="http://schemas.microsoft.com/office/drawing/2014/main" id="{78A9A0C2-BC6E-FEA5-9133-C898FC8FB4CB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255EFB-DA1F-725D-C4D8-B50FA24DA5D2}"/>
              </a:ext>
            </a:extLst>
          </p:cNvPr>
          <p:cNvSpPr/>
          <p:nvPr/>
        </p:nvSpPr>
        <p:spPr>
          <a:xfrm>
            <a:off x="2124883" y="5516641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56DA3B5-5977-77A9-C44F-75FD80F09AB1}"/>
              </a:ext>
            </a:extLst>
          </p:cNvPr>
          <p:cNvSpPr/>
          <p:nvPr/>
        </p:nvSpPr>
        <p:spPr>
          <a:xfrm>
            <a:off x="2105026" y="1378321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273BAE6-C180-A9BC-F508-1FBED6C824A0}"/>
              </a:ext>
            </a:extLst>
          </p:cNvPr>
          <p:cNvSpPr/>
          <p:nvPr/>
        </p:nvSpPr>
        <p:spPr>
          <a:xfrm>
            <a:off x="2114954" y="2752941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6F57B2-F4DC-65F3-6387-974F670C5EB2}"/>
              </a:ext>
            </a:extLst>
          </p:cNvPr>
          <p:cNvSpPr/>
          <p:nvPr/>
        </p:nvSpPr>
        <p:spPr>
          <a:xfrm>
            <a:off x="2136008" y="4182010"/>
            <a:ext cx="1881890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3BB050-4783-FB53-8E00-85BB0481B9A2}"/>
              </a:ext>
            </a:extLst>
          </p:cNvPr>
          <p:cNvSpPr/>
          <p:nvPr/>
        </p:nvSpPr>
        <p:spPr>
          <a:xfrm>
            <a:off x="2114954" y="1413530"/>
            <a:ext cx="1862033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Cliente pregunta un producto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7DE6605-CF65-5142-DFD0-883D66EABEF0}"/>
              </a:ext>
            </a:extLst>
          </p:cNvPr>
          <p:cNvSpPr/>
          <p:nvPr/>
        </p:nvSpPr>
        <p:spPr>
          <a:xfrm>
            <a:off x="2124883" y="2788150"/>
            <a:ext cx="1862032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 Server Con</a:t>
            </a:r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versión a vector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E481CB5-3356-18CC-4FCD-E352B4C85AE5}"/>
              </a:ext>
            </a:extLst>
          </p:cNvPr>
          <p:cNvSpPr/>
          <p:nvPr/>
        </p:nvSpPr>
        <p:spPr>
          <a:xfrm>
            <a:off x="4267594" y="5516641"/>
            <a:ext cx="6455824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8C0442C-DE7F-1DD3-2850-A603C4400694}"/>
              </a:ext>
            </a:extLst>
          </p:cNvPr>
          <p:cNvSpPr/>
          <p:nvPr/>
        </p:nvSpPr>
        <p:spPr>
          <a:xfrm>
            <a:off x="4247737" y="1378321"/>
            <a:ext cx="6455824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15C0ABD-43C8-A7C9-B325-E05FA4855084}"/>
              </a:ext>
            </a:extLst>
          </p:cNvPr>
          <p:cNvSpPr/>
          <p:nvPr/>
        </p:nvSpPr>
        <p:spPr>
          <a:xfrm>
            <a:off x="4257665" y="2752941"/>
            <a:ext cx="6455824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95E554D-7FA7-9928-5C7E-8E9D6A865059}"/>
              </a:ext>
            </a:extLst>
          </p:cNvPr>
          <p:cNvSpPr/>
          <p:nvPr/>
        </p:nvSpPr>
        <p:spPr>
          <a:xfrm>
            <a:off x="4278719" y="4182010"/>
            <a:ext cx="6455824" cy="108608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4130A61-F2A6-83BA-9FAB-FF18EF3DA220}"/>
              </a:ext>
            </a:extLst>
          </p:cNvPr>
          <p:cNvSpPr/>
          <p:nvPr/>
        </p:nvSpPr>
        <p:spPr>
          <a:xfrm>
            <a:off x="2124481" y="4454820"/>
            <a:ext cx="187196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RAG SQL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17230E-3A4D-E3C4-A449-0CE94CB2BD6C}"/>
              </a:ext>
            </a:extLst>
          </p:cNvPr>
          <p:cNvSpPr/>
          <p:nvPr/>
        </p:nvSpPr>
        <p:spPr>
          <a:xfrm>
            <a:off x="2124883" y="5582336"/>
            <a:ext cx="1871961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 Server </a:t>
            </a:r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Respuesta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8" name="Imagen 17" descr="Icono, Círculo&#10;&#10;El contenido generado por IA puede ser incorrecto.">
            <a:extLst>
              <a:ext uri="{FF2B5EF4-FFF2-40B4-BE49-F238E27FC236}">
                <a16:creationId xmlns:a16="http://schemas.microsoft.com/office/drawing/2014/main" id="{09232A59-20EE-D64E-34E6-1A73E1DFF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269" y="2162787"/>
            <a:ext cx="532812" cy="532812"/>
          </a:xfrm>
          <a:prstGeom prst="rect">
            <a:avLst/>
          </a:prstGeom>
        </p:spPr>
      </p:pic>
      <p:pic>
        <p:nvPicPr>
          <p:cNvPr id="19" name="Imagen 18" descr="Gráfico, Gráfico de embudo&#10;&#10;El contenido generado por IA puede ser incorrecto.">
            <a:extLst>
              <a:ext uri="{FF2B5EF4-FFF2-40B4-BE49-F238E27FC236}">
                <a16:creationId xmlns:a16="http://schemas.microsoft.com/office/drawing/2014/main" id="{EC14082D-2A08-7B8D-52E7-DC81E7D22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87" y="4866346"/>
            <a:ext cx="549514" cy="549514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C56E0419-C421-C535-475E-D83BD3B44E08}"/>
              </a:ext>
            </a:extLst>
          </p:cNvPr>
          <p:cNvSpPr/>
          <p:nvPr/>
        </p:nvSpPr>
        <p:spPr>
          <a:xfrm>
            <a:off x="4245309" y="1585388"/>
            <a:ext cx="6469775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PREGUNTA: ¿Tienes algo dulce para merendar cuando salga del colegio?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28EAD3-F7D6-16CB-CCCC-ED0E41874EEB}"/>
              </a:ext>
            </a:extLst>
          </p:cNvPr>
          <p:cNvSpPr/>
          <p:nvPr/>
        </p:nvSpPr>
        <p:spPr>
          <a:xfrm>
            <a:off x="4254836" y="2964940"/>
            <a:ext cx="6469775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[3.6344144, -2.7122697, -0.02, -1.8618926, 8.5714767, -0.03, 1.0094843, -1002.5985, …]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33DDB2F-7841-F653-8877-27AFBB744274}"/>
              </a:ext>
            </a:extLst>
          </p:cNvPr>
          <p:cNvSpPr/>
          <p:nvPr/>
        </p:nvSpPr>
        <p:spPr>
          <a:xfrm>
            <a:off x="4254836" y="4182010"/>
            <a:ext cx="6469775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 top 3 , 1-vector_distance('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cosine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', [</a:t>
            </a:r>
            <a:r>
              <a:rPr lang="es-ES" sz="1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Embedding</a:t>
            </a:r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], @vector) as Similitud FROM Productos</a:t>
            </a:r>
          </a:p>
          <a:p>
            <a:pPr algn="ctr"/>
            <a:r>
              <a:rPr lang="es-ES" sz="16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BY Similitud DESC</a:t>
            </a:r>
            <a:endParaRPr lang="es-ES" sz="16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18B0200-1699-C207-9E41-5E5684F8542E}"/>
              </a:ext>
            </a:extLst>
          </p:cNvPr>
          <p:cNvSpPr/>
          <p:nvPr/>
        </p:nvSpPr>
        <p:spPr>
          <a:xfrm>
            <a:off x="4141347" y="5582524"/>
            <a:ext cx="6469775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RESPUESTA: Claro, te encantarán batidos de fruta. Además, vienen en una bolsa fácil de llevar en la mochila.</a:t>
            </a:r>
            <a:endParaRPr lang="es-ES" sz="2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4" name="Imagen 23" descr="Gráfico, Gráfico de embudo&#10;&#10;El contenido generado por IA puede ser incorrecto.">
            <a:extLst>
              <a:ext uri="{FF2B5EF4-FFF2-40B4-BE49-F238E27FC236}">
                <a16:creationId xmlns:a16="http://schemas.microsoft.com/office/drawing/2014/main" id="{BADC61F1-6E35-290B-65F7-08D46FAD1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251" y="6245609"/>
            <a:ext cx="549514" cy="549514"/>
          </a:xfrm>
          <a:prstGeom prst="rect">
            <a:avLst/>
          </a:prstGeom>
        </p:spPr>
      </p:pic>
      <p:pic>
        <p:nvPicPr>
          <p:cNvPr id="25" name="Imagen 24" descr="Gráfico, Gráfico de embudo&#10;&#10;El contenido generado por IA puede ser incorrecto.">
            <a:extLst>
              <a:ext uri="{FF2B5EF4-FFF2-40B4-BE49-F238E27FC236}">
                <a16:creationId xmlns:a16="http://schemas.microsoft.com/office/drawing/2014/main" id="{B4D3C9FC-58F7-67E7-FA82-DF1CC89F7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67" y="3546661"/>
            <a:ext cx="549514" cy="54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5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20" grpId="0"/>
      <p:bldP spid="21" grpId="0"/>
      <p:bldP spid="2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CEEA3-7458-64C0-09EF-5965558A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B625491A-5252-F428-860E-F3664FEDD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E6677A5-406E-47B5-9138-3E76552AA552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C799CC6A-34DE-C889-945C-8D576234C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69462E4A-44A3-0A40-2B3F-EFCE67FCD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grpSp>
        <p:nvGrpSpPr>
          <p:cNvPr id="63" name="Grupo 62">
            <a:extLst>
              <a:ext uri="{FF2B5EF4-FFF2-40B4-BE49-F238E27FC236}">
                <a16:creationId xmlns:a16="http://schemas.microsoft.com/office/drawing/2014/main" id="{983C42F4-8870-56D4-D91B-BD5D7074EA7E}"/>
              </a:ext>
            </a:extLst>
          </p:cNvPr>
          <p:cNvGrpSpPr/>
          <p:nvPr/>
        </p:nvGrpSpPr>
        <p:grpSpPr>
          <a:xfrm>
            <a:off x="1104274" y="210312"/>
            <a:ext cx="9705668" cy="5275858"/>
            <a:chOff x="1089298" y="770543"/>
            <a:chExt cx="9705668" cy="5275858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D08B3C6-CA7C-6657-1F92-693176414482}"/>
                </a:ext>
              </a:extLst>
            </p:cNvPr>
            <p:cNvGrpSpPr/>
            <p:nvPr/>
          </p:nvGrpSpPr>
          <p:grpSpPr>
            <a:xfrm>
              <a:off x="1089298" y="1175705"/>
              <a:ext cx="9330453" cy="4870696"/>
              <a:chOff x="2377440" y="1328068"/>
              <a:chExt cx="9330453" cy="4870696"/>
            </a:xfrm>
          </p:grpSpPr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6B47725-FB46-D81E-5E8C-440CCB188A5F}"/>
                  </a:ext>
                </a:extLst>
              </p:cNvPr>
              <p:cNvSpPr txBox="1"/>
              <p:nvPr/>
            </p:nvSpPr>
            <p:spPr>
              <a:xfrm>
                <a:off x="2719150" y="4809904"/>
                <a:ext cx="126616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SQL</a:t>
                </a:r>
                <a:r>
                  <a:rPr kumimoji="0" lang="es-ES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Server</a:t>
                </a:r>
                <a:endPara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4FDA9350-9771-90C5-0AAE-94EEB06C8C3A}"/>
                  </a:ext>
                </a:extLst>
              </p:cNvPr>
              <p:cNvGrpSpPr/>
              <p:nvPr/>
            </p:nvGrpSpPr>
            <p:grpSpPr>
              <a:xfrm>
                <a:off x="9797661" y="5076224"/>
                <a:ext cx="1266161" cy="976694"/>
                <a:chOff x="8552426" y="5029248"/>
                <a:chExt cx="1266161" cy="976694"/>
              </a:xfrm>
            </p:grpSpPr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2F17D8B7-D56C-612E-8ACE-E41880B2144A}"/>
                    </a:ext>
                  </a:extLst>
                </p:cNvPr>
                <p:cNvSpPr txBox="1"/>
                <p:nvPr/>
              </p:nvSpPr>
              <p:spPr>
                <a:xfrm>
                  <a:off x="8552426" y="5728943"/>
                  <a:ext cx="126616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>
                  <a:defPPr>
                    <a:defRPr lang="es-ES"/>
                  </a:defPPr>
                  <a:lvl1pPr algn="ctr">
                    <a:defRPr sz="120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Answering</a:t>
                  </a:r>
                  <a:endPara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  <p:pic>
              <p:nvPicPr>
                <p:cNvPr id="35" name="Picture 10" descr="OpenAI icon PNG and SVG Free Download">
                  <a:extLst>
                    <a:ext uri="{FF2B5EF4-FFF2-40B4-BE49-F238E27FC236}">
                      <a16:creationId xmlns:a16="http://schemas.microsoft.com/office/drawing/2014/main" id="{1EC4C2C6-BE63-6FE6-E567-3C075AC7C15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89040" y="5029248"/>
                  <a:ext cx="661500" cy="661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C35FB5DD-0E90-06E9-87CC-482D64DAB831}"/>
                  </a:ext>
                </a:extLst>
              </p:cNvPr>
              <p:cNvGrpSpPr/>
              <p:nvPr/>
            </p:nvGrpSpPr>
            <p:grpSpPr>
              <a:xfrm>
                <a:off x="5678694" y="3882085"/>
                <a:ext cx="1266161" cy="1039547"/>
                <a:chOff x="5665006" y="3623190"/>
                <a:chExt cx="1266161" cy="1039547"/>
              </a:xfrm>
            </p:grpSpPr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80BF17A1-792E-25E9-3575-4D3DAF161E08}"/>
                    </a:ext>
                  </a:extLst>
                </p:cNvPr>
                <p:cNvSpPr txBox="1"/>
                <p:nvPr/>
              </p:nvSpPr>
              <p:spPr>
                <a:xfrm>
                  <a:off x="5665006" y="4385738"/>
                  <a:ext cx="126616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>
                  <a:defPPr>
                    <a:defRPr lang="es-ES"/>
                  </a:defPPr>
                  <a:lvl1pPr algn="ctr">
                    <a:defRPr sz="120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Embeddings</a:t>
                  </a:r>
                  <a:endPara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  <p:pic>
              <p:nvPicPr>
                <p:cNvPr id="33" name="Picture 10" descr="OpenAI icon PNG and SVG Free Download">
                  <a:extLst>
                    <a:ext uri="{FF2B5EF4-FFF2-40B4-BE49-F238E27FC236}">
                      <a16:creationId xmlns:a16="http://schemas.microsoft.com/office/drawing/2014/main" id="{4710D077-BA13-A25C-C1B8-6410D747F6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67337" y="3623190"/>
                  <a:ext cx="661500" cy="661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FACA369E-84E4-FFCF-C22F-E28620355431}"/>
                  </a:ext>
                </a:extLst>
              </p:cNvPr>
              <p:cNvGrpSpPr/>
              <p:nvPr/>
            </p:nvGrpSpPr>
            <p:grpSpPr>
              <a:xfrm>
                <a:off x="9366814" y="1328068"/>
                <a:ext cx="1266161" cy="1002086"/>
                <a:chOff x="8486709" y="2312422"/>
                <a:chExt cx="1266161" cy="1002086"/>
              </a:xfrm>
            </p:grpSpPr>
            <p:pic>
              <p:nvPicPr>
                <p:cNvPr id="30" name="Picture 10" descr="OpenAI icon PNG and SVG Free Download">
                  <a:extLst>
                    <a:ext uri="{FF2B5EF4-FFF2-40B4-BE49-F238E27FC236}">
                      <a16:creationId xmlns:a16="http://schemas.microsoft.com/office/drawing/2014/main" id="{BF7F8260-CE9B-7F9E-9881-340A3D3A98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89040" y="2312422"/>
                  <a:ext cx="661500" cy="661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6E917FD3-7C71-F2BD-576B-4EAED5D59A21}"/>
                    </a:ext>
                  </a:extLst>
                </p:cNvPr>
                <p:cNvSpPr txBox="1"/>
                <p:nvPr/>
              </p:nvSpPr>
              <p:spPr>
                <a:xfrm>
                  <a:off x="8486709" y="3037509"/>
                  <a:ext cx="126616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>
                  <a:defPPr>
                    <a:defRPr lang="es-ES"/>
                  </a:defPPr>
                  <a:lvl1pPr algn="ctr">
                    <a:defRPr sz="120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Embeddings</a:t>
                  </a:r>
                  <a:endPara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</p:grpSp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FA5BE4D5-6984-C458-E946-CE1A51D1CD78}"/>
                  </a:ext>
                </a:extLst>
              </p:cNvPr>
              <p:cNvSpPr/>
              <p:nvPr/>
            </p:nvSpPr>
            <p:spPr>
              <a:xfrm>
                <a:off x="2377440" y="3156737"/>
                <a:ext cx="2072961" cy="2427600"/>
              </a:xfrm>
              <a:prstGeom prst="roundRect">
                <a:avLst/>
              </a:prstGeom>
              <a:noFill/>
              <a:ln>
                <a:solidFill>
                  <a:schemeClr val="accent4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0536800B-776D-19C0-BEE2-86BE4CCF4601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>
                <a:off x="4328093" y="4212834"/>
                <a:ext cx="531066" cy="1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C83D63DF-5F87-FDC2-5925-68818E5C387F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>
                <a:off x="5376642" y="4212835"/>
                <a:ext cx="604383" cy="0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ABD4A901-2A44-ADF0-60E4-22457460DEA9}"/>
                  </a:ext>
                </a:extLst>
              </p:cNvPr>
              <p:cNvSpPr/>
              <p:nvPr/>
            </p:nvSpPr>
            <p:spPr>
              <a:xfrm>
                <a:off x="5678693" y="3276497"/>
                <a:ext cx="3317375" cy="2922267"/>
              </a:xfrm>
              <a:prstGeom prst="roundRect">
                <a:avLst/>
              </a:prstGeom>
              <a:noFill/>
              <a:ln>
                <a:solidFill>
                  <a:schemeClr val="accent4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9BB6AC2-E19D-40E6-29DA-FAB71995A575}"/>
                  </a:ext>
                </a:extLst>
              </p:cNvPr>
              <p:cNvSpPr txBox="1"/>
              <p:nvPr/>
            </p:nvSpPr>
            <p:spPr>
              <a:xfrm>
                <a:off x="2377440" y="3229612"/>
                <a:ext cx="202178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>
                  <a:defRPr sz="120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DOCUMENTACION BASE</a:t>
                </a:r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11D8C1F-5B9E-312B-370E-DF5BD12C977A}"/>
                  </a:ext>
                </a:extLst>
              </p:cNvPr>
              <p:cNvSpPr txBox="1"/>
              <p:nvPr/>
            </p:nvSpPr>
            <p:spPr>
              <a:xfrm>
                <a:off x="6116131" y="3276147"/>
                <a:ext cx="222663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>
                  <a:defRPr sz="120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MOTOR BUSQUEDA</a:t>
                </a:r>
              </a:p>
            </p:txBody>
          </p:sp>
          <p:cxnSp>
            <p:nvCxnSpPr>
              <p:cNvPr id="17" name="Conector recto de flecha 38">
                <a:extLst>
                  <a:ext uri="{FF2B5EF4-FFF2-40B4-BE49-F238E27FC236}">
                    <a16:creationId xmlns:a16="http://schemas.microsoft.com/office/drawing/2014/main" id="{9E1DD29E-E7CE-5163-41CC-45B936F68994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6642525" y="4212835"/>
                <a:ext cx="1194645" cy="119413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de flecha 17">
                <a:extLst>
                  <a:ext uri="{FF2B5EF4-FFF2-40B4-BE49-F238E27FC236}">
                    <a16:creationId xmlns:a16="http://schemas.microsoft.com/office/drawing/2014/main" id="{57B7C2EE-A549-6AD4-E9E7-56004E1E64EC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>
                <a:off x="8645317" y="5406974"/>
                <a:ext cx="1388958" cy="0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de flecha 42">
                <a:extLst>
                  <a:ext uri="{FF2B5EF4-FFF2-40B4-BE49-F238E27FC236}">
                    <a16:creationId xmlns:a16="http://schemas.microsoft.com/office/drawing/2014/main" id="{562F1778-6CCA-B3E7-AF31-174C720E14D7}"/>
                  </a:ext>
                </a:extLst>
              </p:cNvPr>
              <p:cNvCxnSpPr>
                <a:cxnSpLocks/>
                <a:stCxn id="30" idx="1"/>
              </p:cNvCxnSpPr>
              <p:nvPr/>
            </p:nvCxnSpPr>
            <p:spPr>
              <a:xfrm rot="10800000" flipV="1">
                <a:off x="8342763" y="1658817"/>
                <a:ext cx="1326382" cy="3289687"/>
              </a:xfrm>
              <a:prstGeom prst="bentConnector2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140D2BF2-00EB-CA9D-4714-C0B1E5B62CE3}"/>
                  </a:ext>
                </a:extLst>
              </p:cNvPr>
              <p:cNvCxnSpPr>
                <a:cxnSpLocks/>
                <a:endCxn id="30" idx="3"/>
              </p:cNvCxnSpPr>
              <p:nvPr/>
            </p:nvCxnSpPr>
            <p:spPr>
              <a:xfrm flipH="1">
                <a:off x="10330645" y="1658818"/>
                <a:ext cx="1330271" cy="0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de flecha 42">
                <a:extLst>
                  <a:ext uri="{FF2B5EF4-FFF2-40B4-BE49-F238E27FC236}">
                    <a16:creationId xmlns:a16="http://schemas.microsoft.com/office/drawing/2014/main" id="{23113540-9FE9-238A-9D8D-2185B5FD6B60}"/>
                  </a:ext>
                </a:extLst>
              </p:cNvPr>
              <p:cNvCxnSpPr>
                <a:cxnSpLocks/>
                <a:stCxn id="35" idx="3"/>
              </p:cNvCxnSpPr>
              <p:nvPr/>
            </p:nvCxnSpPr>
            <p:spPr>
              <a:xfrm flipV="1">
                <a:off x="10695775" y="2388055"/>
                <a:ext cx="1012118" cy="3018919"/>
              </a:xfrm>
              <a:prstGeom prst="bentConnector2">
                <a:avLst/>
              </a:prstGeom>
              <a:ln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4BD67D66-DFF5-F46C-C97C-4A2A30052A3C}"/>
                  </a:ext>
                </a:extLst>
              </p:cNvPr>
              <p:cNvSpPr/>
              <p:nvPr/>
            </p:nvSpPr>
            <p:spPr>
              <a:xfrm flipH="1">
                <a:off x="9464270" y="2510084"/>
                <a:ext cx="1732750" cy="646653"/>
              </a:xfrm>
              <a:custGeom>
                <a:avLst/>
                <a:gdLst>
                  <a:gd name="connsiteX0" fmla="*/ 0 w 1616634"/>
                  <a:gd name="connsiteY0" fmla="*/ 0 h 646653"/>
                  <a:gd name="connsiteX1" fmla="*/ 1293308 w 1616634"/>
                  <a:gd name="connsiteY1" fmla="*/ 0 h 646653"/>
                  <a:gd name="connsiteX2" fmla="*/ 1616634 w 1616634"/>
                  <a:gd name="connsiteY2" fmla="*/ 323327 h 646653"/>
                  <a:gd name="connsiteX3" fmla="*/ 1293308 w 1616634"/>
                  <a:gd name="connsiteY3" fmla="*/ 646653 h 646653"/>
                  <a:gd name="connsiteX4" fmla="*/ 0 w 1616634"/>
                  <a:gd name="connsiteY4" fmla="*/ 646653 h 646653"/>
                  <a:gd name="connsiteX5" fmla="*/ 323327 w 1616634"/>
                  <a:gd name="connsiteY5" fmla="*/ 323327 h 646653"/>
                  <a:gd name="connsiteX6" fmla="*/ 0 w 1616634"/>
                  <a:gd name="connsiteY6" fmla="*/ 0 h 64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6634" h="646653">
                    <a:moveTo>
                      <a:pt x="0" y="0"/>
                    </a:moveTo>
                    <a:lnTo>
                      <a:pt x="1293308" y="0"/>
                    </a:lnTo>
                    <a:lnTo>
                      <a:pt x="1616634" y="323327"/>
                    </a:lnTo>
                    <a:lnTo>
                      <a:pt x="1293308" y="646653"/>
                    </a:lnTo>
                    <a:lnTo>
                      <a:pt x="0" y="646653"/>
                    </a:lnTo>
                    <a:lnTo>
                      <a:pt x="323327" y="3233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7350668"/>
                  <a:satOff val="-30583"/>
                  <a:lumOff val="7206"/>
                  <a:alphaOff val="0"/>
                </a:schemeClr>
              </a:fillRef>
              <a:effectRef idx="0">
                <a:schemeClr val="accent4">
                  <a:hueOff val="7350668"/>
                  <a:satOff val="-30583"/>
                  <a:lumOff val="720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63332" tIns="13335" rIns="336661" bIns="13335" numCol="1" spcCol="127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Generar </a:t>
                </a:r>
                <a:r>
                  <a:rPr kumimoji="0" lang="es-ES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Embedding</a:t>
                </a:r>
                <a:endParaRPr kumimoji="0" lang="es-E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23" name="Forma libre: forma 22">
                <a:extLst>
                  <a:ext uri="{FF2B5EF4-FFF2-40B4-BE49-F238E27FC236}">
                    <a16:creationId xmlns:a16="http://schemas.microsoft.com/office/drawing/2014/main" id="{2CB08D40-8436-C565-FABF-79BDC5AE4F69}"/>
                  </a:ext>
                </a:extLst>
              </p:cNvPr>
              <p:cNvSpPr/>
              <p:nvPr/>
            </p:nvSpPr>
            <p:spPr>
              <a:xfrm rot="5400000">
                <a:off x="8054190" y="3337674"/>
                <a:ext cx="1616634" cy="860212"/>
              </a:xfrm>
              <a:custGeom>
                <a:avLst/>
                <a:gdLst>
                  <a:gd name="connsiteX0" fmla="*/ 0 w 1616634"/>
                  <a:gd name="connsiteY0" fmla="*/ 0 h 646653"/>
                  <a:gd name="connsiteX1" fmla="*/ 1293308 w 1616634"/>
                  <a:gd name="connsiteY1" fmla="*/ 0 h 646653"/>
                  <a:gd name="connsiteX2" fmla="*/ 1616634 w 1616634"/>
                  <a:gd name="connsiteY2" fmla="*/ 323327 h 646653"/>
                  <a:gd name="connsiteX3" fmla="*/ 1293308 w 1616634"/>
                  <a:gd name="connsiteY3" fmla="*/ 646653 h 646653"/>
                  <a:gd name="connsiteX4" fmla="*/ 0 w 1616634"/>
                  <a:gd name="connsiteY4" fmla="*/ 646653 h 646653"/>
                  <a:gd name="connsiteX5" fmla="*/ 323327 w 1616634"/>
                  <a:gd name="connsiteY5" fmla="*/ 323327 h 646653"/>
                  <a:gd name="connsiteX6" fmla="*/ 0 w 1616634"/>
                  <a:gd name="connsiteY6" fmla="*/ 0 h 64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6634" h="646653">
                    <a:moveTo>
                      <a:pt x="0" y="0"/>
                    </a:moveTo>
                    <a:lnTo>
                      <a:pt x="1293308" y="0"/>
                    </a:lnTo>
                    <a:lnTo>
                      <a:pt x="1616634" y="323327"/>
                    </a:lnTo>
                    <a:lnTo>
                      <a:pt x="1293308" y="646653"/>
                    </a:lnTo>
                    <a:lnTo>
                      <a:pt x="0" y="646653"/>
                    </a:lnTo>
                    <a:lnTo>
                      <a:pt x="323327" y="3233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F319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2450223"/>
                  <a:satOff val="-10194"/>
                  <a:lumOff val="2402"/>
                  <a:alphaOff val="0"/>
                </a:schemeClr>
              </a:fillRef>
              <a:effectRef idx="0">
                <a:schemeClr val="accent4">
                  <a:hueOff val="2450223"/>
                  <a:satOff val="-10194"/>
                  <a:lumOff val="240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vert270" wrap="square" lIns="363332" tIns="13335" rIns="336661" bIns="13335" numCol="1" spcCol="1270" anchor="ctr" anchorCtr="0">
                <a:norm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Consultar </a:t>
                </a:r>
                <a:r>
                  <a:rPr kumimoji="0" lang="es-E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Embeddings</a:t>
                </a:r>
                <a:endPara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0F2839A9-A049-0404-3683-BFA32712A75A}"/>
                  </a:ext>
                </a:extLst>
              </p:cNvPr>
              <p:cNvSpPr/>
              <p:nvPr/>
            </p:nvSpPr>
            <p:spPr>
              <a:xfrm rot="16200000">
                <a:off x="10158187" y="3749827"/>
                <a:ext cx="1616634" cy="780722"/>
              </a:xfrm>
              <a:custGeom>
                <a:avLst/>
                <a:gdLst>
                  <a:gd name="connsiteX0" fmla="*/ 0 w 1616634"/>
                  <a:gd name="connsiteY0" fmla="*/ 0 h 646653"/>
                  <a:gd name="connsiteX1" fmla="*/ 1293308 w 1616634"/>
                  <a:gd name="connsiteY1" fmla="*/ 0 h 646653"/>
                  <a:gd name="connsiteX2" fmla="*/ 1616634 w 1616634"/>
                  <a:gd name="connsiteY2" fmla="*/ 323327 h 646653"/>
                  <a:gd name="connsiteX3" fmla="*/ 1293308 w 1616634"/>
                  <a:gd name="connsiteY3" fmla="*/ 646653 h 646653"/>
                  <a:gd name="connsiteX4" fmla="*/ 0 w 1616634"/>
                  <a:gd name="connsiteY4" fmla="*/ 646653 h 646653"/>
                  <a:gd name="connsiteX5" fmla="*/ 323327 w 1616634"/>
                  <a:gd name="connsiteY5" fmla="*/ 323327 h 646653"/>
                  <a:gd name="connsiteX6" fmla="*/ 0 w 1616634"/>
                  <a:gd name="connsiteY6" fmla="*/ 0 h 64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6634" h="646653">
                    <a:moveTo>
                      <a:pt x="0" y="0"/>
                    </a:moveTo>
                    <a:lnTo>
                      <a:pt x="1293308" y="0"/>
                    </a:lnTo>
                    <a:lnTo>
                      <a:pt x="1616634" y="323327"/>
                    </a:lnTo>
                    <a:lnTo>
                      <a:pt x="1293308" y="646653"/>
                    </a:lnTo>
                    <a:lnTo>
                      <a:pt x="0" y="646653"/>
                    </a:lnTo>
                    <a:lnTo>
                      <a:pt x="323327" y="323327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9800891"/>
                  <a:satOff val="-40777"/>
                  <a:lumOff val="9608"/>
                  <a:alphaOff val="0"/>
                </a:schemeClr>
              </a:fillRef>
              <a:effectRef idx="0">
                <a:schemeClr val="accent4">
                  <a:hueOff val="9800891"/>
                  <a:satOff val="-40777"/>
                  <a:lumOff val="960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vert" wrap="square" lIns="363332" tIns="13335" rIns="336661" bIns="13335" numCol="1" spcCol="127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Generar Respuestas</a:t>
                </a:r>
              </a:p>
            </p:txBody>
          </p:sp>
          <p:sp>
            <p:nvSpPr>
              <p:cNvPr id="25" name="Forma libre: forma 24">
                <a:extLst>
                  <a:ext uri="{FF2B5EF4-FFF2-40B4-BE49-F238E27FC236}">
                    <a16:creationId xmlns:a16="http://schemas.microsoft.com/office/drawing/2014/main" id="{2DA3B869-7331-A7A9-3D91-C75846C562A1}"/>
                  </a:ext>
                </a:extLst>
              </p:cNvPr>
              <p:cNvSpPr/>
              <p:nvPr/>
            </p:nvSpPr>
            <p:spPr>
              <a:xfrm>
                <a:off x="8645317" y="4587022"/>
                <a:ext cx="1616634" cy="688042"/>
              </a:xfrm>
              <a:custGeom>
                <a:avLst/>
                <a:gdLst>
                  <a:gd name="connsiteX0" fmla="*/ 0 w 1616634"/>
                  <a:gd name="connsiteY0" fmla="*/ 0 h 646653"/>
                  <a:gd name="connsiteX1" fmla="*/ 1293308 w 1616634"/>
                  <a:gd name="connsiteY1" fmla="*/ 0 h 646653"/>
                  <a:gd name="connsiteX2" fmla="*/ 1616634 w 1616634"/>
                  <a:gd name="connsiteY2" fmla="*/ 323327 h 646653"/>
                  <a:gd name="connsiteX3" fmla="*/ 1293308 w 1616634"/>
                  <a:gd name="connsiteY3" fmla="*/ 646653 h 646653"/>
                  <a:gd name="connsiteX4" fmla="*/ 0 w 1616634"/>
                  <a:gd name="connsiteY4" fmla="*/ 646653 h 646653"/>
                  <a:gd name="connsiteX5" fmla="*/ 323327 w 1616634"/>
                  <a:gd name="connsiteY5" fmla="*/ 323327 h 646653"/>
                  <a:gd name="connsiteX6" fmla="*/ 0 w 1616634"/>
                  <a:gd name="connsiteY6" fmla="*/ 0 h 64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6634" h="646653">
                    <a:moveTo>
                      <a:pt x="0" y="0"/>
                    </a:moveTo>
                    <a:lnTo>
                      <a:pt x="1293308" y="0"/>
                    </a:lnTo>
                    <a:lnTo>
                      <a:pt x="1616634" y="323327"/>
                    </a:lnTo>
                    <a:lnTo>
                      <a:pt x="1293308" y="646653"/>
                    </a:lnTo>
                    <a:lnTo>
                      <a:pt x="0" y="646653"/>
                    </a:lnTo>
                    <a:lnTo>
                      <a:pt x="323327" y="323327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7350668"/>
                  <a:satOff val="-30583"/>
                  <a:lumOff val="7206"/>
                  <a:alphaOff val="0"/>
                </a:schemeClr>
              </a:fillRef>
              <a:effectRef idx="0">
                <a:schemeClr val="accent4">
                  <a:hueOff val="7350668"/>
                  <a:satOff val="-30583"/>
                  <a:lumOff val="720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63332" tIns="13335" rIns="336661" bIns="13335" numCol="1" spcCol="127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Recupera</a:t>
                </a:r>
              </a:p>
              <a:p>
                <a:pPr marL="0" marR="0" lvl="0" indent="0" algn="ctr" defTabSz="4445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Top-K Chunks</a:t>
                </a:r>
              </a:p>
            </p:txBody>
          </p:sp>
          <p:pic>
            <p:nvPicPr>
              <p:cNvPr id="26" name="Picture 2" descr="Creación de mi primera Base de Datos en Microsoft Azure – Business  Intelligence and Analytics">
                <a:extLst>
                  <a:ext uri="{FF2B5EF4-FFF2-40B4-BE49-F238E27FC236}">
                    <a16:creationId xmlns:a16="http://schemas.microsoft.com/office/drawing/2014/main" id="{BB9A18A9-AD53-8730-A4E2-91E73BD1C9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2623" y="3906843"/>
                <a:ext cx="1229451" cy="645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Gráfico 26" descr="Engranajes con relleno sólido">
                <a:extLst>
                  <a:ext uri="{FF2B5EF4-FFF2-40B4-BE49-F238E27FC236}">
                    <a16:creationId xmlns:a16="http://schemas.microsoft.com/office/drawing/2014/main" id="{D0C74C0F-2CEC-DAAB-E10A-1ECE0C8E7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59159" y="3929466"/>
                <a:ext cx="566737" cy="566737"/>
              </a:xfrm>
              <a:prstGeom prst="rect">
                <a:avLst/>
              </a:prstGeom>
            </p:spPr>
          </p:pic>
          <p:pic>
            <p:nvPicPr>
              <p:cNvPr id="28" name="Picture 2" descr="Creación de mi primera Base de Datos en Microsoft Azure – Business  Intelligence and Analytics">
                <a:extLst>
                  <a:ext uri="{FF2B5EF4-FFF2-40B4-BE49-F238E27FC236}">
                    <a16:creationId xmlns:a16="http://schemas.microsoft.com/office/drawing/2014/main" id="{05871DD5-75E8-1036-57EC-5D06E9286E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56268" y="5156303"/>
                <a:ext cx="1229451" cy="645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806C7C7-4B6C-3FC7-F6E2-483A571298E8}"/>
                  </a:ext>
                </a:extLst>
              </p:cNvPr>
              <p:cNvSpPr txBox="1"/>
              <p:nvPr/>
            </p:nvSpPr>
            <p:spPr>
              <a:xfrm>
                <a:off x="7656268" y="5800803"/>
                <a:ext cx="126616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SQL</a:t>
                </a:r>
                <a:r>
                  <a:rPr kumimoji="0" lang="es-ES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Server</a:t>
                </a:r>
                <a:endPara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A457E966-B052-F8AE-3B62-D3AD4D098127}"/>
                </a:ext>
              </a:extLst>
            </p:cNvPr>
            <p:cNvGrpSpPr/>
            <p:nvPr/>
          </p:nvGrpSpPr>
          <p:grpSpPr>
            <a:xfrm>
              <a:off x="10068723" y="770543"/>
              <a:ext cx="726243" cy="1458477"/>
              <a:chOff x="11103013" y="2020279"/>
              <a:chExt cx="726243" cy="1458477"/>
            </a:xfrm>
            <a:solidFill>
              <a:schemeClr val="bg1"/>
            </a:solidFill>
          </p:grpSpPr>
          <p:pic>
            <p:nvPicPr>
              <p:cNvPr id="37" name="Gráfico 36" descr="Trabajador de oficina con relleno sólido">
                <a:extLst>
                  <a:ext uri="{FF2B5EF4-FFF2-40B4-BE49-F238E27FC236}">
                    <a16:creationId xmlns:a16="http://schemas.microsoft.com/office/drawing/2014/main" id="{458F6B4C-F4A1-DD5F-9F99-5D468341A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103013" y="2020279"/>
                <a:ext cx="719324" cy="719324"/>
              </a:xfrm>
              <a:prstGeom prst="rect">
                <a:avLst/>
              </a:prstGeom>
            </p:spPr>
          </p:pic>
          <p:pic>
            <p:nvPicPr>
              <p:cNvPr id="38" name="Gráfico 37" descr="Perfil de mujer con relleno sólido">
                <a:extLst>
                  <a:ext uri="{FF2B5EF4-FFF2-40B4-BE49-F238E27FC236}">
                    <a16:creationId xmlns:a16="http://schemas.microsoft.com/office/drawing/2014/main" id="{70E859D5-A48C-3C43-5D42-61B29ADB5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109932" y="2759432"/>
                <a:ext cx="719324" cy="719324"/>
              </a:xfrm>
              <a:prstGeom prst="rect">
                <a:avLst/>
              </a:prstGeom>
            </p:spPr>
          </p:pic>
        </p:grpSp>
      </p:grpSp>
      <p:sp>
        <p:nvSpPr>
          <p:cNvPr id="58" name="Text 0">
            <a:extLst>
              <a:ext uri="{FF2B5EF4-FFF2-40B4-BE49-F238E27FC236}">
                <a16:creationId xmlns:a16="http://schemas.microsoft.com/office/drawing/2014/main" id="{54FEEA35-2522-92F4-1EDC-6A7C8656F008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Patrón RAG</a:t>
            </a: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41674E2F-E56B-6124-6576-E3A02FB16CFB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 APROXIMADA</a:t>
            </a:r>
          </a:p>
        </p:txBody>
      </p:sp>
      <p:sp>
        <p:nvSpPr>
          <p:cNvPr id="62" name="Accent Bar">
            <a:extLst>
              <a:ext uri="{FF2B5EF4-FFF2-40B4-BE49-F238E27FC236}">
                <a16:creationId xmlns:a16="http://schemas.microsoft.com/office/drawing/2014/main" id="{15577AC5-7ABA-178E-AE62-E1FB9D1DEAC4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65" name="Forma libre: forma 64">
            <a:extLst>
              <a:ext uri="{FF2B5EF4-FFF2-40B4-BE49-F238E27FC236}">
                <a16:creationId xmlns:a16="http://schemas.microsoft.com/office/drawing/2014/main" id="{6F841FDC-AF19-FA5E-FA85-53F4C890208A}"/>
              </a:ext>
            </a:extLst>
          </p:cNvPr>
          <p:cNvSpPr/>
          <p:nvPr/>
        </p:nvSpPr>
        <p:spPr>
          <a:xfrm>
            <a:off x="1587500" y="5760977"/>
            <a:ext cx="1732750" cy="646653"/>
          </a:xfrm>
          <a:custGeom>
            <a:avLst/>
            <a:gdLst>
              <a:gd name="connsiteX0" fmla="*/ 0 w 1616634"/>
              <a:gd name="connsiteY0" fmla="*/ 0 h 646653"/>
              <a:gd name="connsiteX1" fmla="*/ 1293308 w 1616634"/>
              <a:gd name="connsiteY1" fmla="*/ 0 h 646653"/>
              <a:gd name="connsiteX2" fmla="*/ 1616634 w 1616634"/>
              <a:gd name="connsiteY2" fmla="*/ 323327 h 646653"/>
              <a:gd name="connsiteX3" fmla="*/ 1293308 w 1616634"/>
              <a:gd name="connsiteY3" fmla="*/ 646653 h 646653"/>
              <a:gd name="connsiteX4" fmla="*/ 0 w 1616634"/>
              <a:gd name="connsiteY4" fmla="*/ 646653 h 646653"/>
              <a:gd name="connsiteX5" fmla="*/ 323327 w 1616634"/>
              <a:gd name="connsiteY5" fmla="*/ 323327 h 646653"/>
              <a:gd name="connsiteX6" fmla="*/ 0 w 1616634"/>
              <a:gd name="connsiteY6" fmla="*/ 0 h 64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6634" h="646653">
                <a:moveTo>
                  <a:pt x="0" y="0"/>
                </a:moveTo>
                <a:lnTo>
                  <a:pt x="1293308" y="0"/>
                </a:lnTo>
                <a:lnTo>
                  <a:pt x="1616634" y="323327"/>
                </a:lnTo>
                <a:lnTo>
                  <a:pt x="1293308" y="646653"/>
                </a:lnTo>
                <a:lnTo>
                  <a:pt x="0" y="646653"/>
                </a:lnTo>
                <a:lnTo>
                  <a:pt x="323327" y="323327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3332" tIns="13335" rIns="336661" bIns="13335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s-ES" sz="1000" dirty="0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  <a:t>Generar </a:t>
            </a:r>
            <a:r>
              <a:rPr lang="es-ES" sz="1000" dirty="0" err="1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  <a:t>embedding</a:t>
            </a:r>
            <a:br>
              <a:rPr lang="es-ES" sz="1000" dirty="0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</a:br>
            <a:r>
              <a:rPr lang="es-ES" sz="1000" dirty="0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  <a:t>de la </a:t>
            </a:r>
            <a:br>
              <a:rPr lang="es-ES" sz="1000" dirty="0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</a:br>
            <a:r>
              <a:rPr lang="es-ES" sz="1000" dirty="0">
                <a:solidFill>
                  <a:schemeClr val="tx1"/>
                </a:solidFill>
                <a:latin typeface="ADLaM Display"/>
                <a:ea typeface="ADLaM Display"/>
                <a:cs typeface="ADLaM Display"/>
              </a:rPr>
              <a:t>pregunta</a:t>
            </a:r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67" name="Forma libre: forma 66">
            <a:extLst>
              <a:ext uri="{FF2B5EF4-FFF2-40B4-BE49-F238E27FC236}">
                <a16:creationId xmlns:a16="http://schemas.microsoft.com/office/drawing/2014/main" id="{E8C42358-E4C9-6F3D-5411-E197DD61F1A4}"/>
              </a:ext>
            </a:extLst>
          </p:cNvPr>
          <p:cNvSpPr/>
          <p:nvPr/>
        </p:nvSpPr>
        <p:spPr>
          <a:xfrm>
            <a:off x="3158587" y="5760977"/>
            <a:ext cx="1616634" cy="646653"/>
          </a:xfrm>
          <a:custGeom>
            <a:avLst/>
            <a:gdLst>
              <a:gd name="connsiteX0" fmla="*/ 0 w 1616634"/>
              <a:gd name="connsiteY0" fmla="*/ 0 h 646653"/>
              <a:gd name="connsiteX1" fmla="*/ 1293308 w 1616634"/>
              <a:gd name="connsiteY1" fmla="*/ 0 h 646653"/>
              <a:gd name="connsiteX2" fmla="*/ 1616634 w 1616634"/>
              <a:gd name="connsiteY2" fmla="*/ 323327 h 646653"/>
              <a:gd name="connsiteX3" fmla="*/ 1293308 w 1616634"/>
              <a:gd name="connsiteY3" fmla="*/ 646653 h 646653"/>
              <a:gd name="connsiteX4" fmla="*/ 0 w 1616634"/>
              <a:gd name="connsiteY4" fmla="*/ 646653 h 646653"/>
              <a:gd name="connsiteX5" fmla="*/ 323327 w 1616634"/>
              <a:gd name="connsiteY5" fmla="*/ 323327 h 646653"/>
              <a:gd name="connsiteX6" fmla="*/ 0 w 1616634"/>
              <a:gd name="connsiteY6" fmla="*/ 0 h 64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6634" h="646653">
                <a:moveTo>
                  <a:pt x="0" y="0"/>
                </a:moveTo>
                <a:lnTo>
                  <a:pt x="1293308" y="0"/>
                </a:lnTo>
                <a:lnTo>
                  <a:pt x="1616634" y="323327"/>
                </a:lnTo>
                <a:lnTo>
                  <a:pt x="1293308" y="646653"/>
                </a:lnTo>
                <a:lnTo>
                  <a:pt x="0" y="646653"/>
                </a:lnTo>
                <a:lnTo>
                  <a:pt x="323327" y="323327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2450223"/>
              <a:satOff val="-10194"/>
              <a:lumOff val="2402"/>
              <a:alphaOff val="0"/>
            </a:schemeClr>
          </a:fillRef>
          <a:effectRef idx="0">
            <a:schemeClr val="accent4">
              <a:hueOff val="2450223"/>
              <a:satOff val="-10194"/>
              <a:lumOff val="240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3332" tIns="13335" rIns="336661" bIns="13335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Comparar con </a:t>
            </a:r>
            <a:b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embeddings</a:t>
            </a:r>
            <a:b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almacenados</a:t>
            </a:r>
          </a:p>
        </p:txBody>
      </p:sp>
      <p:sp>
        <p:nvSpPr>
          <p:cNvPr id="69" name="Forma libre: forma 68">
            <a:extLst>
              <a:ext uri="{FF2B5EF4-FFF2-40B4-BE49-F238E27FC236}">
                <a16:creationId xmlns:a16="http://schemas.microsoft.com/office/drawing/2014/main" id="{0B6502D1-57F2-C9B9-E3C2-D751D7384394}"/>
              </a:ext>
            </a:extLst>
          </p:cNvPr>
          <p:cNvSpPr/>
          <p:nvPr/>
        </p:nvSpPr>
        <p:spPr>
          <a:xfrm>
            <a:off x="4613558" y="5760977"/>
            <a:ext cx="1616634" cy="646653"/>
          </a:xfrm>
          <a:custGeom>
            <a:avLst/>
            <a:gdLst>
              <a:gd name="connsiteX0" fmla="*/ 0 w 1616634"/>
              <a:gd name="connsiteY0" fmla="*/ 0 h 646653"/>
              <a:gd name="connsiteX1" fmla="*/ 1293308 w 1616634"/>
              <a:gd name="connsiteY1" fmla="*/ 0 h 646653"/>
              <a:gd name="connsiteX2" fmla="*/ 1616634 w 1616634"/>
              <a:gd name="connsiteY2" fmla="*/ 323327 h 646653"/>
              <a:gd name="connsiteX3" fmla="*/ 1293308 w 1616634"/>
              <a:gd name="connsiteY3" fmla="*/ 646653 h 646653"/>
              <a:gd name="connsiteX4" fmla="*/ 0 w 1616634"/>
              <a:gd name="connsiteY4" fmla="*/ 646653 h 646653"/>
              <a:gd name="connsiteX5" fmla="*/ 323327 w 1616634"/>
              <a:gd name="connsiteY5" fmla="*/ 323327 h 646653"/>
              <a:gd name="connsiteX6" fmla="*/ 0 w 1616634"/>
              <a:gd name="connsiteY6" fmla="*/ 0 h 64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6634" h="646653">
                <a:moveTo>
                  <a:pt x="0" y="0"/>
                </a:moveTo>
                <a:lnTo>
                  <a:pt x="1293308" y="0"/>
                </a:lnTo>
                <a:lnTo>
                  <a:pt x="1616634" y="323327"/>
                </a:lnTo>
                <a:lnTo>
                  <a:pt x="1293308" y="646653"/>
                </a:lnTo>
                <a:lnTo>
                  <a:pt x="0" y="646653"/>
                </a:lnTo>
                <a:lnTo>
                  <a:pt x="323327" y="323327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4900445"/>
              <a:satOff val="-20388"/>
              <a:lumOff val="4804"/>
              <a:alphaOff val="0"/>
            </a:schemeClr>
          </a:fillRef>
          <a:effectRef idx="0">
            <a:schemeClr val="accent4">
              <a:hueOff val="4900445"/>
              <a:satOff val="-20388"/>
              <a:lumOff val="480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3332" tIns="13335" rIns="336661" bIns="13335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Obtener</a:t>
            </a:r>
            <a:b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N</a:t>
            </a:r>
          </a:p>
        </p:txBody>
      </p:sp>
      <p:sp>
        <p:nvSpPr>
          <p:cNvPr id="71" name="Forma libre: forma 70">
            <a:extLst>
              <a:ext uri="{FF2B5EF4-FFF2-40B4-BE49-F238E27FC236}">
                <a16:creationId xmlns:a16="http://schemas.microsoft.com/office/drawing/2014/main" id="{0824C421-660A-19AF-6F05-8AE2F6A76CCA}"/>
              </a:ext>
            </a:extLst>
          </p:cNvPr>
          <p:cNvSpPr/>
          <p:nvPr/>
        </p:nvSpPr>
        <p:spPr>
          <a:xfrm>
            <a:off x="6068529" y="5760977"/>
            <a:ext cx="1616634" cy="646653"/>
          </a:xfrm>
          <a:custGeom>
            <a:avLst/>
            <a:gdLst>
              <a:gd name="connsiteX0" fmla="*/ 0 w 1616634"/>
              <a:gd name="connsiteY0" fmla="*/ 0 h 646653"/>
              <a:gd name="connsiteX1" fmla="*/ 1293308 w 1616634"/>
              <a:gd name="connsiteY1" fmla="*/ 0 h 646653"/>
              <a:gd name="connsiteX2" fmla="*/ 1616634 w 1616634"/>
              <a:gd name="connsiteY2" fmla="*/ 323327 h 646653"/>
              <a:gd name="connsiteX3" fmla="*/ 1293308 w 1616634"/>
              <a:gd name="connsiteY3" fmla="*/ 646653 h 646653"/>
              <a:gd name="connsiteX4" fmla="*/ 0 w 1616634"/>
              <a:gd name="connsiteY4" fmla="*/ 646653 h 646653"/>
              <a:gd name="connsiteX5" fmla="*/ 323327 w 1616634"/>
              <a:gd name="connsiteY5" fmla="*/ 323327 h 646653"/>
              <a:gd name="connsiteX6" fmla="*/ 0 w 1616634"/>
              <a:gd name="connsiteY6" fmla="*/ 0 h 64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6634" h="646653">
                <a:moveTo>
                  <a:pt x="0" y="0"/>
                </a:moveTo>
                <a:lnTo>
                  <a:pt x="1293308" y="0"/>
                </a:lnTo>
                <a:lnTo>
                  <a:pt x="1616634" y="323327"/>
                </a:lnTo>
                <a:lnTo>
                  <a:pt x="1293308" y="646653"/>
                </a:lnTo>
                <a:lnTo>
                  <a:pt x="0" y="646653"/>
                </a:lnTo>
                <a:lnTo>
                  <a:pt x="323327" y="323327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7350668"/>
              <a:satOff val="-30583"/>
              <a:lumOff val="7206"/>
              <a:alphaOff val="0"/>
            </a:schemeClr>
          </a:fillRef>
          <a:effectRef idx="0">
            <a:schemeClr val="accent4">
              <a:hueOff val="7350668"/>
              <a:satOff val="-30583"/>
              <a:lumOff val="720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3332" tIns="13335" rIns="336661" bIns="13335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Enviar </a:t>
            </a:r>
            <a:r>
              <a:rPr lang="es-ES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al LLM la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PREGUNTA y las RESPUESTA</a:t>
            </a:r>
          </a:p>
        </p:txBody>
      </p:sp>
      <p:sp>
        <p:nvSpPr>
          <p:cNvPr id="73" name="Forma libre: forma 72">
            <a:extLst>
              <a:ext uri="{FF2B5EF4-FFF2-40B4-BE49-F238E27FC236}">
                <a16:creationId xmlns:a16="http://schemas.microsoft.com/office/drawing/2014/main" id="{3487B012-4E2A-3668-9207-ED2778E2BA9A}"/>
              </a:ext>
            </a:extLst>
          </p:cNvPr>
          <p:cNvSpPr/>
          <p:nvPr/>
        </p:nvSpPr>
        <p:spPr>
          <a:xfrm>
            <a:off x="7523500" y="5760977"/>
            <a:ext cx="1616634" cy="646653"/>
          </a:xfrm>
          <a:custGeom>
            <a:avLst/>
            <a:gdLst>
              <a:gd name="connsiteX0" fmla="*/ 0 w 1616634"/>
              <a:gd name="connsiteY0" fmla="*/ 0 h 646653"/>
              <a:gd name="connsiteX1" fmla="*/ 1293308 w 1616634"/>
              <a:gd name="connsiteY1" fmla="*/ 0 h 646653"/>
              <a:gd name="connsiteX2" fmla="*/ 1616634 w 1616634"/>
              <a:gd name="connsiteY2" fmla="*/ 323327 h 646653"/>
              <a:gd name="connsiteX3" fmla="*/ 1293308 w 1616634"/>
              <a:gd name="connsiteY3" fmla="*/ 646653 h 646653"/>
              <a:gd name="connsiteX4" fmla="*/ 0 w 1616634"/>
              <a:gd name="connsiteY4" fmla="*/ 646653 h 646653"/>
              <a:gd name="connsiteX5" fmla="*/ 323327 w 1616634"/>
              <a:gd name="connsiteY5" fmla="*/ 323327 h 646653"/>
              <a:gd name="connsiteX6" fmla="*/ 0 w 1616634"/>
              <a:gd name="connsiteY6" fmla="*/ 0 h 64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6634" h="646653">
                <a:moveTo>
                  <a:pt x="0" y="0"/>
                </a:moveTo>
                <a:lnTo>
                  <a:pt x="1293308" y="0"/>
                </a:lnTo>
                <a:lnTo>
                  <a:pt x="1616634" y="323327"/>
                </a:lnTo>
                <a:lnTo>
                  <a:pt x="1293308" y="646653"/>
                </a:lnTo>
                <a:lnTo>
                  <a:pt x="0" y="646653"/>
                </a:lnTo>
                <a:lnTo>
                  <a:pt x="323327" y="323327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9800891"/>
              <a:satOff val="-40777"/>
              <a:lumOff val="9608"/>
              <a:alphaOff val="0"/>
            </a:schemeClr>
          </a:fillRef>
          <a:effectRef idx="0">
            <a:schemeClr val="accent4">
              <a:hueOff val="9800891"/>
              <a:satOff val="-40777"/>
              <a:lumOff val="960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3332" tIns="13335" rIns="336661" bIns="13335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Entregar respuesta del LLM</a:t>
            </a:r>
          </a:p>
        </p:txBody>
      </p:sp>
    </p:spTree>
    <p:extLst>
      <p:ext uri="{BB962C8B-B14F-4D97-AF65-F5344CB8AC3E}">
        <p14:creationId xmlns:p14="http://schemas.microsoft.com/office/powerpoint/2010/main" val="3470760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D3BB-51EE-0578-5D87-F965AB2B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25DCD77-1F3D-D6DB-77A2-691B5D9A7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2712E00-354F-F726-FEF4-84CE211D5E16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1C058345-7BE1-016C-E33F-99F75C318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93F71E84-A202-3B40-C255-1C3446F9C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14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8B04-8E25-1321-E2A5-C942EF1D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58023881-1FB7-F4E7-EF89-02E9DB8F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5A5F2C-E568-33B4-2139-3F79C73A9E93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HÍBRIDA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4B02F47C-F85B-81FA-5729-4D2302789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90924432-A5D2-7F2B-B6C5-91D0E8838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0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218EC-716A-6877-D976-E792EEC0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B3D705D7-757B-C5D8-AAEE-76DB3F82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D3DD36C-9FD6-9795-2D7D-74417FB5D347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Búsqueda híbrida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EA64C2-B130-E637-F68A-3844C3660215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 vectorial o tradicional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12A80FB2-6F48-DA97-8163-E446D6344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048FCCC1-39D3-093C-A6E1-3312E3D8B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121B8E8B-11A9-3887-AD6C-4E7DD88548E1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FDB2D16F-8916-2F8E-4ABB-A95BCD9DEE19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búsqueda vectorial encuentra resultados similares por contexto, la búsqueda tradicional coincidencia exacta.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No hay una solución mejor, solo una que se adapta a tu caso de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Para buscar el NIF de un cliente o un código de error de una máquina no tendría sentido una búsqueda vectorial.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Para búsquedas en textos existe FULLTEXT y, ahora, la búsqueda vectorial.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FULLTEXT nos sirve para encontrar coincidencias exactas en textos grandes.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2101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7CAC8-9664-14D8-5763-2A1BDFEB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620ADEF6-9CFC-F105-2871-092B1AD00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429BDD4-B806-AE93-4F74-96FFE27B0ED4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Búsqueda híbrida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9370B1-2E5C-6EF0-AE9F-CFB589B20212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 híbrida: Fusión con RRF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E5CDBB6D-22D1-B1F9-B8C7-C6A6755E3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6BAA0939-025C-5786-53FD-609354E74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D9D3D9C2-218D-39D6-99CD-BD9DF66F943B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5DC10EEB-57C1-4B49-02C6-2A424D4BD269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Reciprocal</a:t>
            </a:r>
            <a:r>
              <a:rPr lang="es-ES" b="1" dirty="0"/>
              <a:t> Rank </a:t>
            </a:r>
            <a:r>
              <a:rPr lang="es-ES" b="1" dirty="0" err="1"/>
              <a:t>Fusion</a:t>
            </a: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Búsqueda Híbrida ejecuta dos consultas en paralelo sobre Fabric SQL DB: una vectorial (para entender conceptos) y una tradicional Full-Text (para </a:t>
            </a:r>
            <a:r>
              <a:rPr lang="es-ES" dirty="0" err="1"/>
              <a:t>IDs</a:t>
            </a:r>
            <a:r>
              <a:rPr lang="es-ES" dirty="0"/>
              <a:t> o palabras exactas).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Dado que los "scores" o puntuaciones de ambas son matemáticamente incomparables, usamos el algoritmo RRF para recalcular el ranking final basándonos puramente en la posición relativa del documento en ambas listas.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La constante k (usualmente 60) mitiga el impacto estadístico de documentos que aparecen esporádicamente en posiciones bajas.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0A8DA1C-9042-07D2-49CF-7D64BDA0BE0D}"/>
              </a:ext>
            </a:extLst>
          </p:cNvPr>
          <p:cNvGrpSpPr/>
          <p:nvPr/>
        </p:nvGrpSpPr>
        <p:grpSpPr>
          <a:xfrm>
            <a:off x="4033261" y="4702563"/>
            <a:ext cx="3964781" cy="770855"/>
            <a:chOff x="3737697" y="4538593"/>
            <a:chExt cx="3964781" cy="770855"/>
          </a:xfrm>
        </p:grpSpPr>
        <p:pic>
          <p:nvPicPr>
            <p:cNvPr id="6" name="Google Shape;269;p25" descr="image.png">
              <a:extLst>
                <a:ext uri="{FF2B5EF4-FFF2-40B4-BE49-F238E27FC236}">
                  <a16:creationId xmlns:a16="http://schemas.microsoft.com/office/drawing/2014/main" id="{B38D166F-9DBD-621C-0995-89A3F370377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37697" y="4538593"/>
              <a:ext cx="3964781" cy="770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74;p25" descr="image.png">
              <a:extLst>
                <a:ext uri="{FF2B5EF4-FFF2-40B4-BE49-F238E27FC236}">
                  <a16:creationId xmlns:a16="http://schemas.microsoft.com/office/drawing/2014/main" id="{5FEFFE39-D358-DDDE-38CD-4CDDC5300B4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65831" y="4760048"/>
              <a:ext cx="2908511" cy="32794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31512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A24D-7FFD-A9A2-6B8C-03ADB8F3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DD459C62-C03F-4D42-0CA3-57354B59B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3A29E6-F17A-D943-FF83-9016BD42A8D0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C0C7FDBB-FAE8-00F3-F477-1D94827A8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B57D4762-321D-33EB-6DDD-9AFADA5C1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855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20EB-3C9D-0FA2-9371-A80B06B6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871588BD-A34F-B17A-60BF-ED2086E87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CCA16C0-24D6-C6EF-ACE2-1951C7B4D9EF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B2C03358-2B93-00FB-A5A8-8FFB841EA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CADA44D9-6417-5746-3DF4-C80BF2EFA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368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3FD9-6FB9-7540-1577-191CC365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72DBC81-8390-8763-CCB8-79D337594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225F48C-79C6-F3C4-8075-D776F06C030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 err="1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Observabilidad</a:t>
            </a:r>
            <a:endParaRPr lang="es-AR" sz="1400" b="1" spc="300" dirty="0">
              <a:solidFill>
                <a:srgbClr val="8FC3F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9823E9-75E9-8826-13E2-AAD9D3F63123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¿Qué podemos registrar?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2F113DD9-8808-FA03-56A3-90CAB1641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5C6C889B-BCE0-A534-4D2B-A696559F3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57498630-08D4-E70D-5113-D9C343C508B4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C8CFEEB3-961D-2200-79CD-D933FCF8F882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Podemos añadir marcas de tiempo a los procedimientos almacenados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La respuesta JSON del modelo de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incluye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Códigos y mensajes de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Tokens consumidos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La respuesta JSON del modelo LLM incluye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Códigos y mensajes de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Tokens de entrada y salida consumidos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Pregunta y respuestas obtenidas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En búsquedas híbridas guardamos el score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FAC9324-B711-847C-BFF5-86E07C4F9B24}"/>
              </a:ext>
            </a:extLst>
          </p:cNvPr>
          <p:cNvSpPr/>
          <p:nvPr/>
        </p:nvSpPr>
        <p:spPr>
          <a:xfrm>
            <a:off x="1504797" y="4793673"/>
            <a:ext cx="9182100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La monitorización nos aporta visibilidad (errores, tiempos y costes) y sirve para evaluar la calidad del modelo </a:t>
            </a:r>
          </a:p>
        </p:txBody>
      </p:sp>
    </p:spTree>
    <p:extLst>
      <p:ext uri="{BB962C8B-B14F-4D97-AF65-F5344CB8AC3E}">
        <p14:creationId xmlns:p14="http://schemas.microsoft.com/office/powerpoint/2010/main" val="2289549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163C-414A-63FD-74BB-C701D255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D3E96C0A-8DE1-8090-4E08-BFCF5F73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3AF47B-1A8E-1885-F3C9-4818B9E4671F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1268DFA1-5A8C-0463-5D79-A5610CAA4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CDCA0564-BEED-CAF0-03EF-4FC5E2E64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19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BE6D-4056-6CA0-224A-04979878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007103C1-85A4-2891-5F14-9D94EE6BF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B061643-2DC9-25F1-8229-3CB382B72E83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DDCBD1BB-11A2-ECB3-C8BB-549370995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0E011BBB-4646-C0F6-905A-0550E6756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54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BBEA-E7F8-003C-2D68-563DDDCD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705C9A90-9BA8-994D-6717-5A7B2C12D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AE42219-F822-04FE-1685-50B3065258FC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Seguridad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2644791-DD83-1607-7721-D738F259F5AE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Permisos de SQL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3183B17E-4BBB-7E42-2810-0A4199F4E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45A37230-6302-4612-C645-07D37B0F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BB847E9E-402E-2E36-9A27-CD0CB01BA516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240F39B6-F1F3-A546-6B3B-57111B682452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Antes de empezar un administrador tiene que habilitar los modelos externos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sp_configure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'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external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rest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endpoint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enabled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', 1;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CREATE EXTERNAL MODEL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necesita: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GRANT ALTER ANY EXTERNAL MODEL TO Usuario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GRANT CREATE EXTERNAL MODEL TO Usuario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Para usar el modelo necesitamos: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GRANT EXECUTE ON ENTERNAL MODEL::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NombreModelo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 TO Usuario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No es necesario conceder acceso directo a la DATABASE SCOPED CREDENTIAL utilizada por el modelo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62231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4CF2-D7DF-48F8-E4C7-5F745963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A1CC356A-457E-C0DC-2FC1-3A25FE3E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651E601-29C7-1A6C-AE4E-A6DE2108C26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Seguridad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10B5B0-AFA9-6312-1740-A26DBB0CFFE7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Seguridad del RAG en SQL</a:t>
            </a:r>
            <a:endParaRPr lang="es-ES" sz="3200" b="1" spc="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4AFED869-0633-5E2C-7AEE-4B5E0A473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03C02904-75B3-C76A-2678-479EE669E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C5A95E10-9CAE-0B39-D7FD-1FD2B45411A8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2983C5C3-0116-179A-6B19-F13653A741FF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Todas las opciones de seguridad, cifrado y permisos de SQL Server siguen vigentes para el RAG.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Podemos dar permiso de lectura a tablas o vistas, RLS e incluso DDM y cifrados.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Podríamos añadir EXECUTE AS en los SP del RAG.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Los modelos desplegados en Azure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OpenAI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garantizan la seguridad de Azure: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No se usan nuestros datos para entrenar el modelo.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Nuestros datos no salen de nuestro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tenant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Podemos elegir donde desplegar la infraestructura.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Podemos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securizar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la conexión con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VNETs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o Private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Enpoints</a:t>
            </a: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Para mayor control podemos usar modelos locales como Ollama o ONNX.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1722A48-F38B-FC43-9605-AD6FB854E532}"/>
              </a:ext>
            </a:extLst>
          </p:cNvPr>
          <p:cNvSpPr/>
          <p:nvPr/>
        </p:nvSpPr>
        <p:spPr>
          <a:xfrm>
            <a:off x="1504797" y="4793673"/>
            <a:ext cx="9182100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NUNCA EXPONGAS CLAVES API DEL MODELO</a:t>
            </a:r>
          </a:p>
        </p:txBody>
      </p:sp>
    </p:spTree>
    <p:extLst>
      <p:ext uri="{BB962C8B-B14F-4D97-AF65-F5344CB8AC3E}">
        <p14:creationId xmlns:p14="http://schemas.microsoft.com/office/powerpoint/2010/main" val="28853048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40B0-0335-971B-5BCC-09A8500E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9477F06-2ABE-751A-5137-48C49482A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C8C201D-5C48-5291-C59E-2FCA33983BFB}"/>
              </a:ext>
            </a:extLst>
          </p:cNvPr>
          <p:cNvSpPr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000" dirty="0"/>
          </a:p>
        </p:txBody>
      </p:sp>
      <p:pic>
        <p:nvPicPr>
          <p:cNvPr id="5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570D5A1A-C7DD-7523-92D2-288A145F3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6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A402E866-7C0B-CB1B-44D4-28A264FD7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240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448A-2330-F2E1-1183-C63F130A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3DFDCAA9-7A1A-5190-D85B-FDE5EB537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9EF1CB5-CEC3-6227-EEFF-BEF5BE369BF4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Rendimiento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4C597A5-BC48-0D1A-5745-960FDCDE5F80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Generación de vectores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27412A99-97E8-CFCF-D6E7-4EC6CFF57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8A7881CD-A97E-2492-5298-8AEDFB31A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4AD2A071-52B2-25AB-5BB6-575DCC226B0E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50ADFEBC-6220-F105-A6E0-DC2B6783DDA7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generación de vectores es un proceso que depende de una API externa, puede tener latencias altas.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No generes los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 forma síncrona (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triggers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desactualizado puede ser peor que no tenerlo.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Puedes tener un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job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que genere los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faltantes o caducados bajo una programación.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Puedes crear un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trigger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que borre o marque como caducado los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si cambia el texto.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También puedes usar Change Tracking o regeneración bajo demanda.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6656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62B9-94C0-461D-BF84-D46782E1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6C0D420C-2C15-22FD-66AF-47C2184AB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1145B8E-268A-0813-919B-97EBC661E6BC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Rendimiento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E798A3-79B8-EAF7-E9F9-326AB74952EC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Almacenamiento de vectores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1BC14841-64E9-36EF-3799-EAF3D8C8E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57599106-3990-CF85-44E5-026D4AA4A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8B7BA412-E943-031D-4825-F458C9F9AEA5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AF47A1CA-5696-4568-9AD4-0A8BF6223BE6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Los </a:t>
            </a:r>
            <a:r>
              <a:rPr lang="es-ES" dirty="0" err="1"/>
              <a:t>embeddings</a:t>
            </a:r>
            <a:r>
              <a:rPr lang="es-ES" dirty="0"/>
              <a:t> son tipos de datos de gran tamaño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Almacenar los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junto con los datos genera paginación y repercute en el rendimiento.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Crea una tabla nueva para los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con una relación 1:1 respecto a los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 poder ser, almacena estos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embeddings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en un fichero separado en un disco separado, el </a:t>
            </a:r>
            <a:r>
              <a:rPr lang="es-ES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patron</a:t>
            </a: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 acceso a disco difiere del uso normal de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60684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7534-002A-66FC-CB6A-FD6BF3EF4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B5150454-FBD1-0ED0-115B-070E058D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C0AB1CF-5755-8B30-2E33-B70019B9F0FD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1400" b="1" spc="300" dirty="0">
                <a:solidFill>
                  <a:srgbClr val="8FC3F0"/>
                </a:solidFill>
                <a:latin typeface="Calibri" pitchFamily="34" charset="0"/>
                <a:cs typeface="Calibri" pitchFamily="34" charset="-120"/>
              </a:rPr>
              <a:t>Rendimiento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EA09D91-445F-C548-BB54-447512F03B40}"/>
              </a:ext>
            </a:extLst>
          </p:cNvPr>
          <p:cNvSpPr/>
          <p:nvPr/>
        </p:nvSpPr>
        <p:spPr>
          <a:xfrm>
            <a:off x="822959" y="868680"/>
            <a:ext cx="9264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Búsquedas de vectores</a:t>
            </a:r>
          </a:p>
        </p:txBody>
      </p:sp>
      <p:pic>
        <p:nvPicPr>
          <p:cNvPr id="17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8F7C5BEB-1884-5FCF-D26B-F0E84B8CE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8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C6DD84A1-D1E5-623A-91D3-58A781C17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21" name="Accent Bar">
            <a:extLst>
              <a:ext uri="{FF2B5EF4-FFF2-40B4-BE49-F238E27FC236}">
                <a16:creationId xmlns:a16="http://schemas.microsoft.com/office/drawing/2014/main" id="{6071366C-F18E-C92A-E598-A03A444A7FCA}"/>
              </a:ext>
            </a:extLst>
          </p:cNvPr>
          <p:cNvSpPr/>
          <p:nvPr/>
        </p:nvSpPr>
        <p:spPr>
          <a:xfrm>
            <a:off x="825500" y="1651000"/>
            <a:ext cx="762000" cy="63500"/>
          </a:xfrm>
          <a:prstGeom prst="rect">
            <a:avLst/>
          </a:prstGeom>
          <a:solidFill>
            <a:srgbClr val="8FC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AR"/>
          </a:p>
        </p:txBody>
      </p:sp>
      <p:sp>
        <p:nvSpPr>
          <p:cNvPr id="37" name="Visual Panel">
            <a:extLst>
              <a:ext uri="{FF2B5EF4-FFF2-40B4-BE49-F238E27FC236}">
                <a16:creationId xmlns:a16="http://schemas.microsoft.com/office/drawing/2014/main" id="{E52814F3-6A19-7A18-88CE-4442A2775FCB}"/>
              </a:ext>
            </a:extLst>
          </p:cNvPr>
          <p:cNvSpPr/>
          <p:nvPr/>
        </p:nvSpPr>
        <p:spPr>
          <a:xfrm>
            <a:off x="825500" y="1905000"/>
            <a:ext cx="10541000" cy="3810000"/>
          </a:xfrm>
          <a:prstGeom prst="roundRect">
            <a:avLst/>
          </a:prstGeom>
          <a:solidFill>
            <a:srgbClr val="0A1B33">
              <a:alpha val="100000"/>
            </a:srgbClr>
          </a:solidFill>
          <a:ln w="12700" cap="flat" cmpd="sng" algn="ctr">
            <a:solidFill>
              <a:srgbClr val="8FC3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Valora siempre si compensa usar VECTOR_DISTANCE o VECTOR_SEARCH en base al volumen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 usas VECTOR_DISTANCE combina la búsqueda vectorial con filtros transaccionales para reducir el volumen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Puedes aprovechar el log para verificar si ya has respondido una pregunta y entregar la misma respuesta sin consultar los modelos.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3233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C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30AF4-3CDA-B31E-A143-2236DDB5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>
            <a:extLst>
              <a:ext uri="{FF2B5EF4-FFF2-40B4-BE49-F238E27FC236}">
                <a16:creationId xmlns:a16="http://schemas.microsoft.com/office/drawing/2014/main" id="{28E8E9F3-A9B4-C04E-1DAB-C42081F7E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D6C7BBF-D978-9CCA-CF84-FEA2AE8142A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0632525-A335-3E34-3381-00C44F1048DE}"/>
              </a:ext>
            </a:extLst>
          </p:cNvPr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3200" b="1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Conclusiones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ABCD6C0-2CE6-9C8B-7060-BB7818AC0036}"/>
              </a:ext>
            </a:extLst>
          </p:cNvPr>
          <p:cNvSpPr/>
          <p:nvPr/>
        </p:nvSpPr>
        <p:spPr>
          <a:xfrm>
            <a:off x="74660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BC761E-7AEB-8A6D-2EA9-8B5E82655510}"/>
              </a:ext>
            </a:extLst>
          </p:cNvPr>
          <p:cNvSpPr/>
          <p:nvPr/>
        </p:nvSpPr>
        <p:spPr>
          <a:xfrm>
            <a:off x="1020928" y="2514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ACF143E-9BCE-DA61-9C9A-B77ABE230F8F}"/>
              </a:ext>
            </a:extLst>
          </p:cNvPr>
          <p:cNvSpPr/>
          <p:nvPr/>
        </p:nvSpPr>
        <p:spPr>
          <a:xfrm>
            <a:off x="1020928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[Idea clave 1]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57D7261-85A1-12F5-EB35-600C2510D562}"/>
              </a:ext>
            </a:extLst>
          </p:cNvPr>
          <p:cNvSpPr/>
          <p:nvPr/>
        </p:nvSpPr>
        <p:spPr>
          <a:xfrm>
            <a:off x="444992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7A7022-3317-446D-F6B7-EF0D63DB58D6}"/>
              </a:ext>
            </a:extLst>
          </p:cNvPr>
          <p:cNvSpPr/>
          <p:nvPr/>
        </p:nvSpPr>
        <p:spPr>
          <a:xfrm>
            <a:off x="4724248" y="2514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4EBDFD6-1E00-436E-A622-8BC4FCAB6080}"/>
              </a:ext>
            </a:extLst>
          </p:cNvPr>
          <p:cNvSpPr/>
          <p:nvPr/>
        </p:nvSpPr>
        <p:spPr>
          <a:xfrm>
            <a:off x="4724248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[Idea clave 2]</a:t>
            </a:r>
            <a:endParaRPr lang="en-US" sz="15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43791BA-453D-ED34-B33D-E35C4E761CF9}"/>
              </a:ext>
            </a:extLst>
          </p:cNvPr>
          <p:cNvSpPr/>
          <p:nvPr/>
        </p:nvSpPr>
        <p:spPr>
          <a:xfrm>
            <a:off x="8153248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4C07D82-1DC1-8839-7CC6-AE19A43C9852}"/>
              </a:ext>
            </a:extLst>
          </p:cNvPr>
          <p:cNvSpPr/>
          <p:nvPr/>
        </p:nvSpPr>
        <p:spPr>
          <a:xfrm>
            <a:off x="8427568" y="2514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FCFE042-70B5-F8ED-67A3-0345098055AC}"/>
              </a:ext>
            </a:extLst>
          </p:cNvPr>
          <p:cNvSpPr/>
          <p:nvPr/>
        </p:nvSpPr>
        <p:spPr>
          <a:xfrm>
            <a:off x="8427568" y="3200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[Idea clave 3]</a:t>
            </a:r>
            <a:endParaRPr lang="en-US" sz="1500" dirty="0"/>
          </a:p>
        </p:txBody>
      </p:sp>
      <p:pic>
        <p:nvPicPr>
          <p:cNvPr id="14" name="Image 1" descr="assets/logo_datasaturday/Logo DataSaturday/Logo DT Blanco con mapa azul.png">
            <a:extLst>
              <a:ext uri="{FF2B5EF4-FFF2-40B4-BE49-F238E27FC236}">
                <a16:creationId xmlns:a16="http://schemas.microsoft.com/office/drawing/2014/main" id="{C5B93EEA-59BC-B02E-2275-316ED1B0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5" name="Image 2" descr="assets/logo_sponsors/Logos Sponsors/UTN BA_logos/Logo Manual de Marca UTN BA/logo utn blanco alta.png">
            <a:extLst>
              <a:ext uri="{FF2B5EF4-FFF2-40B4-BE49-F238E27FC236}">
                <a16:creationId xmlns:a16="http://schemas.microsoft.com/office/drawing/2014/main" id="{8D284DC4-C33B-5382-6A7A-0F455A73E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6754BAC3-E427-DBA7-3799-23BEC6C428A7}"/>
              </a:ext>
            </a:extLst>
          </p:cNvPr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921499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EXPLORANDO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ADICIONALES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097280" y="196596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[Repositorio / código de ejemplo]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78892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1097280" y="278892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[Documentación oficial]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[Artículo o paper relacionado]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1097280" y="443484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[Slides de la charla]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1965960"/>
            <a:ext cx="2834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8412480" y="19659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[QR]</a:t>
            </a:r>
            <a:endParaRPr lang="en-US" sz="1600" dirty="0"/>
          </a:p>
        </p:txBody>
      </p:sp>
      <p:pic>
        <p:nvPicPr>
          <p:cNvPr id="15" name="Image 1" descr="assets/logo_datasaturday/Logo DataSaturday/Logo DT Blanco con mapa 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6" name="Image 2" descr="assets/logo_sponsors/Logos Sponsors/UTN BA_logos/Logo Manual de Marca UTN BA/logo utn blanco al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6AD7AA-611D-4C7C-B0FD-07C2570B7EAE}"/>
              </a:ext>
            </a:extLst>
          </p:cNvPr>
          <p:cNvSpPr>
            <a:spLocks noGrp="1"/>
          </p:cNvSpPr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¿PREGUNTAS?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4C7223F-47A8-4CC3-86E0-962AB83DD158}"/>
              </a:ext>
            </a:extLst>
          </p:cNvPr>
          <p:cNvSpPr>
            <a:spLocks noGrp="1"/>
          </p:cNvSpPr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>
                <a:solidFill>
                  <a:srgbClr val="8FC3F0"/>
                </a:solidFill>
                <a:latin typeface="Calibri"/>
                <a:ea typeface="Calibri"/>
                <a:cs typeface="Calibri"/>
              </a:rPr>
              <a:t>Roberto Carrancio · linkedin.com/in/robertocarrancio · soydba.es</a:t>
            </a:r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6172200"/>
            <a:ext cx="1051560" cy="566928"/>
          </a:xfrm>
          <a:prstGeom prst="rect">
            <a:avLst/>
          </a:prstGeom>
        </p:spPr>
      </p:pic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6263640"/>
            <a:ext cx="960120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75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550843-29E9-4881-9D69-121D0A120D89}"/>
              </a:ext>
            </a:extLst>
          </p:cNvPr>
          <p:cNvSpPr>
            <a:spLocks noGrp="1"/>
          </p:cNvSpPr>
          <p:nvPr/>
        </p:nvSpPr>
        <p:spPr>
          <a:xfrm>
            <a:off x="0" y="2468880"/>
            <a:ext cx="121916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GRACIAS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1C8311-92CE-4578-9380-806B769DA032}"/>
              </a:ext>
            </a:extLst>
          </p:cNvPr>
          <p:cNvSpPr>
            <a:spLocks noGrp="1"/>
          </p:cNvSpPr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>
                <a:solidFill>
                  <a:srgbClr val="8FC3F0"/>
                </a:solidFill>
                <a:latin typeface="Calibri"/>
                <a:ea typeface="Calibri"/>
                <a:cs typeface="Calibri"/>
              </a:rPr>
              <a:t>Roberto Carrancio   ·   linkedin.com/in/robertocarrancio   ·   soydba.es</a:t>
            </a:r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846320"/>
            <a:ext cx="1005840" cy="566928"/>
          </a:xfrm>
          <a:prstGeom prst="rect">
            <a:avLst/>
          </a:prstGeom>
        </p:spPr>
      </p:pic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956048"/>
            <a:ext cx="9144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25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4D1FEC-E243-418A-8749-96009F8F2821}">
  <we:reference id="wa200010001" version="1.0.0.1" store="es-MX" storeType="OMEX"/>
  <we:alternateReferences>
    <we:reference id="WA200010001" version="1.0.0.1" store="WA200010001" storeType="OMEX"/>
  </we:alternateReferences>
  <we:properties>
    <we:property name="claude.fileId" value="&quot;ec45a193-ed1b-44dc-b7f0-76dfc62a770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3893</Words>
  <Application>Microsoft Office PowerPoint</Application>
  <PresentationFormat>Panorámica</PresentationFormat>
  <Paragraphs>638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9" baseType="lpstr">
      <vt:lpstr>ADLaM Display</vt:lpstr>
      <vt:lpstr>Aptos</vt:lpstr>
      <vt:lpstr>Arial</vt:lpstr>
      <vt:lpstr>Calibri</vt:lpstr>
      <vt:lpstr>Inter</vt:lpstr>
      <vt:lpstr>Inter SemiBold</vt:lpstr>
      <vt:lpstr>Segoe UI</vt:lpstr>
      <vt:lpstr>Wingdings 2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Speakers - Data Saturday LATAM</dc:title>
  <dc:subject>PptxGenJS Presentation</dc:subject>
  <dc:creator>Data Saturday LATAM</dc:creator>
  <cp:lastModifiedBy>Roberto Carrancio</cp:lastModifiedBy>
  <cp:revision>50</cp:revision>
  <dcterms:created xsi:type="dcterms:W3CDTF">2026-07-30T22:04:20Z</dcterms:created>
  <dcterms:modified xsi:type="dcterms:W3CDTF">2026-08-19T06:39:21Z</dcterms:modified>
</cp:coreProperties>
</file>